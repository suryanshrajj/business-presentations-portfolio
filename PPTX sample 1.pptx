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930F97C-1741-3343-BD8E-4A2D0257567F}">
          <p14:sldIdLst>
            <p14:sldId id="257"/>
            <p14:sldId id="258"/>
            <p14:sldId id="259"/>
            <p14:sldId id="260"/>
            <p14:sldId id="261"/>
            <p14:sldId id="262"/>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20" autoAdjust="0"/>
    <p:restoredTop sz="95033" autoAdjust="0"/>
  </p:normalViewPr>
  <p:slideViewPr>
    <p:cSldViewPr snapToGrid="0">
      <p:cViewPr varScale="1">
        <p:scale>
          <a:sx n="115" d="100"/>
          <a:sy n="115" d="100"/>
        </p:scale>
        <p:origin x="43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9F69B-0905-2205-63B5-76EC69B5A53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AE8D95EE-BBA3-807F-AD8D-EF178BFC88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C2FCDE3-E23E-C1AF-191D-639C6C7848F7}"/>
              </a:ext>
            </a:extLst>
          </p:cNvPr>
          <p:cNvSpPr>
            <a:spLocks noGrp="1"/>
          </p:cNvSpPr>
          <p:nvPr>
            <p:ph type="dt" sz="half" idx="10"/>
          </p:nvPr>
        </p:nvSpPr>
        <p:spPr/>
        <p:txBody>
          <a:bodyPr/>
          <a:lstStyle/>
          <a:p>
            <a:fld id="{E205ED6D-C513-524C-8143-48DAA20C398C}" type="datetimeFigureOut">
              <a:rPr lang="en-US" smtClean="0"/>
              <a:t>10/13/26</a:t>
            </a:fld>
            <a:endParaRPr lang="en-US"/>
          </a:p>
        </p:txBody>
      </p:sp>
      <p:sp>
        <p:nvSpPr>
          <p:cNvPr id="5" name="Footer Placeholder 4">
            <a:extLst>
              <a:ext uri="{FF2B5EF4-FFF2-40B4-BE49-F238E27FC236}">
                <a16:creationId xmlns:a16="http://schemas.microsoft.com/office/drawing/2014/main" id="{EC9BDC3B-A071-A4CF-24A5-2C70BD96EB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881659-3974-B979-250F-5D5BE5D3AEC4}"/>
              </a:ext>
            </a:extLst>
          </p:cNvPr>
          <p:cNvSpPr>
            <a:spLocks noGrp="1"/>
          </p:cNvSpPr>
          <p:nvPr>
            <p:ph type="sldNum" sz="quarter" idx="12"/>
          </p:nvPr>
        </p:nvSpPr>
        <p:spPr/>
        <p:txBody>
          <a:bodyPr/>
          <a:lstStyle/>
          <a:p>
            <a:fld id="{53D37F0D-049E-5642-9C8C-667E4E67322D}" type="slidenum">
              <a:rPr lang="en-US" smtClean="0"/>
              <a:t>‹#›</a:t>
            </a:fld>
            <a:endParaRPr lang="en-US"/>
          </a:p>
        </p:txBody>
      </p:sp>
    </p:spTree>
    <p:extLst>
      <p:ext uri="{BB962C8B-B14F-4D97-AF65-F5344CB8AC3E}">
        <p14:creationId xmlns:p14="http://schemas.microsoft.com/office/powerpoint/2010/main" val="3426769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A68B2-E554-B2E4-DE6D-0D28A72A69C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658ED83-F480-1A72-68A6-F9191BA6660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AFEB5B6-3F72-7637-5C25-D5E7E0D73735}"/>
              </a:ext>
            </a:extLst>
          </p:cNvPr>
          <p:cNvSpPr>
            <a:spLocks noGrp="1"/>
          </p:cNvSpPr>
          <p:nvPr>
            <p:ph type="dt" sz="half" idx="10"/>
          </p:nvPr>
        </p:nvSpPr>
        <p:spPr/>
        <p:txBody>
          <a:bodyPr/>
          <a:lstStyle/>
          <a:p>
            <a:fld id="{E205ED6D-C513-524C-8143-48DAA20C398C}" type="datetimeFigureOut">
              <a:rPr lang="en-US" smtClean="0"/>
              <a:t>10/13/26</a:t>
            </a:fld>
            <a:endParaRPr lang="en-US"/>
          </a:p>
        </p:txBody>
      </p:sp>
      <p:sp>
        <p:nvSpPr>
          <p:cNvPr id="5" name="Footer Placeholder 4">
            <a:extLst>
              <a:ext uri="{FF2B5EF4-FFF2-40B4-BE49-F238E27FC236}">
                <a16:creationId xmlns:a16="http://schemas.microsoft.com/office/drawing/2014/main" id="{7F6105B3-62A1-957E-E5AA-0A33B98278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1A4511-767A-EB43-7901-FB96C0746684}"/>
              </a:ext>
            </a:extLst>
          </p:cNvPr>
          <p:cNvSpPr>
            <a:spLocks noGrp="1"/>
          </p:cNvSpPr>
          <p:nvPr>
            <p:ph type="sldNum" sz="quarter" idx="12"/>
          </p:nvPr>
        </p:nvSpPr>
        <p:spPr/>
        <p:txBody>
          <a:bodyPr/>
          <a:lstStyle/>
          <a:p>
            <a:fld id="{53D37F0D-049E-5642-9C8C-667E4E67322D}" type="slidenum">
              <a:rPr lang="en-US" smtClean="0"/>
              <a:t>‹#›</a:t>
            </a:fld>
            <a:endParaRPr lang="en-US"/>
          </a:p>
        </p:txBody>
      </p:sp>
    </p:spTree>
    <p:extLst>
      <p:ext uri="{BB962C8B-B14F-4D97-AF65-F5344CB8AC3E}">
        <p14:creationId xmlns:p14="http://schemas.microsoft.com/office/powerpoint/2010/main" val="9562976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EA08-AFE9-A163-D596-E45C826D1B0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91C6FF7-CEBF-7E90-7ACE-A861336800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F0CBAAC-EA8E-56DE-A856-86BD4D937B67}"/>
              </a:ext>
            </a:extLst>
          </p:cNvPr>
          <p:cNvSpPr>
            <a:spLocks noGrp="1"/>
          </p:cNvSpPr>
          <p:nvPr>
            <p:ph type="dt" sz="half" idx="10"/>
          </p:nvPr>
        </p:nvSpPr>
        <p:spPr/>
        <p:txBody>
          <a:bodyPr/>
          <a:lstStyle/>
          <a:p>
            <a:fld id="{E205ED6D-C513-524C-8143-48DAA20C398C}" type="datetimeFigureOut">
              <a:rPr lang="en-US" smtClean="0"/>
              <a:t>10/13/26</a:t>
            </a:fld>
            <a:endParaRPr lang="en-US"/>
          </a:p>
        </p:txBody>
      </p:sp>
      <p:sp>
        <p:nvSpPr>
          <p:cNvPr id="5" name="Footer Placeholder 4">
            <a:extLst>
              <a:ext uri="{FF2B5EF4-FFF2-40B4-BE49-F238E27FC236}">
                <a16:creationId xmlns:a16="http://schemas.microsoft.com/office/drawing/2014/main" id="{AF0DABD2-DD44-3BA4-B476-C7B7D66CBF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07E0D8-4198-5A54-ECF4-610747B05663}"/>
              </a:ext>
            </a:extLst>
          </p:cNvPr>
          <p:cNvSpPr>
            <a:spLocks noGrp="1"/>
          </p:cNvSpPr>
          <p:nvPr>
            <p:ph type="sldNum" sz="quarter" idx="12"/>
          </p:nvPr>
        </p:nvSpPr>
        <p:spPr/>
        <p:txBody>
          <a:bodyPr/>
          <a:lstStyle/>
          <a:p>
            <a:fld id="{53D37F0D-049E-5642-9C8C-667E4E67322D}" type="slidenum">
              <a:rPr lang="en-US" smtClean="0"/>
              <a:t>‹#›</a:t>
            </a:fld>
            <a:endParaRPr lang="en-US"/>
          </a:p>
        </p:txBody>
      </p:sp>
    </p:spTree>
    <p:extLst>
      <p:ext uri="{BB962C8B-B14F-4D97-AF65-F5344CB8AC3E}">
        <p14:creationId xmlns:p14="http://schemas.microsoft.com/office/powerpoint/2010/main" val="1153536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803FD-6ACA-8506-E4DE-0A94BEEC4CA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46CAF4D-4FE0-FBDB-18C1-C22D669AC2A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9DE82AD-1C71-7060-0DDD-DCAF52B88D6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1E77E911-101C-ADC8-25F1-DABCF165E401}"/>
              </a:ext>
            </a:extLst>
          </p:cNvPr>
          <p:cNvSpPr>
            <a:spLocks noGrp="1"/>
          </p:cNvSpPr>
          <p:nvPr>
            <p:ph type="dt" sz="half" idx="10"/>
          </p:nvPr>
        </p:nvSpPr>
        <p:spPr/>
        <p:txBody>
          <a:bodyPr/>
          <a:lstStyle/>
          <a:p>
            <a:fld id="{E205ED6D-C513-524C-8143-48DAA20C398C}" type="datetimeFigureOut">
              <a:rPr lang="en-US" smtClean="0"/>
              <a:t>10/13/26</a:t>
            </a:fld>
            <a:endParaRPr lang="en-US"/>
          </a:p>
        </p:txBody>
      </p:sp>
      <p:sp>
        <p:nvSpPr>
          <p:cNvPr id="6" name="Footer Placeholder 5">
            <a:extLst>
              <a:ext uri="{FF2B5EF4-FFF2-40B4-BE49-F238E27FC236}">
                <a16:creationId xmlns:a16="http://schemas.microsoft.com/office/drawing/2014/main" id="{43359BA0-D7DD-2B6A-409F-38D7A96EBF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6AB860-353B-C71D-6073-30AAD21E5D29}"/>
              </a:ext>
            </a:extLst>
          </p:cNvPr>
          <p:cNvSpPr>
            <a:spLocks noGrp="1"/>
          </p:cNvSpPr>
          <p:nvPr>
            <p:ph type="sldNum" sz="quarter" idx="12"/>
          </p:nvPr>
        </p:nvSpPr>
        <p:spPr/>
        <p:txBody>
          <a:bodyPr/>
          <a:lstStyle/>
          <a:p>
            <a:fld id="{53D37F0D-049E-5642-9C8C-667E4E67322D}" type="slidenum">
              <a:rPr lang="en-US" smtClean="0"/>
              <a:t>‹#›</a:t>
            </a:fld>
            <a:endParaRPr lang="en-US"/>
          </a:p>
        </p:txBody>
      </p:sp>
    </p:spTree>
    <p:extLst>
      <p:ext uri="{BB962C8B-B14F-4D97-AF65-F5344CB8AC3E}">
        <p14:creationId xmlns:p14="http://schemas.microsoft.com/office/powerpoint/2010/main" val="3301346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BF2FB-8011-947E-9ADC-2E96DD5623C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5C750DF-1308-DC84-7539-440EC9CDFB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5CF5BEA-36FC-AB93-27D3-4CCE2DE95CE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1A7B20C-056B-6023-EA75-D787E8FCF3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8283DB5-82C5-5A7C-6CF3-A6E9A3C5DD3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86F53B9-1BDB-41E2-2AF3-8C0C17321F39}"/>
              </a:ext>
            </a:extLst>
          </p:cNvPr>
          <p:cNvSpPr>
            <a:spLocks noGrp="1"/>
          </p:cNvSpPr>
          <p:nvPr>
            <p:ph type="dt" sz="half" idx="10"/>
          </p:nvPr>
        </p:nvSpPr>
        <p:spPr/>
        <p:txBody>
          <a:bodyPr/>
          <a:lstStyle/>
          <a:p>
            <a:fld id="{E205ED6D-C513-524C-8143-48DAA20C398C}" type="datetimeFigureOut">
              <a:rPr lang="en-US" smtClean="0"/>
              <a:t>10/13/26</a:t>
            </a:fld>
            <a:endParaRPr lang="en-US"/>
          </a:p>
        </p:txBody>
      </p:sp>
      <p:sp>
        <p:nvSpPr>
          <p:cNvPr id="8" name="Footer Placeholder 7">
            <a:extLst>
              <a:ext uri="{FF2B5EF4-FFF2-40B4-BE49-F238E27FC236}">
                <a16:creationId xmlns:a16="http://schemas.microsoft.com/office/drawing/2014/main" id="{95BF3E12-4825-552A-11AA-971260307F6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7F6F999-C64F-5C0C-629B-0F8C267DD622}"/>
              </a:ext>
            </a:extLst>
          </p:cNvPr>
          <p:cNvSpPr>
            <a:spLocks noGrp="1"/>
          </p:cNvSpPr>
          <p:nvPr>
            <p:ph type="sldNum" sz="quarter" idx="12"/>
          </p:nvPr>
        </p:nvSpPr>
        <p:spPr/>
        <p:txBody>
          <a:bodyPr/>
          <a:lstStyle/>
          <a:p>
            <a:fld id="{53D37F0D-049E-5642-9C8C-667E4E67322D}" type="slidenum">
              <a:rPr lang="en-US" smtClean="0"/>
              <a:t>‹#›</a:t>
            </a:fld>
            <a:endParaRPr lang="en-US"/>
          </a:p>
        </p:txBody>
      </p:sp>
    </p:spTree>
    <p:extLst>
      <p:ext uri="{BB962C8B-B14F-4D97-AF65-F5344CB8AC3E}">
        <p14:creationId xmlns:p14="http://schemas.microsoft.com/office/powerpoint/2010/main" val="1660721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809A2-A510-F63A-C772-E0F806C6D5CB}"/>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9BADBD5-D46D-A2CC-5E0E-7A68E11952E5}"/>
              </a:ext>
            </a:extLst>
          </p:cNvPr>
          <p:cNvSpPr>
            <a:spLocks noGrp="1"/>
          </p:cNvSpPr>
          <p:nvPr>
            <p:ph type="dt" sz="half" idx="10"/>
          </p:nvPr>
        </p:nvSpPr>
        <p:spPr/>
        <p:txBody>
          <a:bodyPr/>
          <a:lstStyle/>
          <a:p>
            <a:fld id="{E205ED6D-C513-524C-8143-48DAA20C398C}" type="datetimeFigureOut">
              <a:rPr lang="en-US" smtClean="0"/>
              <a:t>10/13/26</a:t>
            </a:fld>
            <a:endParaRPr lang="en-US"/>
          </a:p>
        </p:txBody>
      </p:sp>
      <p:sp>
        <p:nvSpPr>
          <p:cNvPr id="4" name="Footer Placeholder 3">
            <a:extLst>
              <a:ext uri="{FF2B5EF4-FFF2-40B4-BE49-F238E27FC236}">
                <a16:creationId xmlns:a16="http://schemas.microsoft.com/office/drawing/2014/main" id="{EB626E38-CBDD-05FA-4533-28AE4DB9200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17B291D-4845-85D3-716D-A83716139455}"/>
              </a:ext>
            </a:extLst>
          </p:cNvPr>
          <p:cNvSpPr>
            <a:spLocks noGrp="1"/>
          </p:cNvSpPr>
          <p:nvPr>
            <p:ph type="sldNum" sz="quarter" idx="12"/>
          </p:nvPr>
        </p:nvSpPr>
        <p:spPr/>
        <p:txBody>
          <a:bodyPr/>
          <a:lstStyle/>
          <a:p>
            <a:fld id="{53D37F0D-049E-5642-9C8C-667E4E67322D}" type="slidenum">
              <a:rPr lang="en-US" smtClean="0"/>
              <a:t>‹#›</a:t>
            </a:fld>
            <a:endParaRPr lang="en-US"/>
          </a:p>
        </p:txBody>
      </p:sp>
    </p:spTree>
    <p:extLst>
      <p:ext uri="{BB962C8B-B14F-4D97-AF65-F5344CB8AC3E}">
        <p14:creationId xmlns:p14="http://schemas.microsoft.com/office/powerpoint/2010/main" val="265811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0C9191-ECA2-9444-36AD-3F0A567001D1}"/>
              </a:ext>
            </a:extLst>
          </p:cNvPr>
          <p:cNvSpPr>
            <a:spLocks noGrp="1"/>
          </p:cNvSpPr>
          <p:nvPr>
            <p:ph type="dt" sz="half" idx="10"/>
          </p:nvPr>
        </p:nvSpPr>
        <p:spPr/>
        <p:txBody>
          <a:bodyPr/>
          <a:lstStyle/>
          <a:p>
            <a:fld id="{E205ED6D-C513-524C-8143-48DAA20C398C}" type="datetimeFigureOut">
              <a:rPr lang="en-US" smtClean="0"/>
              <a:t>10/13/26</a:t>
            </a:fld>
            <a:endParaRPr lang="en-US"/>
          </a:p>
        </p:txBody>
      </p:sp>
      <p:sp>
        <p:nvSpPr>
          <p:cNvPr id="3" name="Footer Placeholder 2">
            <a:extLst>
              <a:ext uri="{FF2B5EF4-FFF2-40B4-BE49-F238E27FC236}">
                <a16:creationId xmlns:a16="http://schemas.microsoft.com/office/drawing/2014/main" id="{4C6B1F31-4403-48C6-6AC8-F292B07F59B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2621206-89B3-A0BA-F0E7-EB891CE7DBE3}"/>
              </a:ext>
            </a:extLst>
          </p:cNvPr>
          <p:cNvSpPr>
            <a:spLocks noGrp="1"/>
          </p:cNvSpPr>
          <p:nvPr>
            <p:ph type="sldNum" sz="quarter" idx="12"/>
          </p:nvPr>
        </p:nvSpPr>
        <p:spPr/>
        <p:txBody>
          <a:bodyPr/>
          <a:lstStyle/>
          <a:p>
            <a:fld id="{53D37F0D-049E-5642-9C8C-667E4E67322D}" type="slidenum">
              <a:rPr lang="en-US" smtClean="0"/>
              <a:t>‹#›</a:t>
            </a:fld>
            <a:endParaRPr lang="en-US"/>
          </a:p>
        </p:txBody>
      </p:sp>
    </p:spTree>
    <p:extLst>
      <p:ext uri="{BB962C8B-B14F-4D97-AF65-F5344CB8AC3E}">
        <p14:creationId xmlns:p14="http://schemas.microsoft.com/office/powerpoint/2010/main" val="1683681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02758-79B5-7995-F55D-2BBE052EE5A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B90A60C-8D75-8416-9846-E96896EBCA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296D0B5-0AA2-2EA9-0C2A-6270361A9A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DEEFC26-45E1-307A-2A61-BB5619ED7A38}"/>
              </a:ext>
            </a:extLst>
          </p:cNvPr>
          <p:cNvSpPr>
            <a:spLocks noGrp="1"/>
          </p:cNvSpPr>
          <p:nvPr>
            <p:ph type="dt" sz="half" idx="10"/>
          </p:nvPr>
        </p:nvSpPr>
        <p:spPr/>
        <p:txBody>
          <a:bodyPr/>
          <a:lstStyle/>
          <a:p>
            <a:fld id="{E205ED6D-C513-524C-8143-48DAA20C398C}" type="datetimeFigureOut">
              <a:rPr lang="en-US" smtClean="0"/>
              <a:t>10/13/26</a:t>
            </a:fld>
            <a:endParaRPr lang="en-US"/>
          </a:p>
        </p:txBody>
      </p:sp>
      <p:sp>
        <p:nvSpPr>
          <p:cNvPr id="6" name="Footer Placeholder 5">
            <a:extLst>
              <a:ext uri="{FF2B5EF4-FFF2-40B4-BE49-F238E27FC236}">
                <a16:creationId xmlns:a16="http://schemas.microsoft.com/office/drawing/2014/main" id="{8D926D06-2181-A083-44C5-673B3ACF40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B95C8E-04A7-E745-F5C0-7E5A15BD5027}"/>
              </a:ext>
            </a:extLst>
          </p:cNvPr>
          <p:cNvSpPr>
            <a:spLocks noGrp="1"/>
          </p:cNvSpPr>
          <p:nvPr>
            <p:ph type="sldNum" sz="quarter" idx="12"/>
          </p:nvPr>
        </p:nvSpPr>
        <p:spPr/>
        <p:txBody>
          <a:bodyPr/>
          <a:lstStyle/>
          <a:p>
            <a:fld id="{53D37F0D-049E-5642-9C8C-667E4E67322D}" type="slidenum">
              <a:rPr lang="en-US" smtClean="0"/>
              <a:t>‹#›</a:t>
            </a:fld>
            <a:endParaRPr lang="en-US"/>
          </a:p>
        </p:txBody>
      </p:sp>
    </p:spTree>
    <p:extLst>
      <p:ext uri="{BB962C8B-B14F-4D97-AF65-F5344CB8AC3E}">
        <p14:creationId xmlns:p14="http://schemas.microsoft.com/office/powerpoint/2010/main" val="3489617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E07FC-39A8-2D6B-29FD-F8B0C867D2D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A2C304F8-463A-73CD-116F-8B9ECDE641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AE9F7D-4F27-9796-BF2C-2987E3EADB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85850E0-DE42-B221-C61A-46B768BCE99A}"/>
              </a:ext>
            </a:extLst>
          </p:cNvPr>
          <p:cNvSpPr>
            <a:spLocks noGrp="1"/>
          </p:cNvSpPr>
          <p:nvPr>
            <p:ph type="dt" sz="half" idx="10"/>
          </p:nvPr>
        </p:nvSpPr>
        <p:spPr/>
        <p:txBody>
          <a:bodyPr/>
          <a:lstStyle/>
          <a:p>
            <a:fld id="{E205ED6D-C513-524C-8143-48DAA20C398C}" type="datetimeFigureOut">
              <a:rPr lang="en-US" smtClean="0"/>
              <a:t>10/13/26</a:t>
            </a:fld>
            <a:endParaRPr lang="en-US"/>
          </a:p>
        </p:txBody>
      </p:sp>
      <p:sp>
        <p:nvSpPr>
          <p:cNvPr id="6" name="Footer Placeholder 5">
            <a:extLst>
              <a:ext uri="{FF2B5EF4-FFF2-40B4-BE49-F238E27FC236}">
                <a16:creationId xmlns:a16="http://schemas.microsoft.com/office/drawing/2014/main" id="{47C810A0-1333-332C-8C8C-51BF1E4143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8B6725-F130-0832-CC64-898D8BB3BBC8}"/>
              </a:ext>
            </a:extLst>
          </p:cNvPr>
          <p:cNvSpPr>
            <a:spLocks noGrp="1"/>
          </p:cNvSpPr>
          <p:nvPr>
            <p:ph type="sldNum" sz="quarter" idx="12"/>
          </p:nvPr>
        </p:nvSpPr>
        <p:spPr/>
        <p:txBody>
          <a:bodyPr/>
          <a:lstStyle/>
          <a:p>
            <a:fld id="{53D37F0D-049E-5642-9C8C-667E4E67322D}" type="slidenum">
              <a:rPr lang="en-US" smtClean="0"/>
              <a:t>‹#›</a:t>
            </a:fld>
            <a:endParaRPr lang="en-US"/>
          </a:p>
        </p:txBody>
      </p:sp>
    </p:spTree>
    <p:extLst>
      <p:ext uri="{BB962C8B-B14F-4D97-AF65-F5344CB8AC3E}">
        <p14:creationId xmlns:p14="http://schemas.microsoft.com/office/powerpoint/2010/main" val="3575136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25C2A-EBCC-77E4-E543-AF7A417F0A13}"/>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E1A880F-074F-C201-2696-D11559CA052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1143C1E-2433-FC6A-399F-906FE523E835}"/>
              </a:ext>
            </a:extLst>
          </p:cNvPr>
          <p:cNvSpPr>
            <a:spLocks noGrp="1"/>
          </p:cNvSpPr>
          <p:nvPr>
            <p:ph type="dt" sz="half" idx="10"/>
          </p:nvPr>
        </p:nvSpPr>
        <p:spPr/>
        <p:txBody>
          <a:bodyPr/>
          <a:lstStyle/>
          <a:p>
            <a:fld id="{E205ED6D-C513-524C-8143-48DAA20C398C}" type="datetimeFigureOut">
              <a:rPr lang="en-US" smtClean="0"/>
              <a:t>10/13/26</a:t>
            </a:fld>
            <a:endParaRPr lang="en-US"/>
          </a:p>
        </p:txBody>
      </p:sp>
      <p:sp>
        <p:nvSpPr>
          <p:cNvPr id="5" name="Footer Placeholder 4">
            <a:extLst>
              <a:ext uri="{FF2B5EF4-FFF2-40B4-BE49-F238E27FC236}">
                <a16:creationId xmlns:a16="http://schemas.microsoft.com/office/drawing/2014/main" id="{32F69C1F-DD2F-CECB-59BF-9507707A7A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25FA0C-F967-11C2-5D20-F7862A0DEE50}"/>
              </a:ext>
            </a:extLst>
          </p:cNvPr>
          <p:cNvSpPr>
            <a:spLocks noGrp="1"/>
          </p:cNvSpPr>
          <p:nvPr>
            <p:ph type="sldNum" sz="quarter" idx="12"/>
          </p:nvPr>
        </p:nvSpPr>
        <p:spPr/>
        <p:txBody>
          <a:bodyPr/>
          <a:lstStyle/>
          <a:p>
            <a:fld id="{53D37F0D-049E-5642-9C8C-667E4E67322D}" type="slidenum">
              <a:rPr lang="en-US" smtClean="0"/>
              <a:t>‹#›</a:t>
            </a:fld>
            <a:endParaRPr lang="en-US"/>
          </a:p>
        </p:txBody>
      </p:sp>
    </p:spTree>
    <p:extLst>
      <p:ext uri="{BB962C8B-B14F-4D97-AF65-F5344CB8AC3E}">
        <p14:creationId xmlns:p14="http://schemas.microsoft.com/office/powerpoint/2010/main" val="813581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BA8617-4381-F5BF-0015-07CE4B796EC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5787A1A-E92A-27D0-1F2A-7BB7E4E9E89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7934CE4-0C79-AB6D-44BA-1A1C5FE7B19B}"/>
              </a:ext>
            </a:extLst>
          </p:cNvPr>
          <p:cNvSpPr>
            <a:spLocks noGrp="1"/>
          </p:cNvSpPr>
          <p:nvPr>
            <p:ph type="dt" sz="half" idx="10"/>
          </p:nvPr>
        </p:nvSpPr>
        <p:spPr/>
        <p:txBody>
          <a:bodyPr/>
          <a:lstStyle/>
          <a:p>
            <a:fld id="{E205ED6D-C513-524C-8143-48DAA20C398C}" type="datetimeFigureOut">
              <a:rPr lang="en-US" smtClean="0"/>
              <a:t>10/13/26</a:t>
            </a:fld>
            <a:endParaRPr lang="en-US"/>
          </a:p>
        </p:txBody>
      </p:sp>
      <p:sp>
        <p:nvSpPr>
          <p:cNvPr id="5" name="Footer Placeholder 4">
            <a:extLst>
              <a:ext uri="{FF2B5EF4-FFF2-40B4-BE49-F238E27FC236}">
                <a16:creationId xmlns:a16="http://schemas.microsoft.com/office/drawing/2014/main" id="{E1330BC8-86B8-D8A4-7897-300C183E5F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878DFE-70CE-E538-806C-9F3F225390BA}"/>
              </a:ext>
            </a:extLst>
          </p:cNvPr>
          <p:cNvSpPr>
            <a:spLocks noGrp="1"/>
          </p:cNvSpPr>
          <p:nvPr>
            <p:ph type="sldNum" sz="quarter" idx="12"/>
          </p:nvPr>
        </p:nvSpPr>
        <p:spPr/>
        <p:txBody>
          <a:bodyPr/>
          <a:lstStyle/>
          <a:p>
            <a:fld id="{53D37F0D-049E-5642-9C8C-667E4E67322D}" type="slidenum">
              <a:rPr lang="en-US" smtClean="0"/>
              <a:t>‹#›</a:t>
            </a:fld>
            <a:endParaRPr lang="en-US"/>
          </a:p>
        </p:txBody>
      </p:sp>
    </p:spTree>
    <p:extLst>
      <p:ext uri="{BB962C8B-B14F-4D97-AF65-F5344CB8AC3E}">
        <p14:creationId xmlns:p14="http://schemas.microsoft.com/office/powerpoint/2010/main" val="3698597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2215DB-B27A-BD3E-8972-9CDE3534B2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654CBE4-EBB0-85AE-4BC9-2B377EABCB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0B42EA9-29F3-7773-B72C-34539C30AE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05ED6D-C513-524C-8143-48DAA20C398C}" type="datetimeFigureOut">
              <a:rPr lang="en-US" smtClean="0"/>
              <a:t>10/13/26</a:t>
            </a:fld>
            <a:endParaRPr lang="en-US"/>
          </a:p>
        </p:txBody>
      </p:sp>
      <p:sp>
        <p:nvSpPr>
          <p:cNvPr id="5" name="Footer Placeholder 4">
            <a:extLst>
              <a:ext uri="{FF2B5EF4-FFF2-40B4-BE49-F238E27FC236}">
                <a16:creationId xmlns:a16="http://schemas.microsoft.com/office/drawing/2014/main" id="{19698ACC-B50E-FD3C-1D9F-C7DC68C641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9B1A081-035B-0B09-D9CF-62909CAE68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D37F0D-049E-5642-9C8C-667E4E67322D}" type="slidenum">
              <a:rPr lang="en-US" smtClean="0"/>
              <a:t>‹#›</a:t>
            </a:fld>
            <a:endParaRPr lang="en-US"/>
          </a:p>
        </p:txBody>
      </p:sp>
    </p:spTree>
    <p:extLst>
      <p:ext uri="{BB962C8B-B14F-4D97-AF65-F5344CB8AC3E}">
        <p14:creationId xmlns:p14="http://schemas.microsoft.com/office/powerpoint/2010/main" val="10770686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slide" Target="slide4.xml"/><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slide" Target="slide10.xml"/><Relationship Id="rId12" Type="http://schemas.openxmlformats.org/officeDocument/2006/relationships/slide" Target="slide3.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slide" Target="slide4.xml"/><Relationship Id="rId5" Type="http://schemas.openxmlformats.org/officeDocument/2006/relationships/slide" Target="slide8.xml"/><Relationship Id="rId10"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slide" Target="slide6.xml"/></Relationships>
</file>

<file path=ppt/slides/_rels/slide4.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image" Target="../media/image3.png"/><Relationship Id="rId7" Type="http://schemas.openxmlformats.org/officeDocument/2006/relationships/slide" Target="slide4.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slide" Target="slide3.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slide" Target="slide10.xml"/><Relationship Id="rId11" Type="http://schemas.openxmlformats.org/officeDocument/2006/relationships/image" Target="../media/image8.png"/><Relationship Id="rId5" Type="http://schemas.openxmlformats.org/officeDocument/2006/relationships/image" Target="../media/image4.png"/><Relationship Id="rId10" Type="http://schemas.openxmlformats.org/officeDocument/2006/relationships/slide" Target="slide4.xml"/><Relationship Id="rId4" Type="http://schemas.openxmlformats.org/officeDocument/2006/relationships/slide" Target="slide8.xml"/><Relationship Id="rId9"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slide" Target="slide4.xml"/><Relationship Id="rId3" Type="http://schemas.openxmlformats.org/officeDocument/2006/relationships/image" Target="../media/image1.jpg"/><Relationship Id="rId7"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slide" Target="slide3.xml"/><Relationship Id="rId4" Type="http://schemas.openxmlformats.org/officeDocument/2006/relationships/image" Target="../media/image3.pn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slide" Target="slide10.xml"/><Relationship Id="rId11" Type="http://schemas.openxmlformats.org/officeDocument/2006/relationships/slide" Target="slide3.xml"/><Relationship Id="rId5" Type="http://schemas.openxmlformats.org/officeDocument/2006/relationships/image" Target="../media/image4.png"/><Relationship Id="rId10" Type="http://schemas.openxmlformats.org/officeDocument/2006/relationships/slide" Target="slide4.xml"/><Relationship Id="rId4" Type="http://schemas.openxmlformats.org/officeDocument/2006/relationships/slide" Target="slide8.xml"/><Relationship Id="rId9"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image" Target="../media/image3.png"/><Relationship Id="rId7" Type="http://schemas.openxmlformats.org/officeDocument/2006/relationships/slide" Target="slide4.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slide" Target="slide10.xml"/><Relationship Id="rId11" Type="http://schemas.openxmlformats.org/officeDocument/2006/relationships/slide" Target="slide3.xml"/><Relationship Id="rId5" Type="http://schemas.openxmlformats.org/officeDocument/2006/relationships/image" Target="../media/image4.png"/><Relationship Id="rId10" Type="http://schemas.openxmlformats.org/officeDocument/2006/relationships/slide" Target="slide4.xml"/><Relationship Id="rId4" Type="http://schemas.openxmlformats.org/officeDocument/2006/relationships/slide" Target="slide8.xml"/><Relationship Id="rId9"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slide" Target="slide4.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7.png"/><Relationship Id="rId4" Type="http://schemas.openxmlformats.org/officeDocument/2006/relationships/image" Target="../media/image4.png"/><Relationship Id="rId9" Type="http://schemas.openxmlformats.org/officeDocument/2006/relationships/slide" Target="slide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slide" Target="slid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blue sky with clouds&#10;&#10;AI-generated content may be incorrect.">
            <a:extLst>
              <a:ext uri="{FF2B5EF4-FFF2-40B4-BE49-F238E27FC236}">
                <a16:creationId xmlns:a16="http://schemas.microsoft.com/office/drawing/2014/main" id="{735C3503-7CA7-DB42-310F-724082C1E4F2}"/>
              </a:ext>
            </a:extLst>
          </p:cNvPr>
          <p:cNvPicPr>
            <a:picLocks noChangeAspect="1"/>
          </p:cNvPicPr>
          <p:nvPr/>
        </p:nvPicPr>
        <p:blipFill>
          <a:blip r:embed="rId2"/>
          <a:srcRect t="15731" b="16"/>
          <a:stretch>
            <a:fillRect/>
          </a:stretch>
        </p:blipFill>
        <p:spPr>
          <a:xfrm>
            <a:off x="-1504" y="0"/>
            <a:ext cx="12191980" cy="6856718"/>
          </a:xfrm>
          <a:prstGeom prst="rect">
            <a:avLst/>
          </a:prstGeom>
        </p:spPr>
      </p:pic>
      <p:sp>
        <p:nvSpPr>
          <p:cNvPr id="9" name="TextBox 8">
            <a:extLst>
              <a:ext uri="{FF2B5EF4-FFF2-40B4-BE49-F238E27FC236}">
                <a16:creationId xmlns:a16="http://schemas.microsoft.com/office/drawing/2014/main" id="{F4DB4B2D-F70B-9A4D-CF8D-D645B3175223}"/>
              </a:ext>
            </a:extLst>
          </p:cNvPr>
          <p:cNvSpPr txBox="1"/>
          <p:nvPr/>
        </p:nvSpPr>
        <p:spPr>
          <a:xfrm>
            <a:off x="632196" y="1080361"/>
            <a:ext cx="11317349" cy="707886"/>
          </a:xfrm>
          <a:prstGeom prst="rect">
            <a:avLst/>
          </a:prstGeom>
          <a:noFill/>
          <a:ln>
            <a:noFill/>
          </a:ln>
        </p:spPr>
        <p:txBody>
          <a:bodyPr wrap="square" rtlCol="0">
            <a:spAutoFit/>
          </a:bodyPr>
          <a:lstStyle/>
          <a:p>
            <a:pPr algn="ctr"/>
            <a:r>
              <a:rPr lang="en-IN" sz="2400" b="1" dirty="0">
                <a:solidFill>
                  <a:schemeClr val="bg1"/>
                </a:solidFill>
                <a:latin typeface="IrisUPC" panose="020B0604020202020204" pitchFamily="34" charset="0"/>
                <a:cs typeface="IrisUPC" panose="020B0604020202020204" pitchFamily="34" charset="0"/>
              </a:rPr>
              <a:t>CAPITAL STRUCTURING FOR IGE UK: EQUITY REMITTANCE AND GUARANTEES UNDER ODI, AND DEBT INSTRUMENTS</a:t>
            </a:r>
          </a:p>
          <a:p>
            <a:pPr algn="ctr"/>
            <a:endParaRPr lang="en-US" sz="1600" dirty="0">
              <a:solidFill>
                <a:schemeClr val="bg1"/>
              </a:solidFill>
              <a:latin typeface="American Typewriter Light" panose="02090304020004020304" pitchFamily="18" charset="77"/>
            </a:endParaRPr>
          </a:p>
        </p:txBody>
      </p:sp>
      <p:grpSp>
        <p:nvGrpSpPr>
          <p:cNvPr id="17" name="Group 16">
            <a:extLst>
              <a:ext uri="{FF2B5EF4-FFF2-40B4-BE49-F238E27FC236}">
                <a16:creationId xmlns:a16="http://schemas.microsoft.com/office/drawing/2014/main" id="{2624234B-51B9-E9AA-E5FF-0F78DE07FDBC}"/>
              </a:ext>
            </a:extLst>
          </p:cNvPr>
          <p:cNvGrpSpPr/>
          <p:nvPr/>
        </p:nvGrpSpPr>
        <p:grpSpPr>
          <a:xfrm>
            <a:off x="2858039" y="1751008"/>
            <a:ext cx="6865662" cy="2235200"/>
            <a:chOff x="2988851" y="1584036"/>
            <a:chExt cx="6865662" cy="2235200"/>
          </a:xfrm>
        </p:grpSpPr>
        <p:sp>
          <p:nvSpPr>
            <p:cNvPr id="11" name="TextBox 10">
              <a:extLst>
                <a:ext uri="{FF2B5EF4-FFF2-40B4-BE49-F238E27FC236}">
                  <a16:creationId xmlns:a16="http://schemas.microsoft.com/office/drawing/2014/main" id="{BBD65C94-C992-5D43-6667-999599EF8556}"/>
                </a:ext>
              </a:extLst>
            </p:cNvPr>
            <p:cNvSpPr txBox="1"/>
            <p:nvPr/>
          </p:nvSpPr>
          <p:spPr>
            <a:xfrm>
              <a:off x="2988851" y="2311400"/>
              <a:ext cx="6865662" cy="1323439"/>
            </a:xfrm>
            <a:prstGeom prst="rect">
              <a:avLst/>
            </a:prstGeom>
            <a:noFill/>
          </p:spPr>
          <p:txBody>
            <a:bodyPr wrap="none" rtlCol="0">
              <a:spAutoFit/>
            </a:bodyPr>
            <a:lstStyle/>
            <a:p>
              <a:r>
                <a:rPr lang="en-US" sz="8000" b="1" dirty="0">
                  <a:solidFill>
                    <a:schemeClr val="bg1"/>
                  </a:solidFill>
                  <a:latin typeface="Avenir Next Heavy" panose="020B0503020202020204" pitchFamily="34" charset="0"/>
                </a:rPr>
                <a:t>INTERGLOBE</a:t>
              </a:r>
            </a:p>
          </p:txBody>
        </p:sp>
        <p:sp>
          <p:nvSpPr>
            <p:cNvPr id="13" name="TextBox 12">
              <a:extLst>
                <a:ext uri="{FF2B5EF4-FFF2-40B4-BE49-F238E27FC236}">
                  <a16:creationId xmlns:a16="http://schemas.microsoft.com/office/drawing/2014/main" id="{ED145FDB-1F0B-B240-F822-04AE3689A8EF}"/>
                </a:ext>
              </a:extLst>
            </p:cNvPr>
            <p:cNvSpPr txBox="1"/>
            <p:nvPr/>
          </p:nvSpPr>
          <p:spPr>
            <a:xfrm>
              <a:off x="8013945" y="3357706"/>
              <a:ext cx="1840568" cy="369332"/>
            </a:xfrm>
            <a:prstGeom prst="rect">
              <a:avLst/>
            </a:prstGeom>
            <a:noFill/>
          </p:spPr>
          <p:txBody>
            <a:bodyPr wrap="none" rtlCol="0">
              <a:spAutoFit/>
            </a:bodyPr>
            <a:lstStyle/>
            <a:p>
              <a:r>
                <a:rPr lang="en-US" b="1" dirty="0">
                  <a:solidFill>
                    <a:schemeClr val="bg1"/>
                  </a:solidFill>
                  <a:latin typeface="Avenir Next Heavy" panose="020B0503020202020204" pitchFamily="34" charset="0"/>
                </a:rPr>
                <a:t>ENTERPRISES </a:t>
              </a:r>
            </a:p>
          </p:txBody>
        </p:sp>
        <p:pic>
          <p:nvPicPr>
            <p:cNvPr id="7" name="Picture 6" descr="A group of colored pencils&#10;&#10;AI-generated content may be incorrect.">
              <a:extLst>
                <a:ext uri="{FF2B5EF4-FFF2-40B4-BE49-F238E27FC236}">
                  <a16:creationId xmlns:a16="http://schemas.microsoft.com/office/drawing/2014/main" id="{9258D69A-1DA3-4706-C76C-52F20F90CB62}"/>
                </a:ext>
              </a:extLst>
            </p:cNvPr>
            <p:cNvPicPr>
              <a:picLocks noChangeAspect="1"/>
            </p:cNvPicPr>
            <p:nvPr/>
          </p:nvPicPr>
          <p:blipFill>
            <a:blip r:embed="rId3"/>
            <a:stretch>
              <a:fillRect/>
            </a:stretch>
          </p:blipFill>
          <p:spPr>
            <a:xfrm>
              <a:off x="5608882" y="1584036"/>
              <a:ext cx="1625600" cy="2235200"/>
            </a:xfrm>
            <a:prstGeom prst="rect">
              <a:avLst/>
            </a:prstGeom>
          </p:spPr>
        </p:pic>
      </p:grpSp>
      <p:grpSp>
        <p:nvGrpSpPr>
          <p:cNvPr id="19" name="Group 18">
            <a:extLst>
              <a:ext uri="{FF2B5EF4-FFF2-40B4-BE49-F238E27FC236}">
                <a16:creationId xmlns:a16="http://schemas.microsoft.com/office/drawing/2014/main" id="{24E12CC3-3FB2-5D99-C136-EFE08471BC1E}"/>
              </a:ext>
            </a:extLst>
          </p:cNvPr>
          <p:cNvGrpSpPr/>
          <p:nvPr/>
        </p:nvGrpSpPr>
        <p:grpSpPr>
          <a:xfrm>
            <a:off x="9621982" y="4404012"/>
            <a:ext cx="1823031" cy="665742"/>
            <a:chOff x="9621982" y="4404012"/>
            <a:chExt cx="1823031" cy="665742"/>
          </a:xfrm>
        </p:grpSpPr>
        <p:sp>
          <p:nvSpPr>
            <p:cNvPr id="15" name="TextBox 14">
              <a:extLst>
                <a:ext uri="{FF2B5EF4-FFF2-40B4-BE49-F238E27FC236}">
                  <a16:creationId xmlns:a16="http://schemas.microsoft.com/office/drawing/2014/main" id="{37697FA8-98A2-651E-22B6-F7C66D671AD1}"/>
                </a:ext>
              </a:extLst>
            </p:cNvPr>
            <p:cNvSpPr txBox="1"/>
            <p:nvPr/>
          </p:nvSpPr>
          <p:spPr>
            <a:xfrm>
              <a:off x="9854513" y="4546534"/>
              <a:ext cx="1590500" cy="523220"/>
            </a:xfrm>
            <a:prstGeom prst="rect">
              <a:avLst/>
            </a:prstGeom>
            <a:noFill/>
          </p:spPr>
          <p:txBody>
            <a:bodyPr wrap="none" rtlCol="0">
              <a:spAutoFit/>
            </a:bodyPr>
            <a:lstStyle/>
            <a:p>
              <a:r>
                <a:rPr lang="en-US" sz="2800" b="1" dirty="0">
                  <a:solidFill>
                    <a:schemeClr val="bg1"/>
                  </a:solidFill>
                  <a:latin typeface="IrisUPC" panose="020B0604020202020204" pitchFamily="34" charset="-34"/>
                  <a:cs typeface="IrisUPC" panose="020B0604020202020204" pitchFamily="34" charset="-34"/>
                </a:rPr>
                <a:t> Suryansh Raj</a:t>
              </a:r>
            </a:p>
          </p:txBody>
        </p:sp>
        <p:sp>
          <p:nvSpPr>
            <p:cNvPr id="16" name="TextBox 15">
              <a:extLst>
                <a:ext uri="{FF2B5EF4-FFF2-40B4-BE49-F238E27FC236}">
                  <a16:creationId xmlns:a16="http://schemas.microsoft.com/office/drawing/2014/main" id="{58ADBF3A-A781-9275-F7EC-4EF59B6C266C}"/>
                </a:ext>
              </a:extLst>
            </p:cNvPr>
            <p:cNvSpPr txBox="1"/>
            <p:nvPr/>
          </p:nvSpPr>
          <p:spPr>
            <a:xfrm>
              <a:off x="9621982" y="4404012"/>
              <a:ext cx="1035861" cy="369332"/>
            </a:xfrm>
            <a:prstGeom prst="rect">
              <a:avLst/>
            </a:prstGeom>
            <a:noFill/>
          </p:spPr>
          <p:txBody>
            <a:bodyPr wrap="none" rtlCol="0">
              <a:spAutoFit/>
            </a:bodyPr>
            <a:lstStyle/>
            <a:p>
              <a:r>
                <a:rPr lang="en-US" b="1" dirty="0">
                  <a:latin typeface="IrisUPC" panose="020B0604020202020204" pitchFamily="34" charset="-34"/>
                  <a:cs typeface="IrisUPC" panose="020B0604020202020204" pitchFamily="34" charset="-34"/>
                </a:rPr>
                <a:t>Presented by</a:t>
              </a:r>
            </a:p>
          </p:txBody>
        </p:sp>
      </p:grpSp>
    </p:spTree>
    <p:extLst>
      <p:ext uri="{BB962C8B-B14F-4D97-AF65-F5344CB8AC3E}">
        <p14:creationId xmlns:p14="http://schemas.microsoft.com/office/powerpoint/2010/main" val="2308962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F97C65-BE9A-49C2-D547-EDDE90FC1115}"/>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6B22D3AF-BCD1-C214-A35B-46E0584EE4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blue sky with clouds&#10;&#10;AI-generated content may be incorrect.">
            <a:extLst>
              <a:ext uri="{FF2B5EF4-FFF2-40B4-BE49-F238E27FC236}">
                <a16:creationId xmlns:a16="http://schemas.microsoft.com/office/drawing/2014/main" id="{9EA8EBDA-4512-B69D-6E9C-1F42B7D823E8}"/>
              </a:ext>
            </a:extLst>
          </p:cNvPr>
          <p:cNvPicPr>
            <a:picLocks noChangeAspect="1"/>
          </p:cNvPicPr>
          <p:nvPr/>
        </p:nvPicPr>
        <p:blipFill>
          <a:blip r:embed="rId2"/>
          <a:srcRect b="15747"/>
          <a:stretch>
            <a:fillRect/>
          </a:stretch>
        </p:blipFill>
        <p:spPr>
          <a:xfrm>
            <a:off x="-1504" y="0"/>
            <a:ext cx="12191980" cy="6856718"/>
          </a:xfrm>
          <a:prstGeom prst="rect">
            <a:avLst/>
          </a:prstGeom>
        </p:spPr>
      </p:pic>
      <p:sp>
        <p:nvSpPr>
          <p:cNvPr id="9" name="TextBox 8">
            <a:extLst>
              <a:ext uri="{FF2B5EF4-FFF2-40B4-BE49-F238E27FC236}">
                <a16:creationId xmlns:a16="http://schemas.microsoft.com/office/drawing/2014/main" id="{EE83FF31-1258-196A-FC6D-2301DD93D723}"/>
              </a:ext>
            </a:extLst>
          </p:cNvPr>
          <p:cNvSpPr txBox="1"/>
          <p:nvPr/>
        </p:nvSpPr>
        <p:spPr>
          <a:xfrm>
            <a:off x="632196" y="-748439"/>
            <a:ext cx="11317349" cy="707886"/>
          </a:xfrm>
          <a:prstGeom prst="rect">
            <a:avLst/>
          </a:prstGeom>
          <a:noFill/>
          <a:ln>
            <a:noFill/>
          </a:ln>
        </p:spPr>
        <p:txBody>
          <a:bodyPr wrap="square" rtlCol="0">
            <a:spAutoFit/>
          </a:bodyPr>
          <a:lstStyle/>
          <a:p>
            <a:pPr algn="ctr"/>
            <a:r>
              <a:rPr lang="en-IN" sz="2400" b="1" dirty="0">
                <a:solidFill>
                  <a:schemeClr val="bg1"/>
                </a:solidFill>
                <a:latin typeface="IrisUPC" panose="020B0604020202020204" pitchFamily="34" charset="0"/>
                <a:cs typeface="IrisUPC" panose="020B0604020202020204" pitchFamily="34" charset="0"/>
              </a:rPr>
              <a:t>CAPITAL STRUCTURING FOR IGE UK: EQUITY REMITTANCE AND GUARANTEES UNDER ODI, AND DEBT INSTRUMENTS</a:t>
            </a:r>
          </a:p>
          <a:p>
            <a:pPr algn="ctr"/>
            <a:endParaRPr lang="en-US" sz="1600" dirty="0">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latin typeface="American Typewriter Light" panose="02090304020004020304" pitchFamily="18" charset="77"/>
            </a:endParaRPr>
          </a:p>
        </p:txBody>
      </p:sp>
      <p:grpSp>
        <p:nvGrpSpPr>
          <p:cNvPr id="17" name="Group 16">
            <a:extLst>
              <a:ext uri="{FF2B5EF4-FFF2-40B4-BE49-F238E27FC236}">
                <a16:creationId xmlns:a16="http://schemas.microsoft.com/office/drawing/2014/main" id="{DB51E5D8-8B90-B3B2-5196-E8EF81DC3A8E}"/>
              </a:ext>
            </a:extLst>
          </p:cNvPr>
          <p:cNvGrpSpPr/>
          <p:nvPr/>
        </p:nvGrpSpPr>
        <p:grpSpPr>
          <a:xfrm>
            <a:off x="2858039" y="1751008"/>
            <a:ext cx="6865662" cy="2235200"/>
            <a:chOff x="2988851" y="1584036"/>
            <a:chExt cx="6865662" cy="2235200"/>
          </a:xfrm>
        </p:grpSpPr>
        <p:sp>
          <p:nvSpPr>
            <p:cNvPr id="11" name="TextBox 10">
              <a:extLst>
                <a:ext uri="{FF2B5EF4-FFF2-40B4-BE49-F238E27FC236}">
                  <a16:creationId xmlns:a16="http://schemas.microsoft.com/office/drawing/2014/main" id="{86A415EF-C446-AFE7-3AA6-C4E3E0C50B1A}"/>
                </a:ext>
              </a:extLst>
            </p:cNvPr>
            <p:cNvSpPr txBox="1"/>
            <p:nvPr/>
          </p:nvSpPr>
          <p:spPr>
            <a:xfrm>
              <a:off x="2988851" y="2311400"/>
              <a:ext cx="6865662" cy="1323439"/>
            </a:xfrm>
            <a:prstGeom prst="rect">
              <a:avLst/>
            </a:prstGeom>
            <a:noFill/>
          </p:spPr>
          <p:txBody>
            <a:bodyPr wrap="none" rtlCol="0">
              <a:spAutoFit/>
            </a:bodyPr>
            <a:lstStyle/>
            <a:p>
              <a:r>
                <a:rPr lang="en-US" sz="8000" b="1" dirty="0">
                  <a:solidFill>
                    <a:schemeClr val="bg1"/>
                  </a:solidFill>
                  <a:latin typeface="Avenir Next Heavy" panose="020B0503020202020204" pitchFamily="34" charset="0"/>
                </a:rPr>
                <a:t>INTERGLOBE</a:t>
              </a:r>
            </a:p>
          </p:txBody>
        </p:sp>
        <p:sp>
          <p:nvSpPr>
            <p:cNvPr id="13" name="TextBox 12">
              <a:extLst>
                <a:ext uri="{FF2B5EF4-FFF2-40B4-BE49-F238E27FC236}">
                  <a16:creationId xmlns:a16="http://schemas.microsoft.com/office/drawing/2014/main" id="{B678B6C7-4F11-FF6D-257C-D5BC70B102F2}"/>
                </a:ext>
              </a:extLst>
            </p:cNvPr>
            <p:cNvSpPr txBox="1"/>
            <p:nvPr/>
          </p:nvSpPr>
          <p:spPr>
            <a:xfrm>
              <a:off x="8013945" y="3357706"/>
              <a:ext cx="1840568" cy="369332"/>
            </a:xfrm>
            <a:prstGeom prst="rect">
              <a:avLst/>
            </a:prstGeom>
            <a:noFill/>
          </p:spPr>
          <p:txBody>
            <a:bodyPr wrap="none" rtlCol="0">
              <a:spAutoFit/>
            </a:bodyPr>
            <a:lstStyle/>
            <a:p>
              <a:r>
                <a:rPr lang="en-US" b="1" dirty="0">
                  <a:solidFill>
                    <a:schemeClr val="bg1"/>
                  </a:solidFill>
                  <a:latin typeface="Avenir Next Heavy" panose="020B0503020202020204" pitchFamily="34" charset="0"/>
                </a:rPr>
                <a:t>ENTERPRISES </a:t>
              </a:r>
            </a:p>
          </p:txBody>
        </p:sp>
        <p:pic>
          <p:nvPicPr>
            <p:cNvPr id="7" name="Picture 6" descr="A group of colored pencils&#10;&#10;AI-generated content may be incorrect.">
              <a:extLst>
                <a:ext uri="{FF2B5EF4-FFF2-40B4-BE49-F238E27FC236}">
                  <a16:creationId xmlns:a16="http://schemas.microsoft.com/office/drawing/2014/main" id="{65E14FF4-D25C-CE34-6C12-331B6802FA53}"/>
                </a:ext>
              </a:extLst>
            </p:cNvPr>
            <p:cNvPicPr>
              <a:picLocks noChangeAspect="1"/>
            </p:cNvPicPr>
            <p:nvPr/>
          </p:nvPicPr>
          <p:blipFill>
            <a:blip r:embed="rId3"/>
            <a:stretch>
              <a:fillRect/>
            </a:stretch>
          </p:blipFill>
          <p:spPr>
            <a:xfrm>
              <a:off x="5608882" y="1584036"/>
              <a:ext cx="1625600" cy="2235200"/>
            </a:xfrm>
            <a:prstGeom prst="rect">
              <a:avLst/>
            </a:prstGeom>
          </p:spPr>
        </p:pic>
      </p:grpSp>
      <p:grpSp>
        <p:nvGrpSpPr>
          <p:cNvPr id="19" name="Group 18">
            <a:extLst>
              <a:ext uri="{FF2B5EF4-FFF2-40B4-BE49-F238E27FC236}">
                <a16:creationId xmlns:a16="http://schemas.microsoft.com/office/drawing/2014/main" id="{C7B54863-D95F-33F8-8AF0-B91E76F3EE22}"/>
              </a:ext>
            </a:extLst>
          </p:cNvPr>
          <p:cNvGrpSpPr/>
          <p:nvPr/>
        </p:nvGrpSpPr>
        <p:grpSpPr>
          <a:xfrm>
            <a:off x="9621982" y="7100715"/>
            <a:ext cx="1220302" cy="665742"/>
            <a:chOff x="9621982" y="4404012"/>
            <a:chExt cx="1220302" cy="665742"/>
          </a:xfrm>
        </p:grpSpPr>
        <p:sp>
          <p:nvSpPr>
            <p:cNvPr id="15" name="TextBox 14">
              <a:extLst>
                <a:ext uri="{FF2B5EF4-FFF2-40B4-BE49-F238E27FC236}">
                  <a16:creationId xmlns:a16="http://schemas.microsoft.com/office/drawing/2014/main" id="{0C5FDDB6-4A28-3CD4-C39B-40858B61183F}"/>
                </a:ext>
              </a:extLst>
            </p:cNvPr>
            <p:cNvSpPr txBox="1"/>
            <p:nvPr/>
          </p:nvSpPr>
          <p:spPr>
            <a:xfrm>
              <a:off x="9854513" y="4546534"/>
              <a:ext cx="987771" cy="523220"/>
            </a:xfrm>
            <a:prstGeom prst="rect">
              <a:avLst/>
            </a:prstGeom>
            <a:noFill/>
          </p:spPr>
          <p:txBody>
            <a:bodyPr wrap="none" rtlCol="0">
              <a:spAutoFit/>
            </a:bodyPr>
            <a:lstStyle/>
            <a:p>
              <a:r>
                <a:rPr lang="en-US" sz="2800" b="1" dirty="0">
                  <a:solidFill>
                    <a:schemeClr val="bg1"/>
                  </a:solidFill>
                  <a:latin typeface="IrisUPC" panose="020B0604020202020204" pitchFamily="34" charset="-34"/>
                  <a:cs typeface="IrisUPC" panose="020B0604020202020204" pitchFamily="34" charset="-34"/>
                </a:rPr>
                <a:t> Raman</a:t>
              </a:r>
            </a:p>
          </p:txBody>
        </p:sp>
        <p:sp>
          <p:nvSpPr>
            <p:cNvPr id="16" name="TextBox 15">
              <a:extLst>
                <a:ext uri="{FF2B5EF4-FFF2-40B4-BE49-F238E27FC236}">
                  <a16:creationId xmlns:a16="http://schemas.microsoft.com/office/drawing/2014/main" id="{930865B7-216F-EBB8-ED7E-7D272640EEF1}"/>
                </a:ext>
              </a:extLst>
            </p:cNvPr>
            <p:cNvSpPr txBox="1"/>
            <p:nvPr/>
          </p:nvSpPr>
          <p:spPr>
            <a:xfrm>
              <a:off x="9621982" y="4404012"/>
              <a:ext cx="1035861" cy="369332"/>
            </a:xfrm>
            <a:prstGeom prst="rect">
              <a:avLst/>
            </a:prstGeom>
            <a:noFill/>
          </p:spPr>
          <p:txBody>
            <a:bodyPr wrap="none" rtlCol="0">
              <a:spAutoFit/>
            </a:bodyPr>
            <a:lstStyle/>
            <a:p>
              <a:r>
                <a:rPr lang="en-US" b="1" dirty="0">
                  <a:latin typeface="IrisUPC" panose="020B0604020202020204" pitchFamily="34" charset="-34"/>
                  <a:cs typeface="IrisUPC" panose="020B0604020202020204" pitchFamily="34" charset="-34"/>
                </a:rPr>
                <a:t>Presented by</a:t>
              </a:r>
            </a:p>
          </p:txBody>
        </p:sp>
      </p:grpSp>
      <p:sp>
        <p:nvSpPr>
          <p:cNvPr id="41" name="TextBox 40">
            <a:extLst>
              <a:ext uri="{FF2B5EF4-FFF2-40B4-BE49-F238E27FC236}">
                <a16:creationId xmlns:a16="http://schemas.microsoft.com/office/drawing/2014/main" id="{A46A2BB6-0275-A231-C3B1-2E6764BC5670}"/>
              </a:ext>
            </a:extLst>
          </p:cNvPr>
          <p:cNvSpPr txBox="1"/>
          <p:nvPr/>
        </p:nvSpPr>
        <p:spPr>
          <a:xfrm>
            <a:off x="3563317" y="-2293328"/>
            <a:ext cx="4884671" cy="3154710"/>
          </a:xfrm>
          <a:prstGeom prst="rect">
            <a:avLst/>
          </a:prstGeom>
          <a:noFill/>
        </p:spPr>
        <p:txBody>
          <a:bodyPr wrap="none" rtlCol="0">
            <a:spAutoFit/>
          </a:bodyPr>
          <a:lstStyle/>
          <a:p>
            <a:pPr algn="ctr"/>
            <a:r>
              <a:rPr lang="en-US" sz="19900" b="1" dirty="0">
                <a:latin typeface="IrisUPC" panose="020B0604020202020204" pitchFamily="34" charset="-34"/>
                <a:cs typeface="IrisUPC" panose="020B0604020202020204" pitchFamily="34" charset="-34"/>
              </a:rPr>
              <a:t>TABLE</a:t>
            </a:r>
          </a:p>
        </p:txBody>
      </p:sp>
      <p:sp>
        <p:nvSpPr>
          <p:cNvPr id="42" name="TextBox 41">
            <a:extLst>
              <a:ext uri="{FF2B5EF4-FFF2-40B4-BE49-F238E27FC236}">
                <a16:creationId xmlns:a16="http://schemas.microsoft.com/office/drawing/2014/main" id="{C1116226-CFBB-643F-44C0-81515E46A870}"/>
              </a:ext>
            </a:extLst>
          </p:cNvPr>
          <p:cNvSpPr txBox="1"/>
          <p:nvPr/>
        </p:nvSpPr>
        <p:spPr>
          <a:xfrm>
            <a:off x="6840021" y="-2490643"/>
            <a:ext cx="2219967" cy="461665"/>
          </a:xfrm>
          <a:prstGeom prst="rect">
            <a:avLst/>
          </a:prstGeom>
          <a:noFill/>
        </p:spPr>
        <p:txBody>
          <a:bodyPr wrap="none" rtlCol="0">
            <a:spAutoFit/>
          </a:bodyPr>
          <a:lstStyle/>
          <a:p>
            <a:r>
              <a:rPr lang="en-US" sz="2400" b="1" dirty="0">
                <a:latin typeface="Avenir Next Heavy" panose="020B0503020202020204" pitchFamily="34" charset="0"/>
              </a:rPr>
              <a:t>OF CONTENT</a:t>
            </a:r>
          </a:p>
        </p:txBody>
      </p:sp>
      <p:grpSp>
        <p:nvGrpSpPr>
          <p:cNvPr id="63" name="Group 62">
            <a:extLst>
              <a:ext uri="{FF2B5EF4-FFF2-40B4-BE49-F238E27FC236}">
                <a16:creationId xmlns:a16="http://schemas.microsoft.com/office/drawing/2014/main" id="{2A0A5DEA-0551-27A9-5837-0F29B3EECD5E}"/>
              </a:ext>
            </a:extLst>
          </p:cNvPr>
          <p:cNvGrpSpPr/>
          <p:nvPr/>
        </p:nvGrpSpPr>
        <p:grpSpPr>
          <a:xfrm>
            <a:off x="12550064" y="2840151"/>
            <a:ext cx="1224000" cy="1188000"/>
            <a:chOff x="6419425" y="2840151"/>
            <a:chExt cx="1224000" cy="1188000"/>
          </a:xfrm>
        </p:grpSpPr>
        <p:sp>
          <p:nvSpPr>
            <p:cNvPr id="64" name="Rectangle 63">
              <a:extLst>
                <a:ext uri="{FF2B5EF4-FFF2-40B4-BE49-F238E27FC236}">
                  <a16:creationId xmlns:a16="http://schemas.microsoft.com/office/drawing/2014/main" id="{D3EBDD13-15BB-B0A5-4A24-0875A6AB8A9E}"/>
                </a:ext>
              </a:extLst>
            </p:cNvPr>
            <p:cNvSpPr>
              <a:spLocks noChangeAspect="1"/>
            </p:cNvSpPr>
            <p:nvPr/>
          </p:nvSpPr>
          <p:spPr>
            <a:xfrm>
              <a:off x="6419425" y="2877109"/>
              <a:ext cx="1224000" cy="1128107"/>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5" name="Picture 64" descr="A black background with a black square&#10;&#10;AI-generated content may be incorrect.">
              <a:extLst>
                <a:ext uri="{FF2B5EF4-FFF2-40B4-BE49-F238E27FC236}">
                  <a16:creationId xmlns:a16="http://schemas.microsoft.com/office/drawing/2014/main" id="{5327B531-00B7-37F6-A89E-69E4E76CDB92}"/>
                </a:ext>
              </a:extLst>
            </p:cNvPr>
            <p:cNvPicPr>
              <a:picLocks noChangeAspect="1"/>
            </p:cNvPicPr>
            <p:nvPr/>
          </p:nvPicPr>
          <p:blipFill>
            <a:blip r:embed="rId4"/>
            <a:stretch>
              <a:fillRect/>
            </a:stretch>
          </p:blipFill>
          <p:spPr>
            <a:xfrm>
              <a:off x="6431982" y="2840151"/>
              <a:ext cx="1188000" cy="1188000"/>
            </a:xfrm>
            <a:prstGeom prst="rect">
              <a:avLst/>
            </a:prstGeom>
          </p:spPr>
        </p:pic>
      </p:grpSp>
      <p:grpSp>
        <p:nvGrpSpPr>
          <p:cNvPr id="66" name="Group 65">
            <a:extLst>
              <a:ext uri="{FF2B5EF4-FFF2-40B4-BE49-F238E27FC236}">
                <a16:creationId xmlns:a16="http://schemas.microsoft.com/office/drawing/2014/main" id="{E4B5C4BE-3792-5F8F-DE57-725A8C848EC5}"/>
              </a:ext>
            </a:extLst>
          </p:cNvPr>
          <p:cNvGrpSpPr/>
          <p:nvPr/>
        </p:nvGrpSpPr>
        <p:grpSpPr>
          <a:xfrm>
            <a:off x="15608390" y="2824844"/>
            <a:ext cx="1226109" cy="1224000"/>
            <a:chOff x="7835988" y="2700152"/>
            <a:chExt cx="1226109" cy="1224000"/>
          </a:xfrm>
        </p:grpSpPr>
        <p:sp>
          <p:nvSpPr>
            <p:cNvPr id="67" name="Rectangle 66">
              <a:extLst>
                <a:ext uri="{FF2B5EF4-FFF2-40B4-BE49-F238E27FC236}">
                  <a16:creationId xmlns:a16="http://schemas.microsoft.com/office/drawing/2014/main" id="{0A5A1A5F-4EB2-F082-CB6E-0D9ED4BD699A}"/>
                </a:ext>
              </a:extLst>
            </p:cNvPr>
            <p:cNvSpPr>
              <a:spLocks noChangeAspect="1"/>
            </p:cNvSpPr>
            <p:nvPr/>
          </p:nvSpPr>
          <p:spPr>
            <a:xfrm>
              <a:off x="7835988" y="2744111"/>
              <a:ext cx="1224000" cy="1128107"/>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8" name="Picture 67" descr="A black background with a black square&#10;&#10;AI-generated content may be incorrect.">
              <a:extLst>
                <a:ext uri="{FF2B5EF4-FFF2-40B4-BE49-F238E27FC236}">
                  <a16:creationId xmlns:a16="http://schemas.microsoft.com/office/drawing/2014/main" id="{1224B2FD-87F9-77D9-748A-9021FEB9C3FF}"/>
                </a:ext>
              </a:extLst>
            </p:cNvPr>
            <p:cNvPicPr>
              <a:picLocks noChangeAspect="1"/>
            </p:cNvPicPr>
            <p:nvPr/>
          </p:nvPicPr>
          <p:blipFill>
            <a:blip r:embed="rId5"/>
            <a:stretch>
              <a:fillRect/>
            </a:stretch>
          </p:blipFill>
          <p:spPr>
            <a:xfrm>
              <a:off x="7838097" y="2700152"/>
              <a:ext cx="1224000" cy="1224000"/>
            </a:xfrm>
            <a:prstGeom prst="rect">
              <a:avLst/>
            </a:prstGeom>
          </p:spPr>
        </p:pic>
      </p:grpSp>
      <p:grpSp>
        <p:nvGrpSpPr>
          <p:cNvPr id="69" name="Group 68">
            <a:extLst>
              <a:ext uri="{FF2B5EF4-FFF2-40B4-BE49-F238E27FC236}">
                <a16:creationId xmlns:a16="http://schemas.microsoft.com/office/drawing/2014/main" id="{817FCCFE-50A2-2D9B-DF5E-D361471467D9}"/>
              </a:ext>
            </a:extLst>
          </p:cNvPr>
          <p:cNvGrpSpPr/>
          <p:nvPr/>
        </p:nvGrpSpPr>
        <p:grpSpPr>
          <a:xfrm>
            <a:off x="-1343638" y="2872511"/>
            <a:ext cx="1224000" cy="1152000"/>
            <a:chOff x="4932470" y="2872511"/>
            <a:chExt cx="1224000" cy="1152000"/>
          </a:xfrm>
        </p:grpSpPr>
        <p:sp>
          <p:nvSpPr>
            <p:cNvPr id="70" name="Rectangle 69">
              <a:extLst>
                <a:ext uri="{FF2B5EF4-FFF2-40B4-BE49-F238E27FC236}">
                  <a16:creationId xmlns:a16="http://schemas.microsoft.com/office/drawing/2014/main" id="{6B3C5DEE-C21E-543B-221B-D01D9F2F2363}"/>
                </a:ext>
              </a:extLst>
            </p:cNvPr>
            <p:cNvSpPr>
              <a:spLocks noChangeAspect="1"/>
            </p:cNvSpPr>
            <p:nvPr/>
          </p:nvSpPr>
          <p:spPr>
            <a:xfrm>
              <a:off x="4932470" y="2880930"/>
              <a:ext cx="1224000" cy="1128107"/>
            </a:xfrm>
            <a:prstGeom prst="rect">
              <a:avLst/>
            </a:prstGeom>
            <a:blipFill dpi="0" rotWithShape="1">
              <a:blip r:embed="rId6">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 name="Picture 70" descr="A black background with a black square&#10;&#10;AI-generated content may be incorrect.">
              <a:extLst>
                <a:ext uri="{FF2B5EF4-FFF2-40B4-BE49-F238E27FC236}">
                  <a16:creationId xmlns:a16="http://schemas.microsoft.com/office/drawing/2014/main" id="{038D0A79-490D-AFAC-80B8-B12AC68C2A72}"/>
                </a:ext>
              </a:extLst>
            </p:cNvPr>
            <p:cNvPicPr>
              <a:picLocks noChangeAspect="1"/>
            </p:cNvPicPr>
            <p:nvPr/>
          </p:nvPicPr>
          <p:blipFill>
            <a:blip r:embed="rId6"/>
            <a:stretch>
              <a:fillRect/>
            </a:stretch>
          </p:blipFill>
          <p:spPr>
            <a:xfrm>
              <a:off x="4969339" y="2872511"/>
              <a:ext cx="1152000" cy="1152000"/>
            </a:xfrm>
            <a:prstGeom prst="rect">
              <a:avLst/>
            </a:prstGeom>
          </p:spPr>
        </p:pic>
      </p:grpSp>
      <p:grpSp>
        <p:nvGrpSpPr>
          <p:cNvPr id="72" name="Group 71">
            <a:extLst>
              <a:ext uri="{FF2B5EF4-FFF2-40B4-BE49-F238E27FC236}">
                <a16:creationId xmlns:a16="http://schemas.microsoft.com/office/drawing/2014/main" id="{4C324083-AC13-A39E-FC2A-CBA26B817413}"/>
              </a:ext>
            </a:extLst>
          </p:cNvPr>
          <p:cNvGrpSpPr/>
          <p:nvPr/>
        </p:nvGrpSpPr>
        <p:grpSpPr>
          <a:xfrm>
            <a:off x="-4361397" y="2869725"/>
            <a:ext cx="1224000" cy="1152000"/>
            <a:chOff x="3120056" y="2869725"/>
            <a:chExt cx="1224000" cy="1152000"/>
          </a:xfrm>
        </p:grpSpPr>
        <p:sp>
          <p:nvSpPr>
            <p:cNvPr id="73" name="Rectangle 72">
              <a:extLst>
                <a:ext uri="{FF2B5EF4-FFF2-40B4-BE49-F238E27FC236}">
                  <a16:creationId xmlns:a16="http://schemas.microsoft.com/office/drawing/2014/main" id="{FB866151-550F-9454-566A-34F85F2A258D}"/>
                </a:ext>
              </a:extLst>
            </p:cNvPr>
            <p:cNvSpPr>
              <a:spLocks noChangeAspect="1"/>
            </p:cNvSpPr>
            <p:nvPr/>
          </p:nvSpPr>
          <p:spPr>
            <a:xfrm>
              <a:off x="3120056" y="2869725"/>
              <a:ext cx="1224000" cy="1151971"/>
            </a:xfrm>
            <a:prstGeom prst="rect">
              <a:avLst/>
            </a:prstGeom>
            <a:blipFill dpi="0" rotWithShape="1">
              <a:blip r:embed="rId7">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pic>
          <p:nvPicPr>
            <p:cNvPr id="74" name="Picture 73" descr="A black background with a black square&#10;&#10;AI-generated content may be incorrect.">
              <a:hlinkClick r:id="rId8" action="ppaction://hlinksldjump"/>
              <a:extLst>
                <a:ext uri="{FF2B5EF4-FFF2-40B4-BE49-F238E27FC236}">
                  <a16:creationId xmlns:a16="http://schemas.microsoft.com/office/drawing/2014/main" id="{D0271B63-AA2E-C4D3-D679-97DBBA493E06}"/>
                </a:ext>
              </a:extLst>
            </p:cNvPr>
            <p:cNvPicPr>
              <a:picLocks noChangeAspect="1"/>
            </p:cNvPicPr>
            <p:nvPr/>
          </p:nvPicPr>
          <p:blipFill>
            <a:blip r:embed="rId7"/>
            <a:stretch>
              <a:fillRect/>
            </a:stretch>
          </p:blipFill>
          <p:spPr>
            <a:xfrm>
              <a:off x="3148786" y="2869725"/>
              <a:ext cx="1152000" cy="1152000"/>
            </a:xfrm>
            <a:prstGeom prst="rect">
              <a:avLst/>
            </a:prstGeom>
          </p:spPr>
        </p:pic>
      </p:grpSp>
    </p:spTree>
    <p:extLst>
      <p:ext uri="{BB962C8B-B14F-4D97-AF65-F5344CB8AC3E}">
        <p14:creationId xmlns:p14="http://schemas.microsoft.com/office/powerpoint/2010/main" val="42720632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A938BE-E78E-2F17-34BC-BFF6B5CFBD33}"/>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764B67A7-3BF5-7666-3AFB-AEC14D55AF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blue sky with clouds&#10;&#10;AI-generated content may be incorrect.">
            <a:extLst>
              <a:ext uri="{FF2B5EF4-FFF2-40B4-BE49-F238E27FC236}">
                <a16:creationId xmlns:a16="http://schemas.microsoft.com/office/drawing/2014/main" id="{6DB3DEA9-8FDC-ABEA-9621-0162AB3AC617}"/>
              </a:ext>
            </a:extLst>
          </p:cNvPr>
          <p:cNvPicPr>
            <a:picLocks noChangeAspect="1"/>
          </p:cNvPicPr>
          <p:nvPr/>
        </p:nvPicPr>
        <p:blipFill>
          <a:blip r:embed="rId2"/>
          <a:srcRect b="15747"/>
          <a:stretch>
            <a:fillRect/>
          </a:stretch>
        </p:blipFill>
        <p:spPr>
          <a:xfrm>
            <a:off x="-1504" y="0"/>
            <a:ext cx="12191980" cy="6856718"/>
          </a:xfrm>
          <a:prstGeom prst="rect">
            <a:avLst/>
          </a:prstGeom>
        </p:spPr>
      </p:pic>
      <p:sp>
        <p:nvSpPr>
          <p:cNvPr id="9" name="TextBox 8">
            <a:extLst>
              <a:ext uri="{FF2B5EF4-FFF2-40B4-BE49-F238E27FC236}">
                <a16:creationId xmlns:a16="http://schemas.microsoft.com/office/drawing/2014/main" id="{932BB589-6795-BFFD-D7AA-D1D541A62863}"/>
              </a:ext>
            </a:extLst>
          </p:cNvPr>
          <p:cNvSpPr txBox="1"/>
          <p:nvPr/>
        </p:nvSpPr>
        <p:spPr>
          <a:xfrm>
            <a:off x="632196" y="-748439"/>
            <a:ext cx="11317349" cy="707886"/>
          </a:xfrm>
          <a:prstGeom prst="rect">
            <a:avLst/>
          </a:prstGeom>
          <a:noFill/>
          <a:ln>
            <a:noFill/>
          </a:ln>
        </p:spPr>
        <p:txBody>
          <a:bodyPr wrap="square" rtlCol="0">
            <a:spAutoFit/>
          </a:bodyPr>
          <a:lstStyle/>
          <a:p>
            <a:pPr algn="ctr"/>
            <a:r>
              <a:rPr lang="en-IN" sz="2400" b="1" dirty="0">
                <a:solidFill>
                  <a:schemeClr val="bg1"/>
                </a:solidFill>
                <a:latin typeface="IrisUPC" panose="020B0604020202020204" pitchFamily="34" charset="0"/>
                <a:cs typeface="IrisUPC" panose="020B0604020202020204" pitchFamily="34" charset="0"/>
              </a:rPr>
              <a:t>CAPITAL STRUCTURING FOR IGE UK: EQUITY REMITTANCE AND GUARANTEES UNDER ODI, AND DEBT INSTRUMENTS</a:t>
            </a:r>
          </a:p>
          <a:p>
            <a:pPr algn="ctr"/>
            <a:endParaRPr lang="en-US" sz="1600" dirty="0">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latin typeface="American Typewriter Light" panose="02090304020004020304" pitchFamily="18" charset="77"/>
            </a:endParaRPr>
          </a:p>
        </p:txBody>
      </p:sp>
      <p:grpSp>
        <p:nvGrpSpPr>
          <p:cNvPr id="17" name="Group 16">
            <a:extLst>
              <a:ext uri="{FF2B5EF4-FFF2-40B4-BE49-F238E27FC236}">
                <a16:creationId xmlns:a16="http://schemas.microsoft.com/office/drawing/2014/main" id="{D05F18A8-FB37-A2AB-8308-1DFA25B24A25}"/>
              </a:ext>
            </a:extLst>
          </p:cNvPr>
          <p:cNvGrpSpPr/>
          <p:nvPr/>
        </p:nvGrpSpPr>
        <p:grpSpPr>
          <a:xfrm>
            <a:off x="2858039" y="7128907"/>
            <a:ext cx="6865662" cy="2235200"/>
            <a:chOff x="2988851" y="1584036"/>
            <a:chExt cx="6865662" cy="2235200"/>
          </a:xfrm>
        </p:grpSpPr>
        <p:sp>
          <p:nvSpPr>
            <p:cNvPr id="11" name="TextBox 10">
              <a:extLst>
                <a:ext uri="{FF2B5EF4-FFF2-40B4-BE49-F238E27FC236}">
                  <a16:creationId xmlns:a16="http://schemas.microsoft.com/office/drawing/2014/main" id="{10F1ACCC-CC93-9C77-6429-F511266725D2}"/>
                </a:ext>
              </a:extLst>
            </p:cNvPr>
            <p:cNvSpPr txBox="1"/>
            <p:nvPr/>
          </p:nvSpPr>
          <p:spPr>
            <a:xfrm>
              <a:off x="2988851" y="2311400"/>
              <a:ext cx="6865662" cy="1323439"/>
            </a:xfrm>
            <a:prstGeom prst="rect">
              <a:avLst/>
            </a:prstGeom>
            <a:noFill/>
          </p:spPr>
          <p:txBody>
            <a:bodyPr wrap="none" rtlCol="0">
              <a:spAutoFit/>
            </a:bodyPr>
            <a:lstStyle/>
            <a:p>
              <a:r>
                <a:rPr lang="en-US" sz="8000" b="1" dirty="0">
                  <a:solidFill>
                    <a:schemeClr val="bg1"/>
                  </a:solidFill>
                  <a:latin typeface="Avenir Next Heavy" panose="020B0503020202020204" pitchFamily="34" charset="0"/>
                </a:rPr>
                <a:t>INTERGLOBE</a:t>
              </a:r>
            </a:p>
          </p:txBody>
        </p:sp>
        <p:sp>
          <p:nvSpPr>
            <p:cNvPr id="13" name="TextBox 12">
              <a:extLst>
                <a:ext uri="{FF2B5EF4-FFF2-40B4-BE49-F238E27FC236}">
                  <a16:creationId xmlns:a16="http://schemas.microsoft.com/office/drawing/2014/main" id="{00E1EF94-51E4-7D7A-ECE2-2B8349D9EF87}"/>
                </a:ext>
              </a:extLst>
            </p:cNvPr>
            <p:cNvSpPr txBox="1"/>
            <p:nvPr/>
          </p:nvSpPr>
          <p:spPr>
            <a:xfrm>
              <a:off x="8013945" y="3357706"/>
              <a:ext cx="1840568" cy="369332"/>
            </a:xfrm>
            <a:prstGeom prst="rect">
              <a:avLst/>
            </a:prstGeom>
            <a:noFill/>
          </p:spPr>
          <p:txBody>
            <a:bodyPr wrap="none" rtlCol="0">
              <a:spAutoFit/>
            </a:bodyPr>
            <a:lstStyle/>
            <a:p>
              <a:r>
                <a:rPr lang="en-US" b="1" dirty="0">
                  <a:solidFill>
                    <a:schemeClr val="bg1"/>
                  </a:solidFill>
                  <a:latin typeface="Avenir Next Heavy" panose="020B0503020202020204" pitchFamily="34" charset="0"/>
                </a:rPr>
                <a:t>ENTERPRISES </a:t>
              </a:r>
            </a:p>
          </p:txBody>
        </p:sp>
        <p:pic>
          <p:nvPicPr>
            <p:cNvPr id="7" name="Picture 6" descr="A group of colored pencils&#10;&#10;AI-generated content may be incorrect.">
              <a:extLst>
                <a:ext uri="{FF2B5EF4-FFF2-40B4-BE49-F238E27FC236}">
                  <a16:creationId xmlns:a16="http://schemas.microsoft.com/office/drawing/2014/main" id="{B9AD12D8-CD27-0AED-185C-4134304F419D}"/>
                </a:ext>
              </a:extLst>
            </p:cNvPr>
            <p:cNvPicPr>
              <a:picLocks noChangeAspect="1"/>
            </p:cNvPicPr>
            <p:nvPr/>
          </p:nvPicPr>
          <p:blipFill>
            <a:blip r:embed="rId3"/>
            <a:stretch>
              <a:fillRect/>
            </a:stretch>
          </p:blipFill>
          <p:spPr>
            <a:xfrm>
              <a:off x="5608882" y="1584036"/>
              <a:ext cx="1625600" cy="2235200"/>
            </a:xfrm>
            <a:prstGeom prst="rect">
              <a:avLst/>
            </a:prstGeom>
          </p:spPr>
        </p:pic>
      </p:grpSp>
      <p:grpSp>
        <p:nvGrpSpPr>
          <p:cNvPr id="19" name="Group 18">
            <a:extLst>
              <a:ext uri="{FF2B5EF4-FFF2-40B4-BE49-F238E27FC236}">
                <a16:creationId xmlns:a16="http://schemas.microsoft.com/office/drawing/2014/main" id="{3533ABB0-98E8-10A4-C262-D9F394DB923A}"/>
              </a:ext>
            </a:extLst>
          </p:cNvPr>
          <p:cNvGrpSpPr/>
          <p:nvPr/>
        </p:nvGrpSpPr>
        <p:grpSpPr>
          <a:xfrm>
            <a:off x="9621982" y="7100715"/>
            <a:ext cx="1220302" cy="665742"/>
            <a:chOff x="9621982" y="4404012"/>
            <a:chExt cx="1220302" cy="665742"/>
          </a:xfrm>
        </p:grpSpPr>
        <p:sp>
          <p:nvSpPr>
            <p:cNvPr id="15" name="TextBox 14">
              <a:extLst>
                <a:ext uri="{FF2B5EF4-FFF2-40B4-BE49-F238E27FC236}">
                  <a16:creationId xmlns:a16="http://schemas.microsoft.com/office/drawing/2014/main" id="{86C96EFE-5474-A460-32E8-294E132C568A}"/>
                </a:ext>
              </a:extLst>
            </p:cNvPr>
            <p:cNvSpPr txBox="1"/>
            <p:nvPr/>
          </p:nvSpPr>
          <p:spPr>
            <a:xfrm>
              <a:off x="9854513" y="4546534"/>
              <a:ext cx="987771" cy="523220"/>
            </a:xfrm>
            <a:prstGeom prst="rect">
              <a:avLst/>
            </a:prstGeom>
            <a:noFill/>
          </p:spPr>
          <p:txBody>
            <a:bodyPr wrap="none" rtlCol="0">
              <a:spAutoFit/>
            </a:bodyPr>
            <a:lstStyle/>
            <a:p>
              <a:r>
                <a:rPr lang="en-US" sz="2800" b="1" dirty="0">
                  <a:solidFill>
                    <a:schemeClr val="bg1"/>
                  </a:solidFill>
                  <a:latin typeface="IrisUPC" panose="020B0604020202020204" pitchFamily="34" charset="-34"/>
                  <a:cs typeface="IrisUPC" panose="020B0604020202020204" pitchFamily="34" charset="-34"/>
                </a:rPr>
                <a:t> Raman</a:t>
              </a:r>
            </a:p>
          </p:txBody>
        </p:sp>
        <p:sp>
          <p:nvSpPr>
            <p:cNvPr id="16" name="TextBox 15">
              <a:extLst>
                <a:ext uri="{FF2B5EF4-FFF2-40B4-BE49-F238E27FC236}">
                  <a16:creationId xmlns:a16="http://schemas.microsoft.com/office/drawing/2014/main" id="{85EFF08F-FB5C-4A2B-AB98-570C59027FCB}"/>
                </a:ext>
              </a:extLst>
            </p:cNvPr>
            <p:cNvSpPr txBox="1"/>
            <p:nvPr/>
          </p:nvSpPr>
          <p:spPr>
            <a:xfrm>
              <a:off x="9621982" y="4404012"/>
              <a:ext cx="1035861" cy="369332"/>
            </a:xfrm>
            <a:prstGeom prst="rect">
              <a:avLst/>
            </a:prstGeom>
            <a:noFill/>
          </p:spPr>
          <p:txBody>
            <a:bodyPr wrap="none" rtlCol="0">
              <a:spAutoFit/>
            </a:bodyPr>
            <a:lstStyle/>
            <a:p>
              <a:r>
                <a:rPr lang="en-US" b="1" dirty="0">
                  <a:latin typeface="IrisUPC" panose="020B0604020202020204" pitchFamily="34" charset="-34"/>
                  <a:cs typeface="IrisUPC" panose="020B0604020202020204" pitchFamily="34" charset="-34"/>
                </a:rPr>
                <a:t>Presented by</a:t>
              </a:r>
            </a:p>
          </p:txBody>
        </p:sp>
      </p:grpSp>
      <p:sp>
        <p:nvSpPr>
          <p:cNvPr id="30" name="TextBox 29">
            <a:extLst>
              <a:ext uri="{FF2B5EF4-FFF2-40B4-BE49-F238E27FC236}">
                <a16:creationId xmlns:a16="http://schemas.microsoft.com/office/drawing/2014/main" id="{41FFF597-F7A8-6E46-718C-2F7BEAC565E2}"/>
              </a:ext>
            </a:extLst>
          </p:cNvPr>
          <p:cNvSpPr txBox="1"/>
          <p:nvPr/>
        </p:nvSpPr>
        <p:spPr>
          <a:xfrm>
            <a:off x="3563317" y="-634650"/>
            <a:ext cx="4884671" cy="3154710"/>
          </a:xfrm>
          <a:prstGeom prst="rect">
            <a:avLst/>
          </a:prstGeom>
          <a:noFill/>
        </p:spPr>
        <p:txBody>
          <a:bodyPr wrap="none" rtlCol="0">
            <a:spAutoFit/>
          </a:bodyPr>
          <a:lstStyle/>
          <a:p>
            <a:pPr algn="ctr"/>
            <a:r>
              <a:rPr lang="en-US" sz="19900" b="1" dirty="0">
                <a:latin typeface="IrisUPC" panose="020B0604020202020204" pitchFamily="34" charset="-34"/>
                <a:cs typeface="IrisUPC" panose="020B0604020202020204" pitchFamily="34" charset="-34"/>
              </a:rPr>
              <a:t>TABLE</a:t>
            </a:r>
          </a:p>
        </p:txBody>
      </p:sp>
      <p:sp>
        <p:nvSpPr>
          <p:cNvPr id="31" name="TextBox 30">
            <a:extLst>
              <a:ext uri="{FF2B5EF4-FFF2-40B4-BE49-F238E27FC236}">
                <a16:creationId xmlns:a16="http://schemas.microsoft.com/office/drawing/2014/main" id="{856EF920-B695-87A3-9465-0837658F1F05}"/>
              </a:ext>
            </a:extLst>
          </p:cNvPr>
          <p:cNvSpPr txBox="1"/>
          <p:nvPr/>
        </p:nvSpPr>
        <p:spPr>
          <a:xfrm>
            <a:off x="6840021" y="1528461"/>
            <a:ext cx="2219967" cy="461665"/>
          </a:xfrm>
          <a:prstGeom prst="rect">
            <a:avLst/>
          </a:prstGeom>
          <a:noFill/>
        </p:spPr>
        <p:txBody>
          <a:bodyPr wrap="none" rtlCol="0">
            <a:spAutoFit/>
          </a:bodyPr>
          <a:lstStyle/>
          <a:p>
            <a:r>
              <a:rPr lang="en-US" sz="2400" b="1" dirty="0">
                <a:latin typeface="Avenir Next Heavy" panose="020B0503020202020204" pitchFamily="34" charset="0"/>
              </a:rPr>
              <a:t>OF CONTENT</a:t>
            </a:r>
          </a:p>
        </p:txBody>
      </p:sp>
      <p:grpSp>
        <p:nvGrpSpPr>
          <p:cNvPr id="56" name="Group 55">
            <a:extLst>
              <a:ext uri="{FF2B5EF4-FFF2-40B4-BE49-F238E27FC236}">
                <a16:creationId xmlns:a16="http://schemas.microsoft.com/office/drawing/2014/main" id="{920CE046-BDA7-9ACE-6615-979D53F0F950}"/>
              </a:ext>
            </a:extLst>
          </p:cNvPr>
          <p:cNvGrpSpPr/>
          <p:nvPr/>
        </p:nvGrpSpPr>
        <p:grpSpPr>
          <a:xfrm>
            <a:off x="6419425" y="2528421"/>
            <a:ext cx="1224000" cy="1188000"/>
            <a:chOff x="6419425" y="2840151"/>
            <a:chExt cx="1224000" cy="1188000"/>
          </a:xfrm>
        </p:grpSpPr>
        <p:sp>
          <p:nvSpPr>
            <p:cNvPr id="22" name="Rectangle 21">
              <a:extLst>
                <a:ext uri="{FF2B5EF4-FFF2-40B4-BE49-F238E27FC236}">
                  <a16:creationId xmlns:a16="http://schemas.microsoft.com/office/drawing/2014/main" id="{F43C5CD5-C107-FC92-031E-CACB6CABBDD4}"/>
                </a:ext>
              </a:extLst>
            </p:cNvPr>
            <p:cNvSpPr>
              <a:spLocks noChangeAspect="1"/>
            </p:cNvSpPr>
            <p:nvPr/>
          </p:nvSpPr>
          <p:spPr>
            <a:xfrm>
              <a:off x="6419425" y="2877109"/>
              <a:ext cx="1224000" cy="1128107"/>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Picture 46" descr="A black background with a black square&#10;&#10;AI-generated content may be incorrect.">
              <a:hlinkClick r:id="rId5" action="ppaction://hlinksldjump"/>
              <a:extLst>
                <a:ext uri="{FF2B5EF4-FFF2-40B4-BE49-F238E27FC236}">
                  <a16:creationId xmlns:a16="http://schemas.microsoft.com/office/drawing/2014/main" id="{6F067645-FD8D-F889-F4C5-13760BA82E80}"/>
                </a:ext>
              </a:extLst>
            </p:cNvPr>
            <p:cNvPicPr>
              <a:picLocks noChangeAspect="1"/>
            </p:cNvPicPr>
            <p:nvPr/>
          </p:nvPicPr>
          <p:blipFill>
            <a:blip r:embed="rId4"/>
            <a:stretch>
              <a:fillRect/>
            </a:stretch>
          </p:blipFill>
          <p:spPr>
            <a:xfrm>
              <a:off x="6431982" y="2840151"/>
              <a:ext cx="1188000" cy="1188000"/>
            </a:xfrm>
            <a:prstGeom prst="rect">
              <a:avLst/>
            </a:prstGeom>
          </p:spPr>
        </p:pic>
      </p:grpSp>
      <p:grpSp>
        <p:nvGrpSpPr>
          <p:cNvPr id="55" name="Group 54">
            <a:extLst>
              <a:ext uri="{FF2B5EF4-FFF2-40B4-BE49-F238E27FC236}">
                <a16:creationId xmlns:a16="http://schemas.microsoft.com/office/drawing/2014/main" id="{CE9D0E1C-0286-0DED-521A-331AE7BF3D61}"/>
              </a:ext>
            </a:extLst>
          </p:cNvPr>
          <p:cNvGrpSpPr/>
          <p:nvPr/>
        </p:nvGrpSpPr>
        <p:grpSpPr>
          <a:xfrm>
            <a:off x="7835988" y="2513114"/>
            <a:ext cx="1226109" cy="1224000"/>
            <a:chOff x="7835988" y="2700152"/>
            <a:chExt cx="1226109" cy="1224000"/>
          </a:xfrm>
        </p:grpSpPr>
        <p:sp>
          <p:nvSpPr>
            <p:cNvPr id="12" name="Rectangle 11">
              <a:extLst>
                <a:ext uri="{FF2B5EF4-FFF2-40B4-BE49-F238E27FC236}">
                  <a16:creationId xmlns:a16="http://schemas.microsoft.com/office/drawing/2014/main" id="{A8915B95-1C81-DD39-277F-158C98DE2C92}"/>
                </a:ext>
              </a:extLst>
            </p:cNvPr>
            <p:cNvSpPr>
              <a:spLocks noChangeAspect="1"/>
            </p:cNvSpPr>
            <p:nvPr/>
          </p:nvSpPr>
          <p:spPr>
            <a:xfrm>
              <a:off x="7835988" y="2744111"/>
              <a:ext cx="1224000" cy="1128107"/>
            </a:xfrm>
            <a:prstGeom prst="rect">
              <a:avLst/>
            </a:prstGeom>
            <a:blipFill dpi="0" rotWithShape="1">
              <a:blip r:embed="rId6">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Picture 48" descr="A black background with a black square&#10;&#10;AI-generated content may be incorrect.">
              <a:hlinkClick r:id="rId7" action="ppaction://hlinksldjump"/>
              <a:extLst>
                <a:ext uri="{FF2B5EF4-FFF2-40B4-BE49-F238E27FC236}">
                  <a16:creationId xmlns:a16="http://schemas.microsoft.com/office/drawing/2014/main" id="{22DB50D8-FA69-A43E-6724-B55F9C2CDB12}"/>
                </a:ext>
              </a:extLst>
            </p:cNvPr>
            <p:cNvPicPr>
              <a:picLocks noChangeAspect="1"/>
            </p:cNvPicPr>
            <p:nvPr/>
          </p:nvPicPr>
          <p:blipFill>
            <a:blip r:embed="rId6"/>
            <a:stretch>
              <a:fillRect/>
            </a:stretch>
          </p:blipFill>
          <p:spPr>
            <a:xfrm>
              <a:off x="7838097" y="2700152"/>
              <a:ext cx="1224000" cy="1224000"/>
            </a:xfrm>
            <a:prstGeom prst="rect">
              <a:avLst/>
            </a:prstGeom>
          </p:spPr>
        </p:pic>
      </p:grpSp>
      <p:grpSp>
        <p:nvGrpSpPr>
          <p:cNvPr id="54" name="Group 53">
            <a:extLst>
              <a:ext uri="{FF2B5EF4-FFF2-40B4-BE49-F238E27FC236}">
                <a16:creationId xmlns:a16="http://schemas.microsoft.com/office/drawing/2014/main" id="{A37E3C87-D899-1931-EE22-B6D8EEECC87D}"/>
              </a:ext>
            </a:extLst>
          </p:cNvPr>
          <p:cNvGrpSpPr/>
          <p:nvPr/>
        </p:nvGrpSpPr>
        <p:grpSpPr>
          <a:xfrm>
            <a:off x="4932470" y="2560781"/>
            <a:ext cx="1224000" cy="1152000"/>
            <a:chOff x="4932470" y="2872511"/>
            <a:chExt cx="1224000" cy="1152000"/>
          </a:xfrm>
        </p:grpSpPr>
        <p:sp>
          <p:nvSpPr>
            <p:cNvPr id="24" name="Rectangle 23">
              <a:extLst>
                <a:ext uri="{FF2B5EF4-FFF2-40B4-BE49-F238E27FC236}">
                  <a16:creationId xmlns:a16="http://schemas.microsoft.com/office/drawing/2014/main" id="{02DA62DC-9FA0-CB81-D05C-A4C86F63B41B}"/>
                </a:ext>
              </a:extLst>
            </p:cNvPr>
            <p:cNvSpPr>
              <a:spLocks noChangeAspect="1"/>
            </p:cNvSpPr>
            <p:nvPr/>
          </p:nvSpPr>
          <p:spPr>
            <a:xfrm>
              <a:off x="4932470" y="2880930"/>
              <a:ext cx="1224000" cy="1128107"/>
            </a:xfrm>
            <a:prstGeom prst="rect">
              <a:avLst/>
            </a:prstGeom>
            <a:blipFill dpi="0" rotWithShape="1">
              <a:blip r:embed="rId8">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50" descr="A black background with a black square&#10;&#10;AI-generated content may be incorrect.">
              <a:hlinkClick r:id="rId9" action="ppaction://hlinksldjump"/>
              <a:extLst>
                <a:ext uri="{FF2B5EF4-FFF2-40B4-BE49-F238E27FC236}">
                  <a16:creationId xmlns:a16="http://schemas.microsoft.com/office/drawing/2014/main" id="{E2642C3E-3D6B-6EEB-31E4-291CC8B168C3}"/>
                </a:ext>
              </a:extLst>
            </p:cNvPr>
            <p:cNvPicPr>
              <a:picLocks noChangeAspect="1"/>
            </p:cNvPicPr>
            <p:nvPr/>
          </p:nvPicPr>
          <p:blipFill>
            <a:blip r:embed="rId8"/>
            <a:stretch>
              <a:fillRect/>
            </a:stretch>
          </p:blipFill>
          <p:spPr>
            <a:xfrm>
              <a:off x="4969339" y="2872511"/>
              <a:ext cx="1152000" cy="1152000"/>
            </a:xfrm>
            <a:prstGeom prst="rect">
              <a:avLst/>
            </a:prstGeom>
          </p:spPr>
        </p:pic>
      </p:grpSp>
      <p:grpSp>
        <p:nvGrpSpPr>
          <p:cNvPr id="57" name="Group 56">
            <a:extLst>
              <a:ext uri="{FF2B5EF4-FFF2-40B4-BE49-F238E27FC236}">
                <a16:creationId xmlns:a16="http://schemas.microsoft.com/office/drawing/2014/main" id="{80990480-DACD-8316-6C68-018314928B22}"/>
              </a:ext>
            </a:extLst>
          </p:cNvPr>
          <p:cNvGrpSpPr/>
          <p:nvPr/>
        </p:nvGrpSpPr>
        <p:grpSpPr>
          <a:xfrm>
            <a:off x="3120056" y="2557995"/>
            <a:ext cx="1224000" cy="1152000"/>
            <a:chOff x="3120056" y="2869725"/>
            <a:chExt cx="1224000" cy="1152000"/>
          </a:xfrm>
        </p:grpSpPr>
        <p:sp>
          <p:nvSpPr>
            <p:cNvPr id="23" name="Rectangle 22">
              <a:extLst>
                <a:ext uri="{FF2B5EF4-FFF2-40B4-BE49-F238E27FC236}">
                  <a16:creationId xmlns:a16="http://schemas.microsoft.com/office/drawing/2014/main" id="{5F08F259-5A39-E35E-886A-7472BD574306}"/>
                </a:ext>
              </a:extLst>
            </p:cNvPr>
            <p:cNvSpPr>
              <a:spLocks noChangeAspect="1"/>
            </p:cNvSpPr>
            <p:nvPr/>
          </p:nvSpPr>
          <p:spPr>
            <a:xfrm>
              <a:off x="3120056" y="2869725"/>
              <a:ext cx="1224000" cy="1151971"/>
            </a:xfrm>
            <a:prstGeom prst="rect">
              <a:avLst/>
            </a:prstGeom>
            <a:blipFill dpi="0" rotWithShape="1">
              <a:blip r:embed="rId10">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pic>
          <p:nvPicPr>
            <p:cNvPr id="53" name="Picture 52" descr="A black background with a black square&#10;&#10;AI-generated content may be incorrect.">
              <a:hlinkClick r:id="rId11" action="ppaction://hlinksldjump"/>
              <a:extLst>
                <a:ext uri="{FF2B5EF4-FFF2-40B4-BE49-F238E27FC236}">
                  <a16:creationId xmlns:a16="http://schemas.microsoft.com/office/drawing/2014/main" id="{802623CB-E3E6-B708-F413-103F8619B7CF}"/>
                </a:ext>
              </a:extLst>
            </p:cNvPr>
            <p:cNvPicPr>
              <a:picLocks noChangeAspect="1"/>
            </p:cNvPicPr>
            <p:nvPr/>
          </p:nvPicPr>
          <p:blipFill>
            <a:blip r:embed="rId10"/>
            <a:stretch>
              <a:fillRect/>
            </a:stretch>
          </p:blipFill>
          <p:spPr>
            <a:xfrm>
              <a:off x="3148786" y="2869725"/>
              <a:ext cx="1152000" cy="1152000"/>
            </a:xfrm>
            <a:prstGeom prst="rect">
              <a:avLst/>
            </a:prstGeom>
          </p:spPr>
        </p:pic>
      </p:grpSp>
      <p:sp>
        <p:nvSpPr>
          <p:cNvPr id="59" name="TextBox 58">
            <a:extLst>
              <a:ext uri="{FF2B5EF4-FFF2-40B4-BE49-F238E27FC236}">
                <a16:creationId xmlns:a16="http://schemas.microsoft.com/office/drawing/2014/main" id="{17EB643F-6614-A635-3B73-D0AB168F7F98}"/>
              </a:ext>
            </a:extLst>
          </p:cNvPr>
          <p:cNvSpPr txBox="1"/>
          <p:nvPr/>
        </p:nvSpPr>
        <p:spPr>
          <a:xfrm>
            <a:off x="524960" y="-3007092"/>
            <a:ext cx="11263020" cy="1569660"/>
          </a:xfrm>
          <a:prstGeom prst="rect">
            <a:avLst/>
          </a:prstGeom>
          <a:noFill/>
        </p:spPr>
        <p:txBody>
          <a:bodyPr wrap="none" rtlCol="0">
            <a:spAutoFit/>
          </a:bodyPr>
          <a:lstStyle/>
          <a:p>
            <a:r>
              <a:rPr lang="en-IN" sz="4800" b="1" dirty="0">
                <a:solidFill>
                  <a:srgbClr val="FFFF00"/>
                </a:solidFill>
                <a:latin typeface="IrisUPC" panose="020B0604020202020204" pitchFamily="34" charset="-34"/>
                <a:cs typeface="IrisUPC" panose="020B0604020202020204" pitchFamily="34" charset="-34"/>
              </a:rPr>
              <a:t>INTERNSHIP IN INTERNATIONAL FINANCE AND TREASURY</a:t>
            </a:r>
          </a:p>
          <a:p>
            <a:endParaRPr lang="en-US" sz="4800" b="1" dirty="0">
              <a:solidFill>
                <a:srgbClr val="FFFF00"/>
              </a:solidFill>
              <a:latin typeface="IrisUPC" panose="020B0604020202020204" pitchFamily="34" charset="-34"/>
              <a:cs typeface="IrisUPC" panose="020B0604020202020204" pitchFamily="34" charset="-34"/>
            </a:endParaRPr>
          </a:p>
        </p:txBody>
      </p:sp>
      <p:sp>
        <p:nvSpPr>
          <p:cNvPr id="60" name="TextBox 59">
            <a:extLst>
              <a:ext uri="{FF2B5EF4-FFF2-40B4-BE49-F238E27FC236}">
                <a16:creationId xmlns:a16="http://schemas.microsoft.com/office/drawing/2014/main" id="{99E12EEA-607D-3ACF-F5E4-33D1F5909A8F}"/>
              </a:ext>
            </a:extLst>
          </p:cNvPr>
          <p:cNvSpPr txBox="1"/>
          <p:nvPr/>
        </p:nvSpPr>
        <p:spPr>
          <a:xfrm>
            <a:off x="2987172" y="-2811063"/>
            <a:ext cx="6338595" cy="1569660"/>
          </a:xfrm>
          <a:prstGeom prst="rect">
            <a:avLst/>
          </a:prstGeom>
          <a:noFill/>
        </p:spPr>
        <p:txBody>
          <a:bodyPr wrap="none" rtlCol="0">
            <a:spAutoFit/>
          </a:bodyPr>
          <a:lstStyle/>
          <a:p>
            <a:r>
              <a:rPr lang="en-IN" sz="4800" dirty="0">
                <a:solidFill>
                  <a:schemeClr val="bg1"/>
                </a:solidFill>
                <a:latin typeface="IrisUPC" panose="020B0604020202020204" pitchFamily="34" charset="-34"/>
                <a:cs typeface="IrisUPC" panose="020B0604020202020204" pitchFamily="34" charset="-34"/>
              </a:rPr>
              <a:t>Duration: 8 weeks (June–July 2025)</a:t>
            </a:r>
          </a:p>
          <a:p>
            <a:endParaRPr lang="en-US" sz="4800" dirty="0">
              <a:solidFill>
                <a:schemeClr val="bg1"/>
              </a:solidFill>
              <a:latin typeface="IrisUPC" panose="020B0604020202020204" pitchFamily="34" charset="-34"/>
              <a:cs typeface="IrisUPC" panose="020B0604020202020204" pitchFamily="34" charset="-34"/>
            </a:endParaRPr>
          </a:p>
        </p:txBody>
      </p:sp>
      <p:sp>
        <p:nvSpPr>
          <p:cNvPr id="61" name="TextBox 60">
            <a:extLst>
              <a:ext uri="{FF2B5EF4-FFF2-40B4-BE49-F238E27FC236}">
                <a16:creationId xmlns:a16="http://schemas.microsoft.com/office/drawing/2014/main" id="{FA4D92FA-EDA2-F5CD-1AA3-77113A2D27C5}"/>
              </a:ext>
            </a:extLst>
          </p:cNvPr>
          <p:cNvSpPr txBox="1"/>
          <p:nvPr/>
        </p:nvSpPr>
        <p:spPr>
          <a:xfrm>
            <a:off x="237830" y="6057936"/>
            <a:ext cx="1093569" cy="3154710"/>
          </a:xfrm>
          <a:prstGeom prst="rect">
            <a:avLst/>
          </a:prstGeom>
          <a:noFill/>
        </p:spPr>
        <p:txBody>
          <a:bodyPr wrap="none" rtlCol="0">
            <a:spAutoFit/>
          </a:bodyPr>
          <a:lstStyle/>
          <a:p>
            <a:r>
              <a:rPr lang="en-US" sz="19900" dirty="0">
                <a:latin typeface="IrisUPC" panose="020B0604020202020204" pitchFamily="34" charset="-34"/>
                <a:cs typeface="IrisUPC" panose="020B0604020202020204" pitchFamily="34" charset="-34"/>
              </a:rPr>
              <a:t>P</a:t>
            </a:r>
          </a:p>
        </p:txBody>
      </p:sp>
      <p:sp>
        <p:nvSpPr>
          <p:cNvPr id="62" name="TextBox 61">
            <a:extLst>
              <a:ext uri="{FF2B5EF4-FFF2-40B4-BE49-F238E27FC236}">
                <a16:creationId xmlns:a16="http://schemas.microsoft.com/office/drawing/2014/main" id="{D855CC35-870F-2861-DD5F-7BFA6F82627C}"/>
              </a:ext>
            </a:extLst>
          </p:cNvPr>
          <p:cNvSpPr txBox="1"/>
          <p:nvPr/>
        </p:nvSpPr>
        <p:spPr>
          <a:xfrm>
            <a:off x="1370749" y="7364960"/>
            <a:ext cx="179618" cy="3154710"/>
          </a:xfrm>
          <a:prstGeom prst="rect">
            <a:avLst/>
          </a:prstGeom>
          <a:noFill/>
        </p:spPr>
        <p:txBody>
          <a:bodyPr wrap="square" rtlCol="0">
            <a:spAutoFit/>
          </a:bodyPr>
          <a:lstStyle/>
          <a:p>
            <a:r>
              <a:rPr lang="en-US" sz="19900" dirty="0">
                <a:latin typeface="IrisUPC" panose="020B0604020202020204" pitchFamily="34" charset="-34"/>
                <a:cs typeface="IrisUPC" panose="020B0604020202020204" pitchFamily="34" charset="-34"/>
              </a:rPr>
              <a:t>R</a:t>
            </a:r>
          </a:p>
        </p:txBody>
      </p:sp>
      <p:sp>
        <p:nvSpPr>
          <p:cNvPr id="63" name="TextBox 62">
            <a:extLst>
              <a:ext uri="{FF2B5EF4-FFF2-40B4-BE49-F238E27FC236}">
                <a16:creationId xmlns:a16="http://schemas.microsoft.com/office/drawing/2014/main" id="{D4AB95DC-E5D9-8CCD-580A-62BED23C4789}"/>
              </a:ext>
            </a:extLst>
          </p:cNvPr>
          <p:cNvSpPr txBox="1"/>
          <p:nvPr/>
        </p:nvSpPr>
        <p:spPr>
          <a:xfrm>
            <a:off x="2456201" y="-3681662"/>
            <a:ext cx="179618" cy="5386090"/>
          </a:xfrm>
          <a:prstGeom prst="rect">
            <a:avLst/>
          </a:prstGeom>
          <a:noFill/>
        </p:spPr>
        <p:txBody>
          <a:bodyPr wrap="square" rtlCol="0">
            <a:spAutoFit/>
          </a:bodyPr>
          <a:lstStyle/>
          <a:p>
            <a:r>
              <a:rPr lang="en-US" sz="34400" dirty="0">
                <a:latin typeface="IrisUPC" panose="020B0604020202020204" pitchFamily="34" charset="-34"/>
                <a:cs typeface="IrisUPC" panose="020B0604020202020204" pitchFamily="34" charset="-34"/>
              </a:rPr>
              <a:t>O</a:t>
            </a:r>
          </a:p>
        </p:txBody>
      </p:sp>
      <p:sp>
        <p:nvSpPr>
          <p:cNvPr id="64" name="TextBox 63">
            <a:extLst>
              <a:ext uri="{FF2B5EF4-FFF2-40B4-BE49-F238E27FC236}">
                <a16:creationId xmlns:a16="http://schemas.microsoft.com/office/drawing/2014/main" id="{6DAA81E9-092D-F57F-5546-D9EED7C1994E}"/>
              </a:ext>
            </a:extLst>
          </p:cNvPr>
          <p:cNvSpPr txBox="1"/>
          <p:nvPr/>
        </p:nvSpPr>
        <p:spPr>
          <a:xfrm>
            <a:off x="5668128" y="8639629"/>
            <a:ext cx="179618" cy="3154710"/>
          </a:xfrm>
          <a:prstGeom prst="rect">
            <a:avLst/>
          </a:prstGeom>
          <a:noFill/>
        </p:spPr>
        <p:txBody>
          <a:bodyPr wrap="square" rtlCol="0">
            <a:spAutoFit/>
          </a:bodyPr>
          <a:lstStyle/>
          <a:p>
            <a:r>
              <a:rPr lang="en-US" sz="19900" dirty="0">
                <a:latin typeface="IrisUPC" panose="020B0604020202020204" pitchFamily="34" charset="-34"/>
                <a:cs typeface="IrisUPC" panose="020B0604020202020204" pitchFamily="34" charset="-34"/>
              </a:rPr>
              <a:t>J</a:t>
            </a:r>
          </a:p>
        </p:txBody>
      </p:sp>
      <p:sp>
        <p:nvSpPr>
          <p:cNvPr id="65" name="TextBox 64">
            <a:extLst>
              <a:ext uri="{FF2B5EF4-FFF2-40B4-BE49-F238E27FC236}">
                <a16:creationId xmlns:a16="http://schemas.microsoft.com/office/drawing/2014/main" id="{E9DE4FA0-E6D2-458A-2801-61BA7BAC2EE0}"/>
              </a:ext>
            </a:extLst>
          </p:cNvPr>
          <p:cNvSpPr txBox="1"/>
          <p:nvPr/>
        </p:nvSpPr>
        <p:spPr>
          <a:xfrm>
            <a:off x="7215088" y="9977015"/>
            <a:ext cx="179618" cy="3154710"/>
          </a:xfrm>
          <a:prstGeom prst="rect">
            <a:avLst/>
          </a:prstGeom>
          <a:noFill/>
        </p:spPr>
        <p:txBody>
          <a:bodyPr wrap="square" rtlCol="0">
            <a:spAutoFit/>
          </a:bodyPr>
          <a:lstStyle/>
          <a:p>
            <a:r>
              <a:rPr lang="en-US" sz="19900" dirty="0">
                <a:latin typeface="IrisUPC" panose="020B0604020202020204" pitchFamily="34" charset="-34"/>
                <a:cs typeface="IrisUPC" panose="020B0604020202020204" pitchFamily="34" charset="-34"/>
              </a:rPr>
              <a:t>E</a:t>
            </a:r>
          </a:p>
        </p:txBody>
      </p:sp>
      <p:sp>
        <p:nvSpPr>
          <p:cNvPr id="66" name="TextBox 65">
            <a:extLst>
              <a:ext uri="{FF2B5EF4-FFF2-40B4-BE49-F238E27FC236}">
                <a16:creationId xmlns:a16="http://schemas.microsoft.com/office/drawing/2014/main" id="{15D17353-44C4-09DF-19CB-93F020E1B024}"/>
              </a:ext>
            </a:extLst>
          </p:cNvPr>
          <p:cNvSpPr txBox="1"/>
          <p:nvPr/>
        </p:nvSpPr>
        <p:spPr>
          <a:xfrm>
            <a:off x="8898908" y="11442867"/>
            <a:ext cx="179618" cy="3154710"/>
          </a:xfrm>
          <a:prstGeom prst="rect">
            <a:avLst/>
          </a:prstGeom>
          <a:noFill/>
        </p:spPr>
        <p:txBody>
          <a:bodyPr wrap="square" rtlCol="0">
            <a:spAutoFit/>
          </a:bodyPr>
          <a:lstStyle/>
          <a:p>
            <a:r>
              <a:rPr lang="en-US" sz="19900" dirty="0">
                <a:latin typeface="IrisUPC" panose="020B0604020202020204" pitchFamily="34" charset="-34"/>
                <a:cs typeface="IrisUPC" panose="020B0604020202020204" pitchFamily="34" charset="-34"/>
              </a:rPr>
              <a:t>C</a:t>
            </a:r>
          </a:p>
        </p:txBody>
      </p:sp>
      <p:sp>
        <p:nvSpPr>
          <p:cNvPr id="67" name="TextBox 66">
            <a:extLst>
              <a:ext uri="{FF2B5EF4-FFF2-40B4-BE49-F238E27FC236}">
                <a16:creationId xmlns:a16="http://schemas.microsoft.com/office/drawing/2014/main" id="{7F35CD70-5B4D-7198-1F45-65D67B3F874B}"/>
              </a:ext>
            </a:extLst>
          </p:cNvPr>
          <p:cNvSpPr txBox="1"/>
          <p:nvPr/>
        </p:nvSpPr>
        <p:spPr>
          <a:xfrm>
            <a:off x="10544692" y="12743131"/>
            <a:ext cx="179618" cy="3154710"/>
          </a:xfrm>
          <a:prstGeom prst="rect">
            <a:avLst/>
          </a:prstGeom>
          <a:noFill/>
        </p:spPr>
        <p:txBody>
          <a:bodyPr wrap="square" rtlCol="0">
            <a:spAutoFit/>
          </a:bodyPr>
          <a:lstStyle/>
          <a:p>
            <a:r>
              <a:rPr lang="en-US" sz="19900" dirty="0">
                <a:latin typeface="IrisUPC" panose="020B0604020202020204" pitchFamily="34" charset="-34"/>
                <a:cs typeface="IrisUPC" panose="020B0604020202020204" pitchFamily="34" charset="-34"/>
              </a:rPr>
              <a:t>T</a:t>
            </a:r>
          </a:p>
        </p:txBody>
      </p:sp>
      <p:sp>
        <p:nvSpPr>
          <p:cNvPr id="68" name="TextBox 67">
            <a:extLst>
              <a:ext uri="{FF2B5EF4-FFF2-40B4-BE49-F238E27FC236}">
                <a16:creationId xmlns:a16="http://schemas.microsoft.com/office/drawing/2014/main" id="{BFBB4C27-5376-7EAD-41C5-FEA8C8ADA995}"/>
              </a:ext>
            </a:extLst>
          </p:cNvPr>
          <p:cNvSpPr txBox="1"/>
          <p:nvPr/>
        </p:nvSpPr>
        <p:spPr>
          <a:xfrm>
            <a:off x="-3430921" y="3813079"/>
            <a:ext cx="320922" cy="400110"/>
          </a:xfrm>
          <a:prstGeom prst="rect">
            <a:avLst/>
          </a:prstGeom>
          <a:noFill/>
        </p:spPr>
        <p:txBody>
          <a:bodyPr wrap="none" rtlCol="0">
            <a:spAutoFit/>
          </a:bodyPr>
          <a:lstStyle/>
          <a:p>
            <a:r>
              <a:rPr lang="en-US" sz="2000" dirty="0">
                <a:latin typeface="IrisUPC" panose="020B0604020202020204" pitchFamily="34" charset="-34"/>
                <a:cs typeface="IrisUPC" panose="020B0604020202020204" pitchFamily="34" charset="-34"/>
              </a:rPr>
              <a:t>O</a:t>
            </a:r>
          </a:p>
        </p:txBody>
      </p:sp>
      <p:sp>
        <p:nvSpPr>
          <p:cNvPr id="69" name="TextBox 68">
            <a:extLst>
              <a:ext uri="{FF2B5EF4-FFF2-40B4-BE49-F238E27FC236}">
                <a16:creationId xmlns:a16="http://schemas.microsoft.com/office/drawing/2014/main" id="{9C41D908-5F9A-7093-69F3-0E1161FE3F5D}"/>
              </a:ext>
            </a:extLst>
          </p:cNvPr>
          <p:cNvSpPr txBox="1"/>
          <p:nvPr/>
        </p:nvSpPr>
        <p:spPr>
          <a:xfrm>
            <a:off x="-2426345" y="3063789"/>
            <a:ext cx="293670" cy="400110"/>
          </a:xfrm>
          <a:prstGeom prst="rect">
            <a:avLst/>
          </a:prstGeom>
          <a:noFill/>
        </p:spPr>
        <p:txBody>
          <a:bodyPr wrap="none" rtlCol="0">
            <a:spAutoFit/>
          </a:bodyPr>
          <a:lstStyle/>
          <a:p>
            <a:r>
              <a:rPr lang="en-US" sz="2000" dirty="0">
                <a:latin typeface="IrisUPC" panose="020B0604020202020204" pitchFamily="34" charset="-34"/>
                <a:cs typeface="IrisUPC" panose="020B0604020202020204" pitchFamily="34" charset="-34"/>
              </a:rPr>
              <a:t>V</a:t>
            </a:r>
          </a:p>
        </p:txBody>
      </p:sp>
      <p:sp>
        <p:nvSpPr>
          <p:cNvPr id="70" name="TextBox 69">
            <a:extLst>
              <a:ext uri="{FF2B5EF4-FFF2-40B4-BE49-F238E27FC236}">
                <a16:creationId xmlns:a16="http://schemas.microsoft.com/office/drawing/2014/main" id="{5BC3340F-29F4-1354-F1D4-674CF0EB6337}"/>
              </a:ext>
            </a:extLst>
          </p:cNvPr>
          <p:cNvSpPr txBox="1"/>
          <p:nvPr/>
        </p:nvSpPr>
        <p:spPr>
          <a:xfrm>
            <a:off x="-1651815" y="2374854"/>
            <a:ext cx="266420" cy="400110"/>
          </a:xfrm>
          <a:prstGeom prst="rect">
            <a:avLst/>
          </a:prstGeom>
          <a:noFill/>
        </p:spPr>
        <p:txBody>
          <a:bodyPr wrap="none" rtlCol="0">
            <a:spAutoFit/>
          </a:bodyPr>
          <a:lstStyle/>
          <a:p>
            <a:r>
              <a:rPr lang="en-US" sz="2000" dirty="0">
                <a:latin typeface="IrisUPC" panose="020B0604020202020204" pitchFamily="34" charset="-34"/>
                <a:cs typeface="IrisUPC" panose="020B0604020202020204" pitchFamily="34" charset="-34"/>
              </a:rPr>
              <a:t>E</a:t>
            </a:r>
          </a:p>
        </p:txBody>
      </p:sp>
      <p:sp>
        <p:nvSpPr>
          <p:cNvPr id="71" name="TextBox 70">
            <a:extLst>
              <a:ext uri="{FF2B5EF4-FFF2-40B4-BE49-F238E27FC236}">
                <a16:creationId xmlns:a16="http://schemas.microsoft.com/office/drawing/2014/main" id="{4C6BD819-359B-E2F3-456B-EB62D23676FB}"/>
              </a:ext>
            </a:extLst>
          </p:cNvPr>
          <p:cNvSpPr txBox="1"/>
          <p:nvPr/>
        </p:nvSpPr>
        <p:spPr>
          <a:xfrm>
            <a:off x="-605934" y="1782578"/>
            <a:ext cx="285656" cy="400110"/>
          </a:xfrm>
          <a:prstGeom prst="rect">
            <a:avLst/>
          </a:prstGeom>
          <a:noFill/>
        </p:spPr>
        <p:txBody>
          <a:bodyPr wrap="none" rtlCol="0">
            <a:spAutoFit/>
          </a:bodyPr>
          <a:lstStyle/>
          <a:p>
            <a:r>
              <a:rPr lang="en-US" sz="2000" dirty="0">
                <a:latin typeface="IrisUPC" panose="020B0604020202020204" pitchFamily="34" charset="-34"/>
                <a:cs typeface="IrisUPC" panose="020B0604020202020204" pitchFamily="34" charset="-34"/>
              </a:rPr>
              <a:t>R</a:t>
            </a:r>
          </a:p>
        </p:txBody>
      </p:sp>
      <p:sp>
        <p:nvSpPr>
          <p:cNvPr id="72" name="TextBox 71">
            <a:extLst>
              <a:ext uri="{FF2B5EF4-FFF2-40B4-BE49-F238E27FC236}">
                <a16:creationId xmlns:a16="http://schemas.microsoft.com/office/drawing/2014/main" id="{14F36D27-B4BC-4782-BB64-D7D60B6E1CD4}"/>
              </a:ext>
            </a:extLst>
          </p:cNvPr>
          <p:cNvSpPr txBox="1"/>
          <p:nvPr/>
        </p:nvSpPr>
        <p:spPr>
          <a:xfrm>
            <a:off x="12550307" y="1895147"/>
            <a:ext cx="293670" cy="400110"/>
          </a:xfrm>
          <a:prstGeom prst="rect">
            <a:avLst/>
          </a:prstGeom>
          <a:noFill/>
        </p:spPr>
        <p:txBody>
          <a:bodyPr wrap="none" rtlCol="0">
            <a:spAutoFit/>
          </a:bodyPr>
          <a:lstStyle/>
          <a:p>
            <a:r>
              <a:rPr lang="en-US" sz="2000" dirty="0">
                <a:latin typeface="IrisUPC" panose="020B0604020202020204" pitchFamily="34" charset="-34"/>
                <a:cs typeface="IrisUPC" panose="020B0604020202020204" pitchFamily="34" charset="-34"/>
              </a:rPr>
              <a:t>V</a:t>
            </a:r>
          </a:p>
        </p:txBody>
      </p:sp>
      <p:sp>
        <p:nvSpPr>
          <p:cNvPr id="73" name="TextBox 72">
            <a:extLst>
              <a:ext uri="{FF2B5EF4-FFF2-40B4-BE49-F238E27FC236}">
                <a16:creationId xmlns:a16="http://schemas.microsoft.com/office/drawing/2014/main" id="{9BFE0C95-9BDC-4EC0-2672-FDF4A4B59193}"/>
              </a:ext>
            </a:extLst>
          </p:cNvPr>
          <p:cNvSpPr txBox="1"/>
          <p:nvPr/>
        </p:nvSpPr>
        <p:spPr>
          <a:xfrm>
            <a:off x="13760962" y="2318529"/>
            <a:ext cx="229550" cy="400110"/>
          </a:xfrm>
          <a:prstGeom prst="rect">
            <a:avLst/>
          </a:prstGeom>
          <a:noFill/>
        </p:spPr>
        <p:txBody>
          <a:bodyPr wrap="none" rtlCol="0">
            <a:spAutoFit/>
          </a:bodyPr>
          <a:lstStyle/>
          <a:p>
            <a:r>
              <a:rPr lang="en-US" sz="2000" dirty="0">
                <a:latin typeface="IrisUPC" panose="020B0604020202020204" pitchFamily="34" charset="-34"/>
                <a:cs typeface="IrisUPC" panose="020B0604020202020204" pitchFamily="34" charset="-34"/>
              </a:rPr>
              <a:t>I</a:t>
            </a:r>
          </a:p>
        </p:txBody>
      </p:sp>
      <p:sp>
        <p:nvSpPr>
          <p:cNvPr id="74" name="TextBox 73">
            <a:extLst>
              <a:ext uri="{FF2B5EF4-FFF2-40B4-BE49-F238E27FC236}">
                <a16:creationId xmlns:a16="http://schemas.microsoft.com/office/drawing/2014/main" id="{4F9323AB-874B-4FD6-1E3E-419CE45B2DBA}"/>
              </a:ext>
            </a:extLst>
          </p:cNvPr>
          <p:cNvSpPr txBox="1"/>
          <p:nvPr/>
        </p:nvSpPr>
        <p:spPr>
          <a:xfrm>
            <a:off x="14983646" y="2750144"/>
            <a:ext cx="266420" cy="400110"/>
          </a:xfrm>
          <a:prstGeom prst="rect">
            <a:avLst/>
          </a:prstGeom>
          <a:noFill/>
        </p:spPr>
        <p:txBody>
          <a:bodyPr wrap="none" rtlCol="0">
            <a:spAutoFit/>
          </a:bodyPr>
          <a:lstStyle/>
          <a:p>
            <a:r>
              <a:rPr lang="en-US" sz="2000" dirty="0">
                <a:latin typeface="IrisUPC" panose="020B0604020202020204" pitchFamily="34" charset="-34"/>
                <a:cs typeface="IrisUPC" panose="020B0604020202020204" pitchFamily="34" charset="-34"/>
              </a:rPr>
              <a:t>E</a:t>
            </a:r>
          </a:p>
        </p:txBody>
      </p:sp>
      <p:sp>
        <p:nvSpPr>
          <p:cNvPr id="75" name="TextBox 74">
            <a:extLst>
              <a:ext uri="{FF2B5EF4-FFF2-40B4-BE49-F238E27FC236}">
                <a16:creationId xmlns:a16="http://schemas.microsoft.com/office/drawing/2014/main" id="{49E3FD0B-0A96-E2F1-60EC-B4DFAEFC4618}"/>
              </a:ext>
            </a:extLst>
          </p:cNvPr>
          <p:cNvSpPr txBox="1"/>
          <p:nvPr/>
        </p:nvSpPr>
        <p:spPr>
          <a:xfrm>
            <a:off x="15747952" y="3709966"/>
            <a:ext cx="348172" cy="400110"/>
          </a:xfrm>
          <a:prstGeom prst="rect">
            <a:avLst/>
          </a:prstGeom>
          <a:noFill/>
        </p:spPr>
        <p:txBody>
          <a:bodyPr wrap="none" rtlCol="0">
            <a:spAutoFit/>
          </a:bodyPr>
          <a:lstStyle/>
          <a:p>
            <a:r>
              <a:rPr lang="en-US" sz="2000" dirty="0">
                <a:latin typeface="IrisUPC" panose="020B0604020202020204" pitchFamily="34" charset="-34"/>
                <a:cs typeface="IrisUPC" panose="020B0604020202020204" pitchFamily="34" charset="-34"/>
              </a:rPr>
              <a:t>W</a:t>
            </a:r>
          </a:p>
        </p:txBody>
      </p:sp>
      <p:pic>
        <p:nvPicPr>
          <p:cNvPr id="79" name="Picture 78" descr="A black background with a black square&#10;&#10;AI-generated content may be incorrect.">
            <a:hlinkClick r:id="rId12" action="ppaction://hlinksldjump"/>
            <a:extLst>
              <a:ext uri="{FF2B5EF4-FFF2-40B4-BE49-F238E27FC236}">
                <a16:creationId xmlns:a16="http://schemas.microsoft.com/office/drawing/2014/main" id="{AE8A583B-88F9-9228-017E-677EBA6B4ABA}"/>
              </a:ext>
            </a:extLst>
          </p:cNvPr>
          <p:cNvPicPr>
            <a:picLocks noChangeAspect="1"/>
          </p:cNvPicPr>
          <p:nvPr/>
        </p:nvPicPr>
        <p:blipFill>
          <a:blip r:embed="rId13"/>
          <a:stretch>
            <a:fillRect/>
          </a:stretch>
        </p:blipFill>
        <p:spPr>
          <a:xfrm>
            <a:off x="11787980" y="-408152"/>
            <a:ext cx="288000" cy="288000"/>
          </a:xfrm>
          <a:prstGeom prst="rect">
            <a:avLst/>
          </a:prstGeom>
        </p:spPr>
      </p:pic>
    </p:spTree>
    <p:extLst>
      <p:ext uri="{BB962C8B-B14F-4D97-AF65-F5344CB8AC3E}">
        <p14:creationId xmlns:p14="http://schemas.microsoft.com/office/powerpoint/2010/main" val="38901119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0A7847-A8EB-4D59-64B5-6E6C52AC6C7C}"/>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C208E837-3C40-CFAD-4743-F5AE1335B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blue sky with clouds&#10;&#10;AI-generated content may be incorrect.">
            <a:extLst>
              <a:ext uri="{FF2B5EF4-FFF2-40B4-BE49-F238E27FC236}">
                <a16:creationId xmlns:a16="http://schemas.microsoft.com/office/drawing/2014/main" id="{3DB93034-AB85-D280-590E-8955FE07DEF1}"/>
              </a:ext>
            </a:extLst>
          </p:cNvPr>
          <p:cNvPicPr>
            <a:picLocks noChangeAspect="1"/>
          </p:cNvPicPr>
          <p:nvPr/>
        </p:nvPicPr>
        <p:blipFill>
          <a:blip r:embed="rId2"/>
          <a:srcRect b="15747"/>
          <a:stretch>
            <a:fillRect/>
          </a:stretch>
        </p:blipFill>
        <p:spPr>
          <a:xfrm>
            <a:off x="-1504" y="0"/>
            <a:ext cx="12191980" cy="6856718"/>
          </a:xfrm>
          <a:prstGeom prst="rect">
            <a:avLst/>
          </a:prstGeom>
        </p:spPr>
      </p:pic>
      <p:sp>
        <p:nvSpPr>
          <p:cNvPr id="30" name="TextBox 29">
            <a:extLst>
              <a:ext uri="{FF2B5EF4-FFF2-40B4-BE49-F238E27FC236}">
                <a16:creationId xmlns:a16="http://schemas.microsoft.com/office/drawing/2014/main" id="{FCDD7F2A-6370-AA5E-3646-9BBF7AD35333}"/>
              </a:ext>
            </a:extLst>
          </p:cNvPr>
          <p:cNvSpPr txBox="1"/>
          <p:nvPr/>
        </p:nvSpPr>
        <p:spPr>
          <a:xfrm>
            <a:off x="3563317" y="-2931281"/>
            <a:ext cx="4884671" cy="3154710"/>
          </a:xfrm>
          <a:prstGeom prst="rect">
            <a:avLst/>
          </a:prstGeom>
          <a:noFill/>
        </p:spPr>
        <p:txBody>
          <a:bodyPr wrap="none" rtlCol="0">
            <a:spAutoFit/>
          </a:bodyPr>
          <a:lstStyle/>
          <a:p>
            <a:pPr algn="ctr"/>
            <a:r>
              <a:rPr lang="en-US" sz="19900" b="1" dirty="0">
                <a:latin typeface="IrisUPC" panose="020B0604020202020204" pitchFamily="34" charset="-34"/>
                <a:cs typeface="IrisUPC" panose="020B0604020202020204" pitchFamily="34" charset="-34"/>
              </a:rPr>
              <a:t>TABLE</a:t>
            </a:r>
          </a:p>
        </p:txBody>
      </p:sp>
      <p:sp>
        <p:nvSpPr>
          <p:cNvPr id="31" name="TextBox 30">
            <a:extLst>
              <a:ext uri="{FF2B5EF4-FFF2-40B4-BE49-F238E27FC236}">
                <a16:creationId xmlns:a16="http://schemas.microsoft.com/office/drawing/2014/main" id="{0AD0C6BC-E548-3C6E-1067-0C281E2D9FA2}"/>
              </a:ext>
            </a:extLst>
          </p:cNvPr>
          <p:cNvSpPr txBox="1"/>
          <p:nvPr/>
        </p:nvSpPr>
        <p:spPr>
          <a:xfrm>
            <a:off x="6840021" y="-768170"/>
            <a:ext cx="2219967" cy="461665"/>
          </a:xfrm>
          <a:prstGeom prst="rect">
            <a:avLst/>
          </a:prstGeom>
          <a:noFill/>
        </p:spPr>
        <p:txBody>
          <a:bodyPr wrap="none" rtlCol="0">
            <a:spAutoFit/>
          </a:bodyPr>
          <a:lstStyle/>
          <a:p>
            <a:r>
              <a:rPr lang="en-US" sz="2400" b="1" dirty="0">
                <a:latin typeface="Avenir Next Heavy" panose="020B0503020202020204" pitchFamily="34" charset="0"/>
              </a:rPr>
              <a:t>OF CONTENT</a:t>
            </a:r>
          </a:p>
        </p:txBody>
      </p:sp>
      <p:grpSp>
        <p:nvGrpSpPr>
          <p:cNvPr id="40" name="Group 39">
            <a:extLst>
              <a:ext uri="{FF2B5EF4-FFF2-40B4-BE49-F238E27FC236}">
                <a16:creationId xmlns:a16="http://schemas.microsoft.com/office/drawing/2014/main" id="{2AB1BA9A-6EEA-0F54-03B8-DAD652F07BBA}"/>
              </a:ext>
            </a:extLst>
          </p:cNvPr>
          <p:cNvGrpSpPr/>
          <p:nvPr/>
        </p:nvGrpSpPr>
        <p:grpSpPr>
          <a:xfrm>
            <a:off x="6419425" y="8991567"/>
            <a:ext cx="1224000" cy="1188000"/>
            <a:chOff x="6419425" y="2840151"/>
            <a:chExt cx="1224000" cy="1188000"/>
          </a:xfrm>
        </p:grpSpPr>
        <p:sp>
          <p:nvSpPr>
            <p:cNvPr id="41" name="Rectangle 40">
              <a:extLst>
                <a:ext uri="{FF2B5EF4-FFF2-40B4-BE49-F238E27FC236}">
                  <a16:creationId xmlns:a16="http://schemas.microsoft.com/office/drawing/2014/main" id="{F3EC09C2-DC30-D888-FE6F-16EE85F9ABF3}"/>
                </a:ext>
              </a:extLst>
            </p:cNvPr>
            <p:cNvSpPr>
              <a:spLocks noChangeAspect="1"/>
            </p:cNvSpPr>
            <p:nvPr/>
          </p:nvSpPr>
          <p:spPr>
            <a:xfrm>
              <a:off x="6419425" y="2877109"/>
              <a:ext cx="1224000" cy="1128107"/>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Picture 41" descr="A black background with a black square&#10;&#10;AI-generated content may be incorrect.">
              <a:extLst>
                <a:ext uri="{FF2B5EF4-FFF2-40B4-BE49-F238E27FC236}">
                  <a16:creationId xmlns:a16="http://schemas.microsoft.com/office/drawing/2014/main" id="{DCCFA2C7-56B3-2EA7-1C22-2B6A8084FA06}"/>
                </a:ext>
              </a:extLst>
            </p:cNvPr>
            <p:cNvPicPr>
              <a:picLocks noChangeAspect="1"/>
            </p:cNvPicPr>
            <p:nvPr/>
          </p:nvPicPr>
          <p:blipFill>
            <a:blip r:embed="rId3"/>
            <a:stretch>
              <a:fillRect/>
            </a:stretch>
          </p:blipFill>
          <p:spPr>
            <a:xfrm>
              <a:off x="6431982" y="2840151"/>
              <a:ext cx="1188000" cy="1188000"/>
            </a:xfrm>
            <a:prstGeom prst="rect">
              <a:avLst/>
            </a:prstGeom>
          </p:spPr>
        </p:pic>
      </p:grpSp>
      <p:grpSp>
        <p:nvGrpSpPr>
          <p:cNvPr id="43" name="Group 42">
            <a:extLst>
              <a:ext uri="{FF2B5EF4-FFF2-40B4-BE49-F238E27FC236}">
                <a16:creationId xmlns:a16="http://schemas.microsoft.com/office/drawing/2014/main" id="{0AB05E90-3AFC-BF8F-4010-500CF5BDC7E2}"/>
              </a:ext>
            </a:extLst>
          </p:cNvPr>
          <p:cNvGrpSpPr/>
          <p:nvPr/>
        </p:nvGrpSpPr>
        <p:grpSpPr>
          <a:xfrm>
            <a:off x="7835988" y="8851568"/>
            <a:ext cx="1226109" cy="1224000"/>
            <a:chOff x="7835988" y="2700152"/>
            <a:chExt cx="1226109" cy="1224000"/>
          </a:xfrm>
        </p:grpSpPr>
        <p:sp>
          <p:nvSpPr>
            <p:cNvPr id="44" name="Rectangle 43">
              <a:extLst>
                <a:ext uri="{FF2B5EF4-FFF2-40B4-BE49-F238E27FC236}">
                  <a16:creationId xmlns:a16="http://schemas.microsoft.com/office/drawing/2014/main" id="{4A5CC8D0-F025-628B-DDC0-007CC29A1220}"/>
                </a:ext>
              </a:extLst>
            </p:cNvPr>
            <p:cNvSpPr>
              <a:spLocks noChangeAspect="1"/>
            </p:cNvSpPr>
            <p:nvPr/>
          </p:nvSpPr>
          <p:spPr>
            <a:xfrm>
              <a:off x="7835988" y="2744111"/>
              <a:ext cx="1224000" cy="1128107"/>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Picture 44" descr="A black background with a black square&#10;&#10;AI-generated content may be incorrect.">
              <a:extLst>
                <a:ext uri="{FF2B5EF4-FFF2-40B4-BE49-F238E27FC236}">
                  <a16:creationId xmlns:a16="http://schemas.microsoft.com/office/drawing/2014/main" id="{02C5E99C-01C6-8129-BA24-BFBB4418A3B1}"/>
                </a:ext>
              </a:extLst>
            </p:cNvPr>
            <p:cNvPicPr>
              <a:picLocks noChangeAspect="1"/>
            </p:cNvPicPr>
            <p:nvPr/>
          </p:nvPicPr>
          <p:blipFill>
            <a:blip r:embed="rId4"/>
            <a:stretch>
              <a:fillRect/>
            </a:stretch>
          </p:blipFill>
          <p:spPr>
            <a:xfrm>
              <a:off x="7838097" y="2700152"/>
              <a:ext cx="1224000" cy="1224000"/>
            </a:xfrm>
            <a:prstGeom prst="rect">
              <a:avLst/>
            </a:prstGeom>
          </p:spPr>
        </p:pic>
      </p:grpSp>
      <p:grpSp>
        <p:nvGrpSpPr>
          <p:cNvPr id="46" name="Group 45">
            <a:extLst>
              <a:ext uri="{FF2B5EF4-FFF2-40B4-BE49-F238E27FC236}">
                <a16:creationId xmlns:a16="http://schemas.microsoft.com/office/drawing/2014/main" id="{A8F4A110-DAD1-BD6A-9A37-12442F2F02B5}"/>
              </a:ext>
            </a:extLst>
          </p:cNvPr>
          <p:cNvGrpSpPr/>
          <p:nvPr/>
        </p:nvGrpSpPr>
        <p:grpSpPr>
          <a:xfrm>
            <a:off x="4932470" y="9023927"/>
            <a:ext cx="1224000" cy="1152000"/>
            <a:chOff x="4932470" y="2872511"/>
            <a:chExt cx="1224000" cy="1152000"/>
          </a:xfrm>
        </p:grpSpPr>
        <p:sp>
          <p:nvSpPr>
            <p:cNvPr id="47" name="Rectangle 46">
              <a:extLst>
                <a:ext uri="{FF2B5EF4-FFF2-40B4-BE49-F238E27FC236}">
                  <a16:creationId xmlns:a16="http://schemas.microsoft.com/office/drawing/2014/main" id="{0963A3EA-152A-AF31-2ADD-949EB6FC1F26}"/>
                </a:ext>
              </a:extLst>
            </p:cNvPr>
            <p:cNvSpPr>
              <a:spLocks noChangeAspect="1"/>
            </p:cNvSpPr>
            <p:nvPr/>
          </p:nvSpPr>
          <p:spPr>
            <a:xfrm>
              <a:off x="4932470" y="2880930"/>
              <a:ext cx="1224000" cy="1128107"/>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 name="Picture 47" descr="A black background with a black square&#10;&#10;AI-generated content may be incorrect.">
              <a:extLst>
                <a:ext uri="{FF2B5EF4-FFF2-40B4-BE49-F238E27FC236}">
                  <a16:creationId xmlns:a16="http://schemas.microsoft.com/office/drawing/2014/main" id="{E98F1476-A8C5-6DA7-3DFC-A0E469D82584}"/>
                </a:ext>
              </a:extLst>
            </p:cNvPr>
            <p:cNvPicPr>
              <a:picLocks noChangeAspect="1"/>
            </p:cNvPicPr>
            <p:nvPr/>
          </p:nvPicPr>
          <p:blipFill>
            <a:blip r:embed="rId5"/>
            <a:stretch>
              <a:fillRect/>
            </a:stretch>
          </p:blipFill>
          <p:spPr>
            <a:xfrm>
              <a:off x="4969339" y="2872511"/>
              <a:ext cx="1152000" cy="1152000"/>
            </a:xfrm>
            <a:prstGeom prst="rect">
              <a:avLst/>
            </a:prstGeom>
          </p:spPr>
        </p:pic>
      </p:grpSp>
      <p:sp>
        <p:nvSpPr>
          <p:cNvPr id="49" name="TextBox 48">
            <a:extLst>
              <a:ext uri="{FF2B5EF4-FFF2-40B4-BE49-F238E27FC236}">
                <a16:creationId xmlns:a16="http://schemas.microsoft.com/office/drawing/2014/main" id="{404CBD89-D0B3-82EF-4536-AE6C304D6F25}"/>
              </a:ext>
            </a:extLst>
          </p:cNvPr>
          <p:cNvSpPr txBox="1"/>
          <p:nvPr/>
        </p:nvSpPr>
        <p:spPr>
          <a:xfrm>
            <a:off x="524960" y="0"/>
            <a:ext cx="11160619" cy="1261884"/>
          </a:xfrm>
          <a:prstGeom prst="rect">
            <a:avLst/>
          </a:prstGeom>
          <a:noFill/>
        </p:spPr>
        <p:txBody>
          <a:bodyPr wrap="none" rtlCol="0">
            <a:spAutoFit/>
          </a:bodyPr>
          <a:lstStyle/>
          <a:p>
            <a:r>
              <a:rPr lang="en-IN" sz="2800" b="1" dirty="0">
                <a:solidFill>
                  <a:srgbClr val="FFFF00"/>
                </a:solidFill>
                <a:latin typeface="Cochin" panose="02000603020000020003" pitchFamily="2" charset="0"/>
                <a:cs typeface="IrisUPC" panose="020B0604020202020204" pitchFamily="34" charset="-34"/>
              </a:rPr>
              <a:t>INTERNSHIP IN INTERNATIONAL FINANCE AND TREASURY</a:t>
            </a:r>
          </a:p>
          <a:p>
            <a:endParaRPr lang="en-US" sz="4800" b="1" dirty="0">
              <a:solidFill>
                <a:srgbClr val="FFFF00"/>
              </a:solidFill>
              <a:latin typeface="IrisUPC" panose="020B0604020202020204" pitchFamily="34" charset="-34"/>
              <a:cs typeface="IrisUPC" panose="020B0604020202020204" pitchFamily="34" charset="-34"/>
            </a:endParaRPr>
          </a:p>
        </p:txBody>
      </p:sp>
      <p:sp>
        <p:nvSpPr>
          <p:cNvPr id="50" name="TextBox 49">
            <a:extLst>
              <a:ext uri="{FF2B5EF4-FFF2-40B4-BE49-F238E27FC236}">
                <a16:creationId xmlns:a16="http://schemas.microsoft.com/office/drawing/2014/main" id="{653C9826-D03A-C184-8221-749FECBC1189}"/>
              </a:ext>
            </a:extLst>
          </p:cNvPr>
          <p:cNvSpPr txBox="1"/>
          <p:nvPr/>
        </p:nvSpPr>
        <p:spPr>
          <a:xfrm>
            <a:off x="2987172" y="515345"/>
            <a:ext cx="6921895" cy="1261884"/>
          </a:xfrm>
          <a:prstGeom prst="rect">
            <a:avLst/>
          </a:prstGeom>
          <a:noFill/>
        </p:spPr>
        <p:txBody>
          <a:bodyPr wrap="none" rtlCol="0">
            <a:spAutoFit/>
          </a:bodyPr>
          <a:lstStyle/>
          <a:p>
            <a:r>
              <a:rPr lang="en-IN" sz="2800" i="1" dirty="0">
                <a:solidFill>
                  <a:schemeClr val="bg1"/>
                </a:solidFill>
                <a:latin typeface="Felix Titling" pitchFamily="82" charset="77"/>
                <a:cs typeface="IrisUPC" panose="020B0604020202020204" pitchFamily="34" charset="-34"/>
              </a:rPr>
              <a:t>Duration: 8 weeks (June–July 2025)</a:t>
            </a:r>
          </a:p>
          <a:p>
            <a:endParaRPr lang="en-US" sz="4800" dirty="0">
              <a:solidFill>
                <a:schemeClr val="bg1"/>
              </a:solidFill>
              <a:latin typeface="IrisUPC" panose="020B0604020202020204" pitchFamily="34" charset="-34"/>
              <a:cs typeface="IrisUPC" panose="020B0604020202020204" pitchFamily="34" charset="-34"/>
            </a:endParaRPr>
          </a:p>
        </p:txBody>
      </p:sp>
      <p:sp>
        <p:nvSpPr>
          <p:cNvPr id="51" name="TextBox 50">
            <a:extLst>
              <a:ext uri="{FF2B5EF4-FFF2-40B4-BE49-F238E27FC236}">
                <a16:creationId xmlns:a16="http://schemas.microsoft.com/office/drawing/2014/main" id="{13F753C6-90CA-F3F5-AE82-E6B9E1B936C6}"/>
              </a:ext>
            </a:extLst>
          </p:cNvPr>
          <p:cNvSpPr txBox="1"/>
          <p:nvPr/>
        </p:nvSpPr>
        <p:spPr>
          <a:xfrm>
            <a:off x="2895035" y="4250932"/>
            <a:ext cx="7315200" cy="1446550"/>
          </a:xfrm>
          <a:prstGeom prst="rect">
            <a:avLst/>
          </a:prstGeom>
          <a:noFill/>
        </p:spPr>
        <p:txBody>
          <a:bodyPr wrap="square" rtlCol="0">
            <a:spAutoFit/>
          </a:bodyPr>
          <a:lstStyle/>
          <a:p>
            <a:pPr algn="ctr"/>
            <a:r>
              <a:rPr lang="en-IN" sz="1400" b="1" dirty="0">
                <a:latin typeface="Felix Titling" pitchFamily="82" charset="77"/>
                <a:cs typeface="IrisUPC" panose="020B0604020202020204" pitchFamily="34" charset="-34"/>
              </a:rPr>
              <a:t>Equity remittance to IGE UK</a:t>
            </a:r>
          </a:p>
          <a:p>
            <a:pPr algn="ctr"/>
            <a:r>
              <a:rPr lang="en-IN" sz="1400" b="1" dirty="0">
                <a:latin typeface="Felix Titling" pitchFamily="82" charset="77"/>
                <a:cs typeface="IrisUPC" panose="020B0604020202020204" pitchFamily="34" charset="-34"/>
              </a:rPr>
              <a:t>Corporate guarantee issuance and compliance</a:t>
            </a:r>
          </a:p>
          <a:p>
            <a:pPr algn="ctr"/>
            <a:r>
              <a:rPr lang="en-IN" sz="1400" b="1" dirty="0">
                <a:latin typeface="Felix Titling" pitchFamily="82" charset="77"/>
                <a:cs typeface="IrisUPC" panose="020B0604020202020204" pitchFamily="34" charset="-34"/>
              </a:rPr>
              <a:t>International borrowings for UK hotel portfolio</a:t>
            </a:r>
          </a:p>
          <a:p>
            <a:pPr algn="ctr"/>
            <a:r>
              <a:rPr lang="en-IN" sz="1400" b="1" dirty="0">
                <a:latin typeface="Felix Titling" pitchFamily="82" charset="77"/>
                <a:cs typeface="IrisUPC" panose="020B0604020202020204" pitchFamily="34" charset="-34"/>
              </a:rPr>
              <a:t>FX &amp; interest rate hedging, cross-currency swaps</a:t>
            </a:r>
          </a:p>
          <a:p>
            <a:pPr algn="ctr"/>
            <a:r>
              <a:rPr lang="en-IN" sz="1400" b="1" dirty="0">
                <a:latin typeface="Felix Titling" pitchFamily="82" charset="77"/>
                <a:cs typeface="IrisUPC" panose="020B0604020202020204" pitchFamily="34" charset="-34"/>
              </a:rPr>
              <a:t>Regulatory reporting (ODI, EMIR)</a:t>
            </a:r>
          </a:p>
          <a:p>
            <a:endParaRPr lang="en-US" dirty="0"/>
          </a:p>
        </p:txBody>
      </p:sp>
      <p:sp>
        <p:nvSpPr>
          <p:cNvPr id="56" name="TextBox 55">
            <a:extLst>
              <a:ext uri="{FF2B5EF4-FFF2-40B4-BE49-F238E27FC236}">
                <a16:creationId xmlns:a16="http://schemas.microsoft.com/office/drawing/2014/main" id="{31F236EC-CDC3-E9DE-CBD6-66BB4866343B}"/>
              </a:ext>
            </a:extLst>
          </p:cNvPr>
          <p:cNvSpPr txBox="1"/>
          <p:nvPr/>
        </p:nvSpPr>
        <p:spPr>
          <a:xfrm>
            <a:off x="4473911" y="1246075"/>
            <a:ext cx="3671967" cy="830997"/>
          </a:xfrm>
          <a:prstGeom prst="rect">
            <a:avLst/>
          </a:prstGeom>
          <a:noFill/>
        </p:spPr>
        <p:txBody>
          <a:bodyPr wrap="none" rtlCol="0">
            <a:spAutoFit/>
          </a:bodyPr>
          <a:lstStyle/>
          <a:p>
            <a:r>
              <a:rPr lang="en-IN" sz="2400" dirty="0">
                <a:solidFill>
                  <a:schemeClr val="bg1"/>
                </a:solidFill>
                <a:latin typeface="Felix Titling" pitchFamily="82" charset="77"/>
              </a:rPr>
              <a:t>Project focused on</a:t>
            </a:r>
            <a:r>
              <a:rPr lang="en-IN" sz="2400" dirty="0">
                <a:solidFill>
                  <a:schemeClr val="bg1"/>
                </a:solidFill>
                <a:latin typeface="Bernard MT Condensed" panose="02050806060905020404" pitchFamily="18" charset="77"/>
              </a:rPr>
              <a:t>:</a:t>
            </a:r>
          </a:p>
          <a:p>
            <a:endParaRPr lang="en-US" sz="2400" dirty="0">
              <a:solidFill>
                <a:schemeClr val="bg1"/>
              </a:solidFill>
              <a:latin typeface="Bernard MT Condensed" panose="02050806060905020404" pitchFamily="18" charset="77"/>
            </a:endParaRPr>
          </a:p>
        </p:txBody>
      </p:sp>
      <p:sp>
        <p:nvSpPr>
          <p:cNvPr id="57" name="TextBox 56">
            <a:extLst>
              <a:ext uri="{FF2B5EF4-FFF2-40B4-BE49-F238E27FC236}">
                <a16:creationId xmlns:a16="http://schemas.microsoft.com/office/drawing/2014/main" id="{24C844F7-10BB-96C5-8194-F95FEA2F8E24}"/>
              </a:ext>
            </a:extLst>
          </p:cNvPr>
          <p:cNvSpPr txBox="1"/>
          <p:nvPr/>
        </p:nvSpPr>
        <p:spPr>
          <a:xfrm>
            <a:off x="237830" y="4330739"/>
            <a:ext cx="1093569" cy="3154710"/>
          </a:xfrm>
          <a:prstGeom prst="rect">
            <a:avLst/>
          </a:prstGeom>
          <a:noFill/>
        </p:spPr>
        <p:txBody>
          <a:bodyPr wrap="none" rtlCol="0">
            <a:spAutoFit/>
          </a:bodyPr>
          <a:lstStyle/>
          <a:p>
            <a:r>
              <a:rPr lang="en-US" sz="19900" dirty="0">
                <a:latin typeface="IrisUPC" panose="020B0604020202020204" pitchFamily="34" charset="-34"/>
                <a:cs typeface="IrisUPC" panose="020B0604020202020204" pitchFamily="34" charset="-34"/>
              </a:rPr>
              <a:t>P</a:t>
            </a:r>
          </a:p>
        </p:txBody>
      </p:sp>
      <p:sp>
        <p:nvSpPr>
          <p:cNvPr id="58" name="TextBox 57">
            <a:extLst>
              <a:ext uri="{FF2B5EF4-FFF2-40B4-BE49-F238E27FC236}">
                <a16:creationId xmlns:a16="http://schemas.microsoft.com/office/drawing/2014/main" id="{80E16961-C010-B845-7912-E636B79549BF}"/>
              </a:ext>
            </a:extLst>
          </p:cNvPr>
          <p:cNvSpPr txBox="1"/>
          <p:nvPr/>
        </p:nvSpPr>
        <p:spPr>
          <a:xfrm>
            <a:off x="1370749" y="2923586"/>
            <a:ext cx="179618" cy="3154710"/>
          </a:xfrm>
          <a:prstGeom prst="rect">
            <a:avLst/>
          </a:prstGeom>
          <a:noFill/>
        </p:spPr>
        <p:txBody>
          <a:bodyPr wrap="square" rtlCol="0">
            <a:spAutoFit/>
          </a:bodyPr>
          <a:lstStyle/>
          <a:p>
            <a:r>
              <a:rPr lang="en-US" sz="19900" dirty="0">
                <a:latin typeface="IrisUPC" panose="020B0604020202020204" pitchFamily="34" charset="-34"/>
                <a:cs typeface="IrisUPC" panose="020B0604020202020204" pitchFamily="34" charset="-34"/>
              </a:rPr>
              <a:t>R</a:t>
            </a:r>
          </a:p>
        </p:txBody>
      </p:sp>
      <p:sp>
        <p:nvSpPr>
          <p:cNvPr id="59" name="TextBox 58">
            <a:extLst>
              <a:ext uri="{FF2B5EF4-FFF2-40B4-BE49-F238E27FC236}">
                <a16:creationId xmlns:a16="http://schemas.microsoft.com/office/drawing/2014/main" id="{181F93AE-F888-BBB9-67B4-B732EF7DA9E5}"/>
              </a:ext>
            </a:extLst>
          </p:cNvPr>
          <p:cNvSpPr txBox="1"/>
          <p:nvPr/>
        </p:nvSpPr>
        <p:spPr>
          <a:xfrm>
            <a:off x="2483912" y="613244"/>
            <a:ext cx="179618" cy="5386090"/>
          </a:xfrm>
          <a:prstGeom prst="rect">
            <a:avLst/>
          </a:prstGeom>
          <a:noFill/>
        </p:spPr>
        <p:txBody>
          <a:bodyPr wrap="square" rtlCol="0">
            <a:spAutoFit/>
          </a:bodyPr>
          <a:lstStyle/>
          <a:p>
            <a:r>
              <a:rPr lang="en-US" sz="34400" dirty="0">
                <a:latin typeface="IrisUPC" panose="020B0604020202020204" pitchFamily="34" charset="-34"/>
                <a:cs typeface="IrisUPC" panose="020B0604020202020204" pitchFamily="34" charset="-34"/>
              </a:rPr>
              <a:t>O</a:t>
            </a:r>
          </a:p>
        </p:txBody>
      </p:sp>
      <p:sp>
        <p:nvSpPr>
          <p:cNvPr id="60" name="TextBox 59">
            <a:extLst>
              <a:ext uri="{FF2B5EF4-FFF2-40B4-BE49-F238E27FC236}">
                <a16:creationId xmlns:a16="http://schemas.microsoft.com/office/drawing/2014/main" id="{DBC50023-5BEA-B099-3E9A-AB825FEA1CFA}"/>
              </a:ext>
            </a:extLst>
          </p:cNvPr>
          <p:cNvSpPr txBox="1"/>
          <p:nvPr/>
        </p:nvSpPr>
        <p:spPr>
          <a:xfrm>
            <a:off x="5668128" y="1269010"/>
            <a:ext cx="179618" cy="3154710"/>
          </a:xfrm>
          <a:prstGeom prst="rect">
            <a:avLst/>
          </a:prstGeom>
          <a:noFill/>
        </p:spPr>
        <p:txBody>
          <a:bodyPr wrap="square" rtlCol="0">
            <a:spAutoFit/>
          </a:bodyPr>
          <a:lstStyle/>
          <a:p>
            <a:r>
              <a:rPr lang="en-US" sz="19900" dirty="0">
                <a:latin typeface="IrisUPC" panose="020B0604020202020204" pitchFamily="34" charset="-34"/>
                <a:cs typeface="IrisUPC" panose="020B0604020202020204" pitchFamily="34" charset="-34"/>
              </a:rPr>
              <a:t>J</a:t>
            </a:r>
          </a:p>
        </p:txBody>
      </p:sp>
      <p:sp>
        <p:nvSpPr>
          <p:cNvPr id="61" name="TextBox 60">
            <a:extLst>
              <a:ext uri="{FF2B5EF4-FFF2-40B4-BE49-F238E27FC236}">
                <a16:creationId xmlns:a16="http://schemas.microsoft.com/office/drawing/2014/main" id="{D15D0BDA-F80A-9829-AC88-90FD5B8FE291}"/>
              </a:ext>
            </a:extLst>
          </p:cNvPr>
          <p:cNvSpPr txBox="1"/>
          <p:nvPr/>
        </p:nvSpPr>
        <p:spPr>
          <a:xfrm>
            <a:off x="7215088" y="1470323"/>
            <a:ext cx="179618" cy="3154710"/>
          </a:xfrm>
          <a:prstGeom prst="rect">
            <a:avLst/>
          </a:prstGeom>
          <a:noFill/>
        </p:spPr>
        <p:txBody>
          <a:bodyPr wrap="square" rtlCol="0">
            <a:spAutoFit/>
          </a:bodyPr>
          <a:lstStyle/>
          <a:p>
            <a:r>
              <a:rPr lang="en-US" sz="19900" dirty="0">
                <a:latin typeface="IrisUPC" panose="020B0604020202020204" pitchFamily="34" charset="-34"/>
                <a:cs typeface="IrisUPC" panose="020B0604020202020204" pitchFamily="34" charset="-34"/>
              </a:rPr>
              <a:t>E</a:t>
            </a:r>
          </a:p>
        </p:txBody>
      </p:sp>
      <p:sp>
        <p:nvSpPr>
          <p:cNvPr id="62" name="TextBox 61">
            <a:extLst>
              <a:ext uri="{FF2B5EF4-FFF2-40B4-BE49-F238E27FC236}">
                <a16:creationId xmlns:a16="http://schemas.microsoft.com/office/drawing/2014/main" id="{39496EEE-410F-7E71-DC81-12A094536274}"/>
              </a:ext>
            </a:extLst>
          </p:cNvPr>
          <p:cNvSpPr txBox="1"/>
          <p:nvPr/>
        </p:nvSpPr>
        <p:spPr>
          <a:xfrm>
            <a:off x="8898908" y="2132611"/>
            <a:ext cx="179618" cy="3154710"/>
          </a:xfrm>
          <a:prstGeom prst="rect">
            <a:avLst/>
          </a:prstGeom>
          <a:noFill/>
        </p:spPr>
        <p:txBody>
          <a:bodyPr wrap="square" rtlCol="0">
            <a:spAutoFit/>
          </a:bodyPr>
          <a:lstStyle/>
          <a:p>
            <a:r>
              <a:rPr lang="en-US" sz="19900" dirty="0">
                <a:latin typeface="IrisUPC" panose="020B0604020202020204" pitchFamily="34" charset="-34"/>
                <a:cs typeface="IrisUPC" panose="020B0604020202020204" pitchFamily="34" charset="-34"/>
              </a:rPr>
              <a:t>C</a:t>
            </a:r>
          </a:p>
        </p:txBody>
      </p:sp>
      <p:sp>
        <p:nvSpPr>
          <p:cNvPr id="63" name="TextBox 62">
            <a:extLst>
              <a:ext uri="{FF2B5EF4-FFF2-40B4-BE49-F238E27FC236}">
                <a16:creationId xmlns:a16="http://schemas.microsoft.com/office/drawing/2014/main" id="{F51C690C-27C1-B803-9C40-D625EFBA5169}"/>
              </a:ext>
            </a:extLst>
          </p:cNvPr>
          <p:cNvSpPr txBox="1"/>
          <p:nvPr/>
        </p:nvSpPr>
        <p:spPr>
          <a:xfrm>
            <a:off x="10544692" y="3709966"/>
            <a:ext cx="179618" cy="3154710"/>
          </a:xfrm>
          <a:prstGeom prst="rect">
            <a:avLst/>
          </a:prstGeom>
          <a:noFill/>
        </p:spPr>
        <p:txBody>
          <a:bodyPr wrap="square" rtlCol="0">
            <a:spAutoFit/>
          </a:bodyPr>
          <a:lstStyle/>
          <a:p>
            <a:r>
              <a:rPr lang="en-US" sz="19900" dirty="0">
                <a:latin typeface="IrisUPC" panose="020B0604020202020204" pitchFamily="34" charset="-34"/>
                <a:cs typeface="IrisUPC" panose="020B0604020202020204" pitchFamily="34" charset="-34"/>
              </a:rPr>
              <a:t>T</a:t>
            </a:r>
          </a:p>
        </p:txBody>
      </p:sp>
      <p:grpSp>
        <p:nvGrpSpPr>
          <p:cNvPr id="72" name="Group 71">
            <a:extLst>
              <a:ext uri="{FF2B5EF4-FFF2-40B4-BE49-F238E27FC236}">
                <a16:creationId xmlns:a16="http://schemas.microsoft.com/office/drawing/2014/main" id="{F8C4BA16-BE12-9F60-4F97-A964B1307DE8}"/>
              </a:ext>
            </a:extLst>
          </p:cNvPr>
          <p:cNvGrpSpPr/>
          <p:nvPr/>
        </p:nvGrpSpPr>
        <p:grpSpPr>
          <a:xfrm>
            <a:off x="3120056" y="2557995"/>
            <a:ext cx="1224000" cy="1152000"/>
            <a:chOff x="3120056" y="2869725"/>
            <a:chExt cx="1224000" cy="1152000"/>
          </a:xfrm>
        </p:grpSpPr>
        <p:sp>
          <p:nvSpPr>
            <p:cNvPr id="73" name="Rectangle 72">
              <a:extLst>
                <a:ext uri="{FF2B5EF4-FFF2-40B4-BE49-F238E27FC236}">
                  <a16:creationId xmlns:a16="http://schemas.microsoft.com/office/drawing/2014/main" id="{479ED7B5-E37F-68F0-51D6-E611CA6BBB1B}"/>
                </a:ext>
              </a:extLst>
            </p:cNvPr>
            <p:cNvSpPr>
              <a:spLocks noChangeAspect="1"/>
            </p:cNvSpPr>
            <p:nvPr/>
          </p:nvSpPr>
          <p:spPr>
            <a:xfrm>
              <a:off x="3120056" y="2869725"/>
              <a:ext cx="1224000" cy="1151971"/>
            </a:xfrm>
            <a:prstGeom prst="rect">
              <a:avLst/>
            </a:prstGeom>
            <a:blipFill dpi="0" rotWithShape="1">
              <a:blip r:embed="rId6">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pic>
          <p:nvPicPr>
            <p:cNvPr id="74" name="Picture 73" descr="A black background with a black square&#10;&#10;AI-generated content may be incorrect.">
              <a:hlinkClick r:id="rId7" action="ppaction://hlinksldjump"/>
              <a:extLst>
                <a:ext uri="{FF2B5EF4-FFF2-40B4-BE49-F238E27FC236}">
                  <a16:creationId xmlns:a16="http://schemas.microsoft.com/office/drawing/2014/main" id="{FAE51919-A6E3-1DD1-A616-568CF24457AF}"/>
                </a:ext>
              </a:extLst>
            </p:cNvPr>
            <p:cNvPicPr>
              <a:picLocks noChangeAspect="1"/>
            </p:cNvPicPr>
            <p:nvPr/>
          </p:nvPicPr>
          <p:blipFill>
            <a:blip r:embed="rId6"/>
            <a:stretch>
              <a:fillRect/>
            </a:stretch>
          </p:blipFill>
          <p:spPr>
            <a:xfrm>
              <a:off x="3148786" y="2869725"/>
              <a:ext cx="1152000" cy="1152000"/>
            </a:xfrm>
            <a:prstGeom prst="rect">
              <a:avLst/>
            </a:prstGeom>
          </p:spPr>
        </p:pic>
      </p:grpSp>
      <p:sp>
        <p:nvSpPr>
          <p:cNvPr id="75" name="TextBox 74">
            <a:extLst>
              <a:ext uri="{FF2B5EF4-FFF2-40B4-BE49-F238E27FC236}">
                <a16:creationId xmlns:a16="http://schemas.microsoft.com/office/drawing/2014/main" id="{90BD6326-45C0-075E-2DDF-3DD64BDA8AE0}"/>
              </a:ext>
            </a:extLst>
          </p:cNvPr>
          <p:cNvSpPr txBox="1"/>
          <p:nvPr/>
        </p:nvSpPr>
        <p:spPr>
          <a:xfrm>
            <a:off x="737040" y="3813079"/>
            <a:ext cx="320922" cy="400110"/>
          </a:xfrm>
          <a:prstGeom prst="rect">
            <a:avLst/>
          </a:prstGeom>
          <a:noFill/>
        </p:spPr>
        <p:txBody>
          <a:bodyPr wrap="none" rtlCol="0">
            <a:spAutoFit/>
          </a:bodyPr>
          <a:lstStyle/>
          <a:p>
            <a:r>
              <a:rPr lang="en-US" sz="2000" dirty="0">
                <a:latin typeface="IrisUPC" panose="020B0604020202020204" pitchFamily="34" charset="-34"/>
                <a:cs typeface="IrisUPC" panose="020B0604020202020204" pitchFamily="34" charset="-34"/>
              </a:rPr>
              <a:t>O</a:t>
            </a:r>
          </a:p>
        </p:txBody>
      </p:sp>
      <p:sp>
        <p:nvSpPr>
          <p:cNvPr id="76" name="TextBox 75">
            <a:extLst>
              <a:ext uri="{FF2B5EF4-FFF2-40B4-BE49-F238E27FC236}">
                <a16:creationId xmlns:a16="http://schemas.microsoft.com/office/drawing/2014/main" id="{118218D2-89B2-737E-31E8-B8EF34E477FC}"/>
              </a:ext>
            </a:extLst>
          </p:cNvPr>
          <p:cNvSpPr txBox="1"/>
          <p:nvPr/>
        </p:nvSpPr>
        <p:spPr>
          <a:xfrm>
            <a:off x="1741616" y="3063789"/>
            <a:ext cx="293670" cy="400110"/>
          </a:xfrm>
          <a:prstGeom prst="rect">
            <a:avLst/>
          </a:prstGeom>
          <a:noFill/>
        </p:spPr>
        <p:txBody>
          <a:bodyPr wrap="none" rtlCol="0">
            <a:spAutoFit/>
          </a:bodyPr>
          <a:lstStyle/>
          <a:p>
            <a:r>
              <a:rPr lang="en-US" sz="2000" dirty="0">
                <a:latin typeface="IrisUPC" panose="020B0604020202020204" pitchFamily="34" charset="-34"/>
                <a:cs typeface="IrisUPC" panose="020B0604020202020204" pitchFamily="34" charset="-34"/>
              </a:rPr>
              <a:t>V</a:t>
            </a:r>
          </a:p>
        </p:txBody>
      </p:sp>
      <p:sp>
        <p:nvSpPr>
          <p:cNvPr id="77" name="TextBox 76">
            <a:extLst>
              <a:ext uri="{FF2B5EF4-FFF2-40B4-BE49-F238E27FC236}">
                <a16:creationId xmlns:a16="http://schemas.microsoft.com/office/drawing/2014/main" id="{AD8195EF-E821-E671-ADE4-1AA90F818571}"/>
              </a:ext>
            </a:extLst>
          </p:cNvPr>
          <p:cNvSpPr txBox="1"/>
          <p:nvPr/>
        </p:nvSpPr>
        <p:spPr>
          <a:xfrm>
            <a:off x="2516146" y="2374854"/>
            <a:ext cx="266420" cy="400110"/>
          </a:xfrm>
          <a:prstGeom prst="rect">
            <a:avLst/>
          </a:prstGeom>
          <a:noFill/>
        </p:spPr>
        <p:txBody>
          <a:bodyPr wrap="none" rtlCol="0">
            <a:spAutoFit/>
          </a:bodyPr>
          <a:lstStyle/>
          <a:p>
            <a:r>
              <a:rPr lang="en-US" sz="2000" dirty="0">
                <a:latin typeface="IrisUPC" panose="020B0604020202020204" pitchFamily="34" charset="-34"/>
                <a:cs typeface="IrisUPC" panose="020B0604020202020204" pitchFamily="34" charset="-34"/>
              </a:rPr>
              <a:t>E</a:t>
            </a:r>
          </a:p>
        </p:txBody>
      </p:sp>
      <p:sp>
        <p:nvSpPr>
          <p:cNvPr id="78" name="TextBox 77">
            <a:extLst>
              <a:ext uri="{FF2B5EF4-FFF2-40B4-BE49-F238E27FC236}">
                <a16:creationId xmlns:a16="http://schemas.microsoft.com/office/drawing/2014/main" id="{3E95042D-E468-B4DA-EE3B-01C2C7D4CB6D}"/>
              </a:ext>
            </a:extLst>
          </p:cNvPr>
          <p:cNvSpPr txBox="1"/>
          <p:nvPr/>
        </p:nvSpPr>
        <p:spPr>
          <a:xfrm>
            <a:off x="3562027" y="1782578"/>
            <a:ext cx="285656" cy="400110"/>
          </a:xfrm>
          <a:prstGeom prst="rect">
            <a:avLst/>
          </a:prstGeom>
          <a:noFill/>
        </p:spPr>
        <p:txBody>
          <a:bodyPr wrap="none" rtlCol="0">
            <a:spAutoFit/>
          </a:bodyPr>
          <a:lstStyle/>
          <a:p>
            <a:r>
              <a:rPr lang="en-US" sz="2000" dirty="0">
                <a:latin typeface="IrisUPC" panose="020B0604020202020204" pitchFamily="34" charset="-34"/>
                <a:cs typeface="IrisUPC" panose="020B0604020202020204" pitchFamily="34" charset="-34"/>
              </a:rPr>
              <a:t>R</a:t>
            </a:r>
          </a:p>
        </p:txBody>
      </p:sp>
      <p:sp>
        <p:nvSpPr>
          <p:cNvPr id="79" name="TextBox 78">
            <a:extLst>
              <a:ext uri="{FF2B5EF4-FFF2-40B4-BE49-F238E27FC236}">
                <a16:creationId xmlns:a16="http://schemas.microsoft.com/office/drawing/2014/main" id="{0F1C3F05-037F-74D9-273C-425BD803493E}"/>
              </a:ext>
            </a:extLst>
          </p:cNvPr>
          <p:cNvSpPr txBox="1"/>
          <p:nvPr/>
        </p:nvSpPr>
        <p:spPr>
          <a:xfrm>
            <a:off x="7510476" y="1895147"/>
            <a:ext cx="293670" cy="400110"/>
          </a:xfrm>
          <a:prstGeom prst="rect">
            <a:avLst/>
          </a:prstGeom>
          <a:noFill/>
        </p:spPr>
        <p:txBody>
          <a:bodyPr wrap="none" rtlCol="0">
            <a:spAutoFit/>
          </a:bodyPr>
          <a:lstStyle/>
          <a:p>
            <a:r>
              <a:rPr lang="en-US" sz="2000" dirty="0">
                <a:latin typeface="IrisUPC" panose="020B0604020202020204" pitchFamily="34" charset="-34"/>
                <a:cs typeface="IrisUPC" panose="020B0604020202020204" pitchFamily="34" charset="-34"/>
              </a:rPr>
              <a:t>V</a:t>
            </a:r>
          </a:p>
        </p:txBody>
      </p:sp>
      <p:sp>
        <p:nvSpPr>
          <p:cNvPr id="80" name="TextBox 79">
            <a:extLst>
              <a:ext uri="{FF2B5EF4-FFF2-40B4-BE49-F238E27FC236}">
                <a16:creationId xmlns:a16="http://schemas.microsoft.com/office/drawing/2014/main" id="{E6174607-255F-B422-B500-8CF85F0A849B}"/>
              </a:ext>
            </a:extLst>
          </p:cNvPr>
          <p:cNvSpPr txBox="1"/>
          <p:nvPr/>
        </p:nvSpPr>
        <p:spPr>
          <a:xfrm>
            <a:off x="8721131" y="2318529"/>
            <a:ext cx="229550" cy="400110"/>
          </a:xfrm>
          <a:prstGeom prst="rect">
            <a:avLst/>
          </a:prstGeom>
          <a:noFill/>
        </p:spPr>
        <p:txBody>
          <a:bodyPr wrap="none" rtlCol="0">
            <a:spAutoFit/>
          </a:bodyPr>
          <a:lstStyle/>
          <a:p>
            <a:r>
              <a:rPr lang="en-US" sz="2000" dirty="0">
                <a:latin typeface="IrisUPC" panose="020B0604020202020204" pitchFamily="34" charset="-34"/>
                <a:cs typeface="IrisUPC" panose="020B0604020202020204" pitchFamily="34" charset="-34"/>
              </a:rPr>
              <a:t>I</a:t>
            </a:r>
          </a:p>
        </p:txBody>
      </p:sp>
      <p:sp>
        <p:nvSpPr>
          <p:cNvPr id="81" name="TextBox 80">
            <a:extLst>
              <a:ext uri="{FF2B5EF4-FFF2-40B4-BE49-F238E27FC236}">
                <a16:creationId xmlns:a16="http://schemas.microsoft.com/office/drawing/2014/main" id="{341A7E53-82E6-FD94-91B5-8F20C8E62E7F}"/>
              </a:ext>
            </a:extLst>
          </p:cNvPr>
          <p:cNvSpPr txBox="1"/>
          <p:nvPr/>
        </p:nvSpPr>
        <p:spPr>
          <a:xfrm>
            <a:off x="9943815" y="2750144"/>
            <a:ext cx="266420" cy="400110"/>
          </a:xfrm>
          <a:prstGeom prst="rect">
            <a:avLst/>
          </a:prstGeom>
          <a:noFill/>
        </p:spPr>
        <p:txBody>
          <a:bodyPr wrap="none" rtlCol="0">
            <a:spAutoFit/>
          </a:bodyPr>
          <a:lstStyle/>
          <a:p>
            <a:r>
              <a:rPr lang="en-US" sz="2000" dirty="0">
                <a:latin typeface="IrisUPC" panose="020B0604020202020204" pitchFamily="34" charset="-34"/>
                <a:cs typeface="IrisUPC" panose="020B0604020202020204" pitchFamily="34" charset="-34"/>
              </a:rPr>
              <a:t>E</a:t>
            </a:r>
          </a:p>
        </p:txBody>
      </p:sp>
      <p:sp>
        <p:nvSpPr>
          <p:cNvPr id="83" name="TextBox 82">
            <a:extLst>
              <a:ext uri="{FF2B5EF4-FFF2-40B4-BE49-F238E27FC236}">
                <a16:creationId xmlns:a16="http://schemas.microsoft.com/office/drawing/2014/main" id="{367801B5-2E4B-A148-5621-F52F32848FC1}"/>
              </a:ext>
            </a:extLst>
          </p:cNvPr>
          <p:cNvSpPr txBox="1"/>
          <p:nvPr/>
        </p:nvSpPr>
        <p:spPr>
          <a:xfrm>
            <a:off x="10708121" y="3709966"/>
            <a:ext cx="348172" cy="400110"/>
          </a:xfrm>
          <a:prstGeom prst="rect">
            <a:avLst/>
          </a:prstGeom>
          <a:noFill/>
        </p:spPr>
        <p:txBody>
          <a:bodyPr wrap="none" rtlCol="0">
            <a:spAutoFit/>
          </a:bodyPr>
          <a:lstStyle/>
          <a:p>
            <a:r>
              <a:rPr lang="en-US" sz="2000" dirty="0">
                <a:latin typeface="IrisUPC" panose="020B0604020202020204" pitchFamily="34" charset="-34"/>
                <a:cs typeface="IrisUPC" panose="020B0604020202020204" pitchFamily="34" charset="-34"/>
              </a:rPr>
              <a:t>W</a:t>
            </a:r>
          </a:p>
        </p:txBody>
      </p:sp>
      <p:pic>
        <p:nvPicPr>
          <p:cNvPr id="84" name="Picture 83" descr="A black background with a black square&#10;&#10;AI-generated content may be incorrect.">
            <a:hlinkClick r:id="rId8" action="ppaction://hlinksldjump"/>
            <a:extLst>
              <a:ext uri="{FF2B5EF4-FFF2-40B4-BE49-F238E27FC236}">
                <a16:creationId xmlns:a16="http://schemas.microsoft.com/office/drawing/2014/main" id="{982DF5DF-5818-36C9-7522-9C4871EE2739}"/>
              </a:ext>
            </a:extLst>
          </p:cNvPr>
          <p:cNvPicPr>
            <a:picLocks noChangeAspect="1"/>
          </p:cNvPicPr>
          <p:nvPr/>
        </p:nvPicPr>
        <p:blipFill>
          <a:blip r:embed="rId9"/>
          <a:stretch>
            <a:fillRect/>
          </a:stretch>
        </p:blipFill>
        <p:spPr>
          <a:xfrm>
            <a:off x="11787980" y="68927"/>
            <a:ext cx="288000" cy="288000"/>
          </a:xfrm>
          <a:prstGeom prst="rect">
            <a:avLst/>
          </a:prstGeom>
        </p:spPr>
      </p:pic>
    </p:spTree>
    <p:extLst>
      <p:ext uri="{BB962C8B-B14F-4D97-AF65-F5344CB8AC3E}">
        <p14:creationId xmlns:p14="http://schemas.microsoft.com/office/powerpoint/2010/main" val="4404836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61C21B-05D9-4379-D744-9D82E980B03E}"/>
            </a:ext>
          </a:extLst>
        </p:cNvPr>
        <p:cNvGrpSpPr/>
        <p:nvPr/>
      </p:nvGrpSpPr>
      <p:grpSpPr>
        <a:xfrm>
          <a:off x="0" y="0"/>
          <a:ext cx="0" cy="0"/>
          <a:chOff x="0" y="0"/>
          <a:chExt cx="0" cy="0"/>
        </a:xfrm>
      </p:grpSpPr>
      <p:pic>
        <p:nvPicPr>
          <p:cNvPr id="5" name="Picture 4" descr="A blue sky with clouds&#10;&#10;AI-generated content may be incorrect.">
            <a:extLst>
              <a:ext uri="{FF2B5EF4-FFF2-40B4-BE49-F238E27FC236}">
                <a16:creationId xmlns:a16="http://schemas.microsoft.com/office/drawing/2014/main" id="{4C138710-7F5F-D2DD-C3E0-5568D1FEA87C}"/>
              </a:ext>
            </a:extLst>
          </p:cNvPr>
          <p:cNvPicPr>
            <a:picLocks noChangeAspect="1"/>
          </p:cNvPicPr>
          <p:nvPr/>
        </p:nvPicPr>
        <p:blipFill>
          <a:blip r:embed="rId2"/>
          <a:srcRect b="15747"/>
          <a:stretch>
            <a:fillRect/>
          </a:stretch>
        </p:blipFill>
        <p:spPr>
          <a:xfrm>
            <a:off x="-1504" y="0"/>
            <a:ext cx="12191980" cy="6856718"/>
          </a:xfrm>
          <a:prstGeom prst="rect">
            <a:avLst/>
          </a:prstGeom>
        </p:spPr>
      </p:pic>
      <p:sp>
        <p:nvSpPr>
          <p:cNvPr id="30" name="TextBox 29">
            <a:extLst>
              <a:ext uri="{FF2B5EF4-FFF2-40B4-BE49-F238E27FC236}">
                <a16:creationId xmlns:a16="http://schemas.microsoft.com/office/drawing/2014/main" id="{36892022-7890-7FD0-D5B2-0B678DEEE24B}"/>
              </a:ext>
            </a:extLst>
          </p:cNvPr>
          <p:cNvSpPr txBox="1"/>
          <p:nvPr/>
        </p:nvSpPr>
        <p:spPr>
          <a:xfrm>
            <a:off x="3563317" y="-634650"/>
            <a:ext cx="4884671" cy="3154710"/>
          </a:xfrm>
          <a:prstGeom prst="rect">
            <a:avLst/>
          </a:prstGeom>
          <a:noFill/>
        </p:spPr>
        <p:txBody>
          <a:bodyPr wrap="none" rtlCol="0">
            <a:spAutoFit/>
          </a:bodyPr>
          <a:lstStyle/>
          <a:p>
            <a:pPr algn="ctr"/>
            <a:r>
              <a:rPr lang="en-US" sz="19900" b="1" dirty="0">
                <a:latin typeface="IrisUPC" panose="020B0604020202020204" pitchFamily="34" charset="-34"/>
                <a:cs typeface="IrisUPC" panose="020B0604020202020204" pitchFamily="34" charset="-34"/>
              </a:rPr>
              <a:t>TABLE</a:t>
            </a:r>
          </a:p>
        </p:txBody>
      </p:sp>
      <p:sp>
        <p:nvSpPr>
          <p:cNvPr id="31" name="TextBox 30">
            <a:extLst>
              <a:ext uri="{FF2B5EF4-FFF2-40B4-BE49-F238E27FC236}">
                <a16:creationId xmlns:a16="http://schemas.microsoft.com/office/drawing/2014/main" id="{5A5AA154-45FF-0CDB-5398-22D830D5184F}"/>
              </a:ext>
            </a:extLst>
          </p:cNvPr>
          <p:cNvSpPr txBox="1"/>
          <p:nvPr/>
        </p:nvSpPr>
        <p:spPr>
          <a:xfrm>
            <a:off x="6840021" y="1528461"/>
            <a:ext cx="2219967" cy="461665"/>
          </a:xfrm>
          <a:prstGeom prst="rect">
            <a:avLst/>
          </a:prstGeom>
          <a:noFill/>
        </p:spPr>
        <p:txBody>
          <a:bodyPr wrap="none" rtlCol="0">
            <a:spAutoFit/>
          </a:bodyPr>
          <a:lstStyle/>
          <a:p>
            <a:r>
              <a:rPr lang="en-US" sz="2400" b="1" dirty="0">
                <a:latin typeface="Avenir Next Heavy" panose="020B0503020202020204" pitchFamily="34" charset="0"/>
              </a:rPr>
              <a:t>OF CONTENT</a:t>
            </a:r>
          </a:p>
        </p:txBody>
      </p:sp>
      <p:grpSp>
        <p:nvGrpSpPr>
          <p:cNvPr id="56" name="Group 55">
            <a:extLst>
              <a:ext uri="{FF2B5EF4-FFF2-40B4-BE49-F238E27FC236}">
                <a16:creationId xmlns:a16="http://schemas.microsoft.com/office/drawing/2014/main" id="{3C11CD8C-8864-A963-878F-6D17B1B808B2}"/>
              </a:ext>
            </a:extLst>
          </p:cNvPr>
          <p:cNvGrpSpPr/>
          <p:nvPr/>
        </p:nvGrpSpPr>
        <p:grpSpPr>
          <a:xfrm>
            <a:off x="6419425" y="2528421"/>
            <a:ext cx="1224000" cy="1188000"/>
            <a:chOff x="6419425" y="2840151"/>
            <a:chExt cx="1224000" cy="1188000"/>
          </a:xfrm>
        </p:grpSpPr>
        <p:sp>
          <p:nvSpPr>
            <p:cNvPr id="22" name="Rectangle 21">
              <a:extLst>
                <a:ext uri="{FF2B5EF4-FFF2-40B4-BE49-F238E27FC236}">
                  <a16:creationId xmlns:a16="http://schemas.microsoft.com/office/drawing/2014/main" id="{8EEECEBC-7772-B0B7-F574-53CAFD0F683B}"/>
                </a:ext>
              </a:extLst>
            </p:cNvPr>
            <p:cNvSpPr>
              <a:spLocks noChangeAspect="1"/>
            </p:cNvSpPr>
            <p:nvPr/>
          </p:nvSpPr>
          <p:spPr>
            <a:xfrm>
              <a:off x="6419425" y="2877109"/>
              <a:ext cx="1224000" cy="1128107"/>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Picture 46" descr="A black background with a black square&#10;&#10;AI-generated content may be incorrect.">
              <a:hlinkClick r:id="rId4" action="ppaction://hlinksldjump"/>
              <a:extLst>
                <a:ext uri="{FF2B5EF4-FFF2-40B4-BE49-F238E27FC236}">
                  <a16:creationId xmlns:a16="http://schemas.microsoft.com/office/drawing/2014/main" id="{8E3AF06A-6330-0966-1391-DDD29A423107}"/>
                </a:ext>
              </a:extLst>
            </p:cNvPr>
            <p:cNvPicPr>
              <a:picLocks noChangeAspect="1"/>
            </p:cNvPicPr>
            <p:nvPr/>
          </p:nvPicPr>
          <p:blipFill>
            <a:blip r:embed="rId3"/>
            <a:stretch>
              <a:fillRect/>
            </a:stretch>
          </p:blipFill>
          <p:spPr>
            <a:xfrm>
              <a:off x="6431982" y="2840151"/>
              <a:ext cx="1188000" cy="1188000"/>
            </a:xfrm>
            <a:prstGeom prst="rect">
              <a:avLst/>
            </a:prstGeom>
          </p:spPr>
        </p:pic>
      </p:grpSp>
      <p:grpSp>
        <p:nvGrpSpPr>
          <p:cNvPr id="55" name="Group 54">
            <a:extLst>
              <a:ext uri="{FF2B5EF4-FFF2-40B4-BE49-F238E27FC236}">
                <a16:creationId xmlns:a16="http://schemas.microsoft.com/office/drawing/2014/main" id="{4B9C0B1F-E3D9-E220-79BB-76793CDE0FC9}"/>
              </a:ext>
            </a:extLst>
          </p:cNvPr>
          <p:cNvGrpSpPr/>
          <p:nvPr/>
        </p:nvGrpSpPr>
        <p:grpSpPr>
          <a:xfrm>
            <a:off x="7835988" y="2513114"/>
            <a:ext cx="1226109" cy="1224000"/>
            <a:chOff x="7835988" y="2700152"/>
            <a:chExt cx="1226109" cy="1224000"/>
          </a:xfrm>
        </p:grpSpPr>
        <p:sp>
          <p:nvSpPr>
            <p:cNvPr id="12" name="Rectangle 11">
              <a:extLst>
                <a:ext uri="{FF2B5EF4-FFF2-40B4-BE49-F238E27FC236}">
                  <a16:creationId xmlns:a16="http://schemas.microsoft.com/office/drawing/2014/main" id="{5D82CE46-0BE0-217B-FB56-D3CD788FA3CA}"/>
                </a:ext>
              </a:extLst>
            </p:cNvPr>
            <p:cNvSpPr>
              <a:spLocks noChangeAspect="1"/>
            </p:cNvSpPr>
            <p:nvPr/>
          </p:nvSpPr>
          <p:spPr>
            <a:xfrm>
              <a:off x="7835988" y="2744111"/>
              <a:ext cx="1224000" cy="1128107"/>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Picture 48" descr="A black background with a black square&#10;&#10;AI-generated content may be incorrect.">
              <a:hlinkClick r:id="rId6" action="ppaction://hlinksldjump"/>
              <a:extLst>
                <a:ext uri="{FF2B5EF4-FFF2-40B4-BE49-F238E27FC236}">
                  <a16:creationId xmlns:a16="http://schemas.microsoft.com/office/drawing/2014/main" id="{660B37B4-28A7-23F2-1185-86583EA4DD1A}"/>
                </a:ext>
              </a:extLst>
            </p:cNvPr>
            <p:cNvPicPr>
              <a:picLocks noChangeAspect="1"/>
            </p:cNvPicPr>
            <p:nvPr/>
          </p:nvPicPr>
          <p:blipFill>
            <a:blip r:embed="rId5"/>
            <a:stretch>
              <a:fillRect/>
            </a:stretch>
          </p:blipFill>
          <p:spPr>
            <a:xfrm>
              <a:off x="7838097" y="2700152"/>
              <a:ext cx="1224000" cy="1224000"/>
            </a:xfrm>
            <a:prstGeom prst="rect">
              <a:avLst/>
            </a:prstGeom>
          </p:spPr>
        </p:pic>
      </p:grpSp>
      <p:grpSp>
        <p:nvGrpSpPr>
          <p:cNvPr id="54" name="Group 53">
            <a:extLst>
              <a:ext uri="{FF2B5EF4-FFF2-40B4-BE49-F238E27FC236}">
                <a16:creationId xmlns:a16="http://schemas.microsoft.com/office/drawing/2014/main" id="{CCCFBC7E-DFD2-CD43-C424-753142E7F871}"/>
              </a:ext>
            </a:extLst>
          </p:cNvPr>
          <p:cNvGrpSpPr/>
          <p:nvPr/>
        </p:nvGrpSpPr>
        <p:grpSpPr>
          <a:xfrm>
            <a:off x="4932470" y="2560781"/>
            <a:ext cx="1224000" cy="1152000"/>
            <a:chOff x="4932470" y="2872511"/>
            <a:chExt cx="1224000" cy="1152000"/>
          </a:xfrm>
        </p:grpSpPr>
        <p:sp>
          <p:nvSpPr>
            <p:cNvPr id="24" name="Rectangle 23">
              <a:extLst>
                <a:ext uri="{FF2B5EF4-FFF2-40B4-BE49-F238E27FC236}">
                  <a16:creationId xmlns:a16="http://schemas.microsoft.com/office/drawing/2014/main" id="{F6A9E9E4-DF13-9205-5B13-EACD418ADA21}"/>
                </a:ext>
              </a:extLst>
            </p:cNvPr>
            <p:cNvSpPr>
              <a:spLocks noChangeAspect="1"/>
            </p:cNvSpPr>
            <p:nvPr/>
          </p:nvSpPr>
          <p:spPr>
            <a:xfrm>
              <a:off x="4932470" y="2880930"/>
              <a:ext cx="1224000" cy="1128107"/>
            </a:xfrm>
            <a:prstGeom prst="rect">
              <a:avLst/>
            </a:prstGeom>
            <a:blipFill dpi="0" rotWithShape="1">
              <a:blip r:embed="rId7">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50" descr="A black background with a black square&#10;&#10;AI-generated content may be incorrect.">
              <a:hlinkClick r:id="rId8" action="ppaction://hlinksldjump"/>
              <a:extLst>
                <a:ext uri="{FF2B5EF4-FFF2-40B4-BE49-F238E27FC236}">
                  <a16:creationId xmlns:a16="http://schemas.microsoft.com/office/drawing/2014/main" id="{F4DB71E6-D6EA-2A9A-FF7D-318753632012}"/>
                </a:ext>
              </a:extLst>
            </p:cNvPr>
            <p:cNvPicPr>
              <a:picLocks noChangeAspect="1"/>
            </p:cNvPicPr>
            <p:nvPr/>
          </p:nvPicPr>
          <p:blipFill>
            <a:blip r:embed="rId7"/>
            <a:stretch>
              <a:fillRect/>
            </a:stretch>
          </p:blipFill>
          <p:spPr>
            <a:xfrm>
              <a:off x="4969339" y="2872511"/>
              <a:ext cx="1152000" cy="1152000"/>
            </a:xfrm>
            <a:prstGeom prst="rect">
              <a:avLst/>
            </a:prstGeom>
          </p:spPr>
        </p:pic>
      </p:grpSp>
      <p:grpSp>
        <p:nvGrpSpPr>
          <p:cNvPr id="57" name="Group 56">
            <a:extLst>
              <a:ext uri="{FF2B5EF4-FFF2-40B4-BE49-F238E27FC236}">
                <a16:creationId xmlns:a16="http://schemas.microsoft.com/office/drawing/2014/main" id="{80672A7D-5EA7-7403-DC20-3D682C73D943}"/>
              </a:ext>
            </a:extLst>
          </p:cNvPr>
          <p:cNvGrpSpPr/>
          <p:nvPr/>
        </p:nvGrpSpPr>
        <p:grpSpPr>
          <a:xfrm>
            <a:off x="3120056" y="2557995"/>
            <a:ext cx="1224000" cy="1152000"/>
            <a:chOff x="3120056" y="2869725"/>
            <a:chExt cx="1224000" cy="1152000"/>
          </a:xfrm>
        </p:grpSpPr>
        <p:sp>
          <p:nvSpPr>
            <p:cNvPr id="23" name="Rectangle 22">
              <a:extLst>
                <a:ext uri="{FF2B5EF4-FFF2-40B4-BE49-F238E27FC236}">
                  <a16:creationId xmlns:a16="http://schemas.microsoft.com/office/drawing/2014/main" id="{4F364CEF-30B8-3667-3242-8EE13E437165}"/>
                </a:ext>
              </a:extLst>
            </p:cNvPr>
            <p:cNvSpPr>
              <a:spLocks noChangeAspect="1"/>
            </p:cNvSpPr>
            <p:nvPr/>
          </p:nvSpPr>
          <p:spPr>
            <a:xfrm>
              <a:off x="3120056" y="2869725"/>
              <a:ext cx="1224000" cy="1151971"/>
            </a:xfrm>
            <a:prstGeom prst="rect">
              <a:avLst/>
            </a:prstGeom>
            <a:blipFill dpi="0" rotWithShape="1">
              <a:blip r:embed="rId9">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pic>
          <p:nvPicPr>
            <p:cNvPr id="53" name="Picture 52" descr="A black background with a black square&#10;&#10;AI-generated content may be incorrect.">
              <a:hlinkClick r:id="rId10" action="ppaction://hlinksldjump"/>
              <a:extLst>
                <a:ext uri="{FF2B5EF4-FFF2-40B4-BE49-F238E27FC236}">
                  <a16:creationId xmlns:a16="http://schemas.microsoft.com/office/drawing/2014/main" id="{1E79534A-F4F0-7B6F-680B-08FA363A5B3D}"/>
                </a:ext>
              </a:extLst>
            </p:cNvPr>
            <p:cNvPicPr>
              <a:picLocks noChangeAspect="1"/>
            </p:cNvPicPr>
            <p:nvPr/>
          </p:nvPicPr>
          <p:blipFill>
            <a:blip r:embed="rId9"/>
            <a:stretch>
              <a:fillRect/>
            </a:stretch>
          </p:blipFill>
          <p:spPr>
            <a:xfrm>
              <a:off x="3148786" y="2869725"/>
              <a:ext cx="1152000" cy="1152000"/>
            </a:xfrm>
            <a:prstGeom prst="rect">
              <a:avLst/>
            </a:prstGeom>
          </p:spPr>
        </p:pic>
      </p:grpSp>
      <p:sp>
        <p:nvSpPr>
          <p:cNvPr id="2" name="TextBox 1">
            <a:extLst>
              <a:ext uri="{FF2B5EF4-FFF2-40B4-BE49-F238E27FC236}">
                <a16:creationId xmlns:a16="http://schemas.microsoft.com/office/drawing/2014/main" id="{7F8DF7A1-6751-6BCD-5DFF-19AB2BFDB53F}"/>
              </a:ext>
            </a:extLst>
          </p:cNvPr>
          <p:cNvSpPr txBox="1"/>
          <p:nvPr/>
        </p:nvSpPr>
        <p:spPr>
          <a:xfrm>
            <a:off x="6005652" y="-1949211"/>
            <a:ext cx="1029449" cy="2646878"/>
          </a:xfrm>
          <a:prstGeom prst="rect">
            <a:avLst/>
          </a:prstGeom>
          <a:noFill/>
        </p:spPr>
        <p:txBody>
          <a:bodyPr wrap="none" rtlCol="0">
            <a:spAutoFit/>
          </a:bodyPr>
          <a:lstStyle/>
          <a:p>
            <a:r>
              <a:rPr lang="en-US" sz="16600" b="1" dirty="0">
                <a:solidFill>
                  <a:schemeClr val="bg1"/>
                </a:solidFill>
                <a:latin typeface="IrisUPC" panose="020B0604020202020204" pitchFamily="34" charset="-34"/>
                <a:cs typeface="IrisUPC" panose="020B0604020202020204" pitchFamily="34" charset="-34"/>
              </a:rPr>
              <a:t>Y</a:t>
            </a:r>
            <a:endParaRPr lang="en-US" b="1" dirty="0">
              <a:solidFill>
                <a:schemeClr val="bg1"/>
              </a:solidFill>
              <a:latin typeface="IrisUPC" panose="020B0604020202020204" pitchFamily="34" charset="-34"/>
              <a:cs typeface="IrisUPC" panose="020B0604020202020204" pitchFamily="34" charset="-34"/>
            </a:endParaRPr>
          </a:p>
        </p:txBody>
      </p:sp>
      <p:sp>
        <p:nvSpPr>
          <p:cNvPr id="3" name="TextBox 2">
            <a:extLst>
              <a:ext uri="{FF2B5EF4-FFF2-40B4-BE49-F238E27FC236}">
                <a16:creationId xmlns:a16="http://schemas.microsoft.com/office/drawing/2014/main" id="{64DA9119-EE27-1648-3BC7-35BF329AAEA1}"/>
              </a:ext>
            </a:extLst>
          </p:cNvPr>
          <p:cNvSpPr txBox="1"/>
          <p:nvPr/>
        </p:nvSpPr>
        <p:spPr>
          <a:xfrm>
            <a:off x="6684725" y="-1876706"/>
            <a:ext cx="928459" cy="584775"/>
          </a:xfrm>
          <a:prstGeom prst="rect">
            <a:avLst/>
          </a:prstGeom>
          <a:noFill/>
        </p:spPr>
        <p:txBody>
          <a:bodyPr wrap="none" rtlCol="0">
            <a:spAutoFit/>
          </a:bodyPr>
          <a:lstStyle/>
          <a:p>
            <a:r>
              <a:rPr lang="en-US" sz="3200" dirty="0">
                <a:solidFill>
                  <a:schemeClr val="bg1"/>
                </a:solidFill>
                <a:latin typeface="IrisUPC" panose="020B0604020202020204" pitchFamily="34" charset="-34"/>
                <a:cs typeface="IrisUPC" panose="020B0604020202020204" pitchFamily="34" charset="-34"/>
              </a:rPr>
              <a:t>TASKS</a:t>
            </a:r>
          </a:p>
        </p:txBody>
      </p:sp>
      <p:sp>
        <p:nvSpPr>
          <p:cNvPr id="4" name="TextBox 3">
            <a:extLst>
              <a:ext uri="{FF2B5EF4-FFF2-40B4-BE49-F238E27FC236}">
                <a16:creationId xmlns:a16="http://schemas.microsoft.com/office/drawing/2014/main" id="{2C61162B-927A-56F9-DFF7-1BB34F88153C}"/>
              </a:ext>
            </a:extLst>
          </p:cNvPr>
          <p:cNvSpPr txBox="1"/>
          <p:nvPr/>
        </p:nvSpPr>
        <p:spPr>
          <a:xfrm>
            <a:off x="4533014" y="-3493181"/>
            <a:ext cx="1909497" cy="584775"/>
          </a:xfrm>
          <a:prstGeom prst="rect">
            <a:avLst/>
          </a:prstGeom>
          <a:noFill/>
        </p:spPr>
        <p:txBody>
          <a:bodyPr wrap="none" rtlCol="0">
            <a:spAutoFit/>
          </a:bodyPr>
          <a:lstStyle/>
          <a:p>
            <a:r>
              <a:rPr lang="en-US" sz="3200" dirty="0">
                <a:solidFill>
                  <a:schemeClr val="bg1"/>
                </a:solidFill>
                <a:latin typeface="IrisUPC" panose="020B0604020202020204" pitchFamily="34" charset="-34"/>
                <a:cs typeface="IrisUPC" panose="020B0604020202020204" pitchFamily="34" charset="-34"/>
              </a:rPr>
              <a:t>UNDERTAKEN</a:t>
            </a:r>
          </a:p>
        </p:txBody>
      </p:sp>
      <p:pic>
        <p:nvPicPr>
          <p:cNvPr id="6" name="Picture 5" descr="A white cloud of smoke&#10;&#10;AI-generated content may be incorrect.">
            <a:extLst>
              <a:ext uri="{FF2B5EF4-FFF2-40B4-BE49-F238E27FC236}">
                <a16:creationId xmlns:a16="http://schemas.microsoft.com/office/drawing/2014/main" id="{D9D1486E-214D-6820-CE65-7D1FD8DA6D33}"/>
              </a:ext>
            </a:extLst>
          </p:cNvPr>
          <p:cNvPicPr>
            <a:picLocks noChangeAspect="1"/>
          </p:cNvPicPr>
          <p:nvPr/>
        </p:nvPicPr>
        <p:blipFill>
          <a:blip r:embed="rId11">
            <a:alphaModFix amt="55000"/>
          </a:blip>
          <a:stretch>
            <a:fillRect/>
          </a:stretch>
        </p:blipFill>
        <p:spPr>
          <a:xfrm>
            <a:off x="-7230580" y="-686795"/>
            <a:ext cx="7772400" cy="4371975"/>
          </a:xfrm>
          <a:prstGeom prst="rect">
            <a:avLst/>
          </a:prstGeom>
        </p:spPr>
      </p:pic>
      <p:sp>
        <p:nvSpPr>
          <p:cNvPr id="8" name="TextBox 7">
            <a:extLst>
              <a:ext uri="{FF2B5EF4-FFF2-40B4-BE49-F238E27FC236}">
                <a16:creationId xmlns:a16="http://schemas.microsoft.com/office/drawing/2014/main" id="{AABF231D-D148-B3D5-EE23-476B1A424B5F}"/>
              </a:ext>
            </a:extLst>
          </p:cNvPr>
          <p:cNvSpPr txBox="1"/>
          <p:nvPr/>
        </p:nvSpPr>
        <p:spPr>
          <a:xfrm>
            <a:off x="582245" y="7039640"/>
            <a:ext cx="11608231" cy="4431983"/>
          </a:xfrm>
          <a:prstGeom prst="rect">
            <a:avLst/>
          </a:prstGeom>
          <a:noFill/>
        </p:spPr>
        <p:txBody>
          <a:bodyPr wrap="square" rtlCol="0">
            <a:spAutoFit/>
          </a:bodyPr>
          <a:lstStyle/>
          <a:p>
            <a:pPr algn="ctr"/>
            <a:r>
              <a:rPr lang="en-IN" sz="2400" dirty="0">
                <a:solidFill>
                  <a:srgbClr val="FFFF00"/>
                </a:solidFill>
                <a:latin typeface="IrisUPC" panose="020B0604020202020204" pitchFamily="34" charset="-34"/>
                <a:cs typeface="IrisUPC" panose="020B0604020202020204" pitchFamily="34" charset="-34"/>
              </a:rPr>
              <a:t>Reviewed and analysed RBI’s ODI circulars, equity remittance procedures, and supporting documents including valuation reports.</a:t>
            </a:r>
          </a:p>
          <a:p>
            <a:pPr algn="ctr"/>
            <a:r>
              <a:rPr lang="en-IN" sz="2400" dirty="0">
                <a:solidFill>
                  <a:srgbClr val="FFFF00"/>
                </a:solidFill>
                <a:latin typeface="IrisUPC" panose="020B0604020202020204" pitchFamily="34" charset="-34"/>
                <a:cs typeface="IrisUPC" panose="020B0604020202020204" pitchFamily="34" charset="-34"/>
              </a:rPr>
              <a:t>Studied facility agreements, term sheets, and financial covenants for international borrowing processes, gaining exposure to the borrowing process and compliance requirements for loans taken by IGE UK for hotel refurbishments and capital expenditure.</a:t>
            </a:r>
          </a:p>
          <a:p>
            <a:pPr algn="ctr"/>
            <a:r>
              <a:rPr lang="en-IN" sz="2400" dirty="0">
                <a:solidFill>
                  <a:srgbClr val="FFFF00"/>
                </a:solidFill>
                <a:latin typeface="IrisUPC" panose="020B0604020202020204" pitchFamily="34" charset="-34"/>
                <a:cs typeface="IrisUPC" panose="020B0604020202020204" pitchFamily="34" charset="-34"/>
              </a:rPr>
              <a:t>Researched AIF (Alternative Investment Funds) regulations and their relevance to treasury operations.</a:t>
            </a:r>
          </a:p>
          <a:p>
            <a:pPr algn="ctr"/>
            <a:r>
              <a:rPr lang="en-IN" sz="2400" dirty="0">
                <a:solidFill>
                  <a:schemeClr val="bg1"/>
                </a:solidFill>
                <a:latin typeface="IrisUPC" panose="020B0604020202020204" pitchFamily="34" charset="-34"/>
                <a:cs typeface="IrisUPC" panose="020B0604020202020204" pitchFamily="34" charset="-34"/>
              </a:rPr>
              <a:t>Gained knowledge on LIBOR to SOFR transition and its impact on foreign borrowings.</a:t>
            </a:r>
          </a:p>
          <a:p>
            <a:pPr algn="ctr"/>
            <a:r>
              <a:rPr lang="en-IN" sz="2400" dirty="0">
                <a:solidFill>
                  <a:schemeClr val="bg1"/>
                </a:solidFill>
                <a:latin typeface="IrisUPC" panose="020B0604020202020204" pitchFamily="34" charset="-34"/>
                <a:cs typeface="IrisUPC" panose="020B0604020202020204" pitchFamily="34" charset="-34"/>
              </a:rPr>
              <a:t>Learned about hedging strategies, including interest rate hedging and cross-currency swaps for risk management.</a:t>
            </a:r>
          </a:p>
          <a:p>
            <a:pPr algn="ctr"/>
            <a:r>
              <a:rPr lang="en-IN" sz="2400" dirty="0">
                <a:solidFill>
                  <a:schemeClr val="bg1"/>
                </a:solidFill>
                <a:latin typeface="IrisUPC" panose="020B0604020202020204" pitchFamily="34" charset="-34"/>
                <a:cs typeface="IrisUPC" panose="020B0604020202020204" pitchFamily="34" charset="-34"/>
              </a:rPr>
              <a:t>Worked on EMIR reporting, assisting in preparing, reviewing, and reconciling trades reported under regulatory requirements.</a:t>
            </a:r>
          </a:p>
          <a:p>
            <a:pPr algn="ctr"/>
            <a:r>
              <a:rPr lang="en-IN" sz="2400" dirty="0">
                <a:solidFill>
                  <a:srgbClr val="FFFF00"/>
                </a:solidFill>
                <a:latin typeface="IrisUPC" panose="020B0604020202020204" pitchFamily="34" charset="-34"/>
                <a:cs typeface="IrisUPC" panose="020B0604020202020204" pitchFamily="34" charset="-34"/>
              </a:rPr>
              <a:t>Assisted in MIS reporting, generating performance summaries for the international hotels portfolio.</a:t>
            </a:r>
          </a:p>
          <a:p>
            <a:pPr algn="ctr"/>
            <a:r>
              <a:rPr lang="en-IN" sz="2400" dirty="0">
                <a:solidFill>
                  <a:srgbClr val="FFFF00"/>
                </a:solidFill>
                <a:latin typeface="IrisUPC" panose="020B0604020202020204" pitchFamily="34" charset="-34"/>
                <a:cs typeface="IrisUPC" panose="020B0604020202020204" pitchFamily="34" charset="-34"/>
              </a:rPr>
              <a:t>Managed interest invoices, including reconciling bank interest payments with loan schedules.</a:t>
            </a:r>
          </a:p>
          <a:p>
            <a:pPr algn="ctr"/>
            <a:r>
              <a:rPr lang="en-IN" sz="2400" dirty="0">
                <a:solidFill>
                  <a:schemeClr val="tx1">
                    <a:lumMod val="95000"/>
                    <a:lumOff val="5000"/>
                  </a:schemeClr>
                </a:solidFill>
                <a:latin typeface="IrisUPC" panose="020B0604020202020204" pitchFamily="34" charset="-34"/>
                <a:cs typeface="IrisUPC" panose="020B0604020202020204" pitchFamily="34" charset="-34"/>
              </a:rPr>
              <a:t>Contributed to international reporting tasks and updated corporate financial presentations (corporate deck) for management.</a:t>
            </a:r>
          </a:p>
          <a:p>
            <a:pPr algn="ctr"/>
            <a:r>
              <a:rPr lang="en-IN" sz="2400" dirty="0">
                <a:solidFill>
                  <a:schemeClr val="tx1">
                    <a:lumMod val="95000"/>
                    <a:lumOff val="5000"/>
                  </a:schemeClr>
                </a:solidFill>
                <a:latin typeface="IrisUPC" panose="020B0604020202020204" pitchFamily="34" charset="-34"/>
                <a:cs typeface="IrisUPC" panose="020B0604020202020204" pitchFamily="34" charset="-34"/>
              </a:rPr>
              <a:t>Recorded and maintained Fixed Deposit (FD) details in treasury systems to support internal tracking and reporting</a:t>
            </a:r>
            <a:r>
              <a:rPr lang="en-IN" sz="2400" dirty="0">
                <a:solidFill>
                  <a:schemeClr val="bg1"/>
                </a:solidFill>
                <a:latin typeface="IrisUPC" panose="020B0604020202020204" pitchFamily="34" charset="-34"/>
                <a:cs typeface="IrisUPC" panose="020B0604020202020204" pitchFamily="34" charset="-34"/>
              </a:rPr>
              <a:t>.</a:t>
            </a:r>
          </a:p>
          <a:p>
            <a:endParaRPr lang="en-US" dirty="0"/>
          </a:p>
        </p:txBody>
      </p:sp>
      <p:sp>
        <p:nvSpPr>
          <p:cNvPr id="26" name="TextBox 25">
            <a:extLst>
              <a:ext uri="{FF2B5EF4-FFF2-40B4-BE49-F238E27FC236}">
                <a16:creationId xmlns:a16="http://schemas.microsoft.com/office/drawing/2014/main" id="{5F65158F-B5D7-E2B5-CEC6-C90F510D4F96}"/>
              </a:ext>
            </a:extLst>
          </p:cNvPr>
          <p:cNvSpPr txBox="1"/>
          <p:nvPr/>
        </p:nvSpPr>
        <p:spPr>
          <a:xfrm>
            <a:off x="3786061" y="-1930162"/>
            <a:ext cx="1029449" cy="2646878"/>
          </a:xfrm>
          <a:prstGeom prst="rect">
            <a:avLst/>
          </a:prstGeom>
          <a:noFill/>
        </p:spPr>
        <p:txBody>
          <a:bodyPr wrap="none" rtlCol="0">
            <a:spAutoFit/>
          </a:bodyPr>
          <a:lstStyle/>
          <a:p>
            <a:r>
              <a:rPr lang="en-US" sz="16600" b="1" dirty="0">
                <a:solidFill>
                  <a:schemeClr val="bg1"/>
                </a:solidFill>
                <a:latin typeface="IrisUPC" panose="020B0604020202020204" pitchFamily="34" charset="-34"/>
                <a:cs typeface="IrisUPC" panose="020B0604020202020204" pitchFamily="34" charset="-34"/>
              </a:rPr>
              <a:t>K</a:t>
            </a:r>
          </a:p>
        </p:txBody>
      </p:sp>
      <p:pic>
        <p:nvPicPr>
          <p:cNvPr id="41" name="Picture 40" descr="A black background with a black square&#10;&#10;AI-generated content may be incorrect.">
            <a:hlinkClick r:id="rId12" action="ppaction://hlinksldjump"/>
            <a:extLst>
              <a:ext uri="{FF2B5EF4-FFF2-40B4-BE49-F238E27FC236}">
                <a16:creationId xmlns:a16="http://schemas.microsoft.com/office/drawing/2014/main" id="{9FFF29D7-425D-B22E-63B5-5CCEA6FEE482}"/>
              </a:ext>
            </a:extLst>
          </p:cNvPr>
          <p:cNvPicPr>
            <a:picLocks noChangeAspect="1"/>
          </p:cNvPicPr>
          <p:nvPr/>
        </p:nvPicPr>
        <p:blipFill>
          <a:blip r:embed="rId13"/>
          <a:stretch>
            <a:fillRect/>
          </a:stretch>
        </p:blipFill>
        <p:spPr>
          <a:xfrm>
            <a:off x="11787980" y="-421404"/>
            <a:ext cx="288000" cy="288000"/>
          </a:xfrm>
          <a:prstGeom prst="rect">
            <a:avLst/>
          </a:prstGeom>
        </p:spPr>
      </p:pic>
    </p:spTree>
    <p:extLst>
      <p:ext uri="{BB962C8B-B14F-4D97-AF65-F5344CB8AC3E}">
        <p14:creationId xmlns:p14="http://schemas.microsoft.com/office/powerpoint/2010/main" val="22968600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8B0BBD-E808-1975-F941-C1D36E16A70B}"/>
            </a:ext>
          </a:extLst>
        </p:cNvPr>
        <p:cNvGrpSpPr/>
        <p:nvPr/>
      </p:nvGrpSpPr>
      <p:grpSpPr>
        <a:xfrm>
          <a:off x="0" y="0"/>
          <a:ext cx="0" cy="0"/>
          <a:chOff x="0" y="0"/>
          <a:chExt cx="0" cy="0"/>
        </a:xfrm>
      </p:grpSpPr>
      <p:pic>
        <p:nvPicPr>
          <p:cNvPr id="18" name="Picture 17" descr="A white smoke on a black background&#10;&#10;AI-generated content may be incorrect.">
            <a:extLst>
              <a:ext uri="{FF2B5EF4-FFF2-40B4-BE49-F238E27FC236}">
                <a16:creationId xmlns:a16="http://schemas.microsoft.com/office/drawing/2014/main" id="{2097026A-7A95-FD36-AABE-04D1CA064AB2}"/>
              </a:ext>
            </a:extLst>
          </p:cNvPr>
          <p:cNvPicPr>
            <a:picLocks noChangeAspect="1"/>
          </p:cNvPicPr>
          <p:nvPr/>
        </p:nvPicPr>
        <p:blipFill>
          <a:blip r:embed="rId2"/>
          <a:stretch>
            <a:fillRect/>
          </a:stretch>
        </p:blipFill>
        <p:spPr>
          <a:xfrm>
            <a:off x="525039" y="737978"/>
            <a:ext cx="3340100" cy="1879600"/>
          </a:xfrm>
          <a:prstGeom prst="rect">
            <a:avLst/>
          </a:prstGeom>
        </p:spPr>
      </p:pic>
      <p:pic>
        <p:nvPicPr>
          <p:cNvPr id="5" name="Picture 4" descr="A blue sky with clouds&#10;&#10;AI-generated content may be incorrect.">
            <a:extLst>
              <a:ext uri="{FF2B5EF4-FFF2-40B4-BE49-F238E27FC236}">
                <a16:creationId xmlns:a16="http://schemas.microsoft.com/office/drawing/2014/main" id="{1651D1F3-9DEA-60EF-98F9-C10D118F0532}"/>
              </a:ext>
            </a:extLst>
          </p:cNvPr>
          <p:cNvPicPr>
            <a:picLocks noChangeAspect="1"/>
          </p:cNvPicPr>
          <p:nvPr/>
        </p:nvPicPr>
        <p:blipFill>
          <a:blip r:embed="rId3"/>
          <a:srcRect b="15747"/>
          <a:stretch>
            <a:fillRect/>
          </a:stretch>
        </p:blipFill>
        <p:spPr>
          <a:xfrm>
            <a:off x="-1504" y="0"/>
            <a:ext cx="12191980" cy="6856718"/>
          </a:xfrm>
          <a:prstGeom prst="rect">
            <a:avLst/>
          </a:prstGeom>
        </p:spPr>
      </p:pic>
      <p:sp>
        <p:nvSpPr>
          <p:cNvPr id="30" name="TextBox 29">
            <a:extLst>
              <a:ext uri="{FF2B5EF4-FFF2-40B4-BE49-F238E27FC236}">
                <a16:creationId xmlns:a16="http://schemas.microsoft.com/office/drawing/2014/main" id="{3CF99CF2-A411-99F3-0313-B9AB29F18120}"/>
              </a:ext>
            </a:extLst>
          </p:cNvPr>
          <p:cNvSpPr txBox="1"/>
          <p:nvPr/>
        </p:nvSpPr>
        <p:spPr>
          <a:xfrm>
            <a:off x="3563317" y="-5206650"/>
            <a:ext cx="4884671" cy="3154710"/>
          </a:xfrm>
          <a:prstGeom prst="rect">
            <a:avLst/>
          </a:prstGeom>
          <a:noFill/>
        </p:spPr>
        <p:txBody>
          <a:bodyPr wrap="none" rtlCol="0">
            <a:spAutoFit/>
          </a:bodyPr>
          <a:lstStyle/>
          <a:p>
            <a:pPr algn="ctr"/>
            <a:r>
              <a:rPr lang="en-US" sz="19900" b="1" dirty="0">
                <a:latin typeface="IrisUPC" panose="020B0604020202020204" pitchFamily="34" charset="-34"/>
                <a:cs typeface="IrisUPC" panose="020B0604020202020204" pitchFamily="34" charset="-34"/>
              </a:rPr>
              <a:t>TABLE</a:t>
            </a:r>
          </a:p>
        </p:txBody>
      </p:sp>
      <p:sp>
        <p:nvSpPr>
          <p:cNvPr id="31" name="TextBox 30">
            <a:extLst>
              <a:ext uri="{FF2B5EF4-FFF2-40B4-BE49-F238E27FC236}">
                <a16:creationId xmlns:a16="http://schemas.microsoft.com/office/drawing/2014/main" id="{EA4E85B9-C8E4-FB9D-71D7-6EDA14E69BF1}"/>
              </a:ext>
            </a:extLst>
          </p:cNvPr>
          <p:cNvSpPr txBox="1"/>
          <p:nvPr/>
        </p:nvSpPr>
        <p:spPr>
          <a:xfrm>
            <a:off x="6840021" y="-2891139"/>
            <a:ext cx="2219967" cy="461665"/>
          </a:xfrm>
          <a:prstGeom prst="rect">
            <a:avLst/>
          </a:prstGeom>
          <a:noFill/>
        </p:spPr>
        <p:txBody>
          <a:bodyPr wrap="none" rtlCol="0">
            <a:spAutoFit/>
          </a:bodyPr>
          <a:lstStyle/>
          <a:p>
            <a:r>
              <a:rPr lang="en-US" sz="2400" b="1" dirty="0">
                <a:latin typeface="Avenir Next Heavy" panose="020B0503020202020204" pitchFamily="34" charset="0"/>
              </a:rPr>
              <a:t>OF CONTENT</a:t>
            </a:r>
          </a:p>
        </p:txBody>
      </p:sp>
      <p:grpSp>
        <p:nvGrpSpPr>
          <p:cNvPr id="56" name="Group 55">
            <a:extLst>
              <a:ext uri="{FF2B5EF4-FFF2-40B4-BE49-F238E27FC236}">
                <a16:creationId xmlns:a16="http://schemas.microsoft.com/office/drawing/2014/main" id="{AC8CC3A9-8276-F934-B9D4-1A07B2C5BC66}"/>
              </a:ext>
            </a:extLst>
          </p:cNvPr>
          <p:cNvGrpSpPr/>
          <p:nvPr/>
        </p:nvGrpSpPr>
        <p:grpSpPr>
          <a:xfrm>
            <a:off x="6419425" y="7405221"/>
            <a:ext cx="1224000" cy="1188000"/>
            <a:chOff x="6419425" y="2840151"/>
            <a:chExt cx="1224000" cy="1188000"/>
          </a:xfrm>
        </p:grpSpPr>
        <p:sp>
          <p:nvSpPr>
            <p:cNvPr id="22" name="Rectangle 21">
              <a:extLst>
                <a:ext uri="{FF2B5EF4-FFF2-40B4-BE49-F238E27FC236}">
                  <a16:creationId xmlns:a16="http://schemas.microsoft.com/office/drawing/2014/main" id="{8CB3699C-DB0C-9612-0144-3F273FEAEBC1}"/>
                </a:ext>
              </a:extLst>
            </p:cNvPr>
            <p:cNvSpPr>
              <a:spLocks noChangeAspect="1"/>
            </p:cNvSpPr>
            <p:nvPr/>
          </p:nvSpPr>
          <p:spPr>
            <a:xfrm>
              <a:off x="6419425" y="2877109"/>
              <a:ext cx="1224000" cy="1128107"/>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Picture 46" descr="A black background with a black square&#10;&#10;AI-generated content may be incorrect.">
              <a:extLst>
                <a:ext uri="{FF2B5EF4-FFF2-40B4-BE49-F238E27FC236}">
                  <a16:creationId xmlns:a16="http://schemas.microsoft.com/office/drawing/2014/main" id="{599FA151-974A-1B72-B0E2-2EEB3515F084}"/>
                </a:ext>
              </a:extLst>
            </p:cNvPr>
            <p:cNvPicPr>
              <a:picLocks noChangeAspect="1"/>
            </p:cNvPicPr>
            <p:nvPr/>
          </p:nvPicPr>
          <p:blipFill>
            <a:blip r:embed="rId4"/>
            <a:stretch>
              <a:fillRect/>
            </a:stretch>
          </p:blipFill>
          <p:spPr>
            <a:xfrm>
              <a:off x="6431982" y="2840151"/>
              <a:ext cx="1188000" cy="1188000"/>
            </a:xfrm>
            <a:prstGeom prst="rect">
              <a:avLst/>
            </a:prstGeom>
          </p:spPr>
        </p:pic>
      </p:grpSp>
      <p:grpSp>
        <p:nvGrpSpPr>
          <p:cNvPr id="55" name="Group 54">
            <a:extLst>
              <a:ext uri="{FF2B5EF4-FFF2-40B4-BE49-F238E27FC236}">
                <a16:creationId xmlns:a16="http://schemas.microsoft.com/office/drawing/2014/main" id="{3E690DFD-C08E-E768-70B9-BAC1B66FAE16}"/>
              </a:ext>
            </a:extLst>
          </p:cNvPr>
          <p:cNvGrpSpPr/>
          <p:nvPr/>
        </p:nvGrpSpPr>
        <p:grpSpPr>
          <a:xfrm>
            <a:off x="7835988" y="7389914"/>
            <a:ext cx="1226109" cy="1224000"/>
            <a:chOff x="7835988" y="2700152"/>
            <a:chExt cx="1226109" cy="1224000"/>
          </a:xfrm>
        </p:grpSpPr>
        <p:sp>
          <p:nvSpPr>
            <p:cNvPr id="12" name="Rectangle 11">
              <a:extLst>
                <a:ext uri="{FF2B5EF4-FFF2-40B4-BE49-F238E27FC236}">
                  <a16:creationId xmlns:a16="http://schemas.microsoft.com/office/drawing/2014/main" id="{BFB2BDE4-4418-98E9-15D3-212847DCA32A}"/>
                </a:ext>
              </a:extLst>
            </p:cNvPr>
            <p:cNvSpPr>
              <a:spLocks noChangeAspect="1"/>
            </p:cNvSpPr>
            <p:nvPr/>
          </p:nvSpPr>
          <p:spPr>
            <a:xfrm>
              <a:off x="7835988" y="2744111"/>
              <a:ext cx="1224000" cy="1128107"/>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Picture 48" descr="A black background with a black square&#10;&#10;AI-generated content may be incorrect.">
              <a:extLst>
                <a:ext uri="{FF2B5EF4-FFF2-40B4-BE49-F238E27FC236}">
                  <a16:creationId xmlns:a16="http://schemas.microsoft.com/office/drawing/2014/main" id="{AAB9FFE0-061C-6791-0337-633569D7D39E}"/>
                </a:ext>
              </a:extLst>
            </p:cNvPr>
            <p:cNvPicPr>
              <a:picLocks noChangeAspect="1"/>
            </p:cNvPicPr>
            <p:nvPr/>
          </p:nvPicPr>
          <p:blipFill>
            <a:blip r:embed="rId5"/>
            <a:stretch>
              <a:fillRect/>
            </a:stretch>
          </p:blipFill>
          <p:spPr>
            <a:xfrm>
              <a:off x="7838097" y="2700152"/>
              <a:ext cx="1224000" cy="1224000"/>
            </a:xfrm>
            <a:prstGeom prst="rect">
              <a:avLst/>
            </a:prstGeom>
          </p:spPr>
        </p:pic>
      </p:grpSp>
      <p:grpSp>
        <p:nvGrpSpPr>
          <p:cNvPr id="54" name="Group 53">
            <a:extLst>
              <a:ext uri="{FF2B5EF4-FFF2-40B4-BE49-F238E27FC236}">
                <a16:creationId xmlns:a16="http://schemas.microsoft.com/office/drawing/2014/main" id="{9DCAE5E4-0369-1346-4A0E-787185AF0D55}"/>
              </a:ext>
            </a:extLst>
          </p:cNvPr>
          <p:cNvGrpSpPr/>
          <p:nvPr/>
        </p:nvGrpSpPr>
        <p:grpSpPr>
          <a:xfrm>
            <a:off x="4932470" y="65231"/>
            <a:ext cx="1224000" cy="1152000"/>
            <a:chOff x="4932470" y="2872511"/>
            <a:chExt cx="1224000" cy="1152000"/>
          </a:xfrm>
        </p:grpSpPr>
        <p:sp>
          <p:nvSpPr>
            <p:cNvPr id="24" name="Rectangle 23">
              <a:extLst>
                <a:ext uri="{FF2B5EF4-FFF2-40B4-BE49-F238E27FC236}">
                  <a16:creationId xmlns:a16="http://schemas.microsoft.com/office/drawing/2014/main" id="{A76DC8F9-AF62-AD72-BD0A-F7458BEFFB8F}"/>
                </a:ext>
              </a:extLst>
            </p:cNvPr>
            <p:cNvSpPr>
              <a:spLocks noChangeAspect="1"/>
            </p:cNvSpPr>
            <p:nvPr/>
          </p:nvSpPr>
          <p:spPr>
            <a:xfrm>
              <a:off x="4932470" y="2880930"/>
              <a:ext cx="1224000" cy="1128107"/>
            </a:xfrm>
            <a:prstGeom prst="rect">
              <a:avLst/>
            </a:prstGeom>
            <a:blipFill dpi="0" rotWithShape="1">
              <a:blip r:embed="rId6">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50" descr="A black background with a black square&#10;&#10;AI-generated content may be incorrect.">
              <a:extLst>
                <a:ext uri="{FF2B5EF4-FFF2-40B4-BE49-F238E27FC236}">
                  <a16:creationId xmlns:a16="http://schemas.microsoft.com/office/drawing/2014/main" id="{DF6ACD9A-0B2E-A03E-3B32-A5958097AAF4}"/>
                </a:ext>
              </a:extLst>
            </p:cNvPr>
            <p:cNvPicPr>
              <a:picLocks noChangeAspect="1"/>
            </p:cNvPicPr>
            <p:nvPr/>
          </p:nvPicPr>
          <p:blipFill>
            <a:blip r:embed="rId6"/>
            <a:stretch>
              <a:fillRect/>
            </a:stretch>
          </p:blipFill>
          <p:spPr>
            <a:xfrm>
              <a:off x="4969339" y="2872511"/>
              <a:ext cx="1152000" cy="1152000"/>
            </a:xfrm>
            <a:prstGeom prst="rect">
              <a:avLst/>
            </a:prstGeom>
          </p:spPr>
        </p:pic>
      </p:grpSp>
      <p:grpSp>
        <p:nvGrpSpPr>
          <p:cNvPr id="57" name="Group 56">
            <a:extLst>
              <a:ext uri="{FF2B5EF4-FFF2-40B4-BE49-F238E27FC236}">
                <a16:creationId xmlns:a16="http://schemas.microsoft.com/office/drawing/2014/main" id="{9259EB72-0A73-E378-7B47-139EBCD32F2C}"/>
              </a:ext>
            </a:extLst>
          </p:cNvPr>
          <p:cNvGrpSpPr/>
          <p:nvPr/>
        </p:nvGrpSpPr>
        <p:grpSpPr>
          <a:xfrm>
            <a:off x="3120056" y="7434795"/>
            <a:ext cx="1224000" cy="1152000"/>
            <a:chOff x="3120056" y="2869725"/>
            <a:chExt cx="1224000" cy="1152000"/>
          </a:xfrm>
        </p:grpSpPr>
        <p:sp>
          <p:nvSpPr>
            <p:cNvPr id="23" name="Rectangle 22">
              <a:extLst>
                <a:ext uri="{FF2B5EF4-FFF2-40B4-BE49-F238E27FC236}">
                  <a16:creationId xmlns:a16="http://schemas.microsoft.com/office/drawing/2014/main" id="{929DC7FC-339F-D6FF-6BE0-F41D952ACC87}"/>
                </a:ext>
              </a:extLst>
            </p:cNvPr>
            <p:cNvSpPr>
              <a:spLocks noChangeAspect="1"/>
            </p:cNvSpPr>
            <p:nvPr/>
          </p:nvSpPr>
          <p:spPr>
            <a:xfrm>
              <a:off x="3120056" y="2869725"/>
              <a:ext cx="1224000" cy="1151971"/>
            </a:xfrm>
            <a:prstGeom prst="rect">
              <a:avLst/>
            </a:prstGeom>
            <a:blipFill dpi="0" rotWithShape="1">
              <a:blip r:embed="rId7">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pic>
          <p:nvPicPr>
            <p:cNvPr id="53" name="Picture 52" descr="A black background with a black square&#10;&#10;AI-generated content may be incorrect.">
              <a:hlinkClick r:id="rId8" action="ppaction://hlinksldjump"/>
              <a:extLst>
                <a:ext uri="{FF2B5EF4-FFF2-40B4-BE49-F238E27FC236}">
                  <a16:creationId xmlns:a16="http://schemas.microsoft.com/office/drawing/2014/main" id="{901A1D1B-F13F-1CC6-B4ED-0924280DCEA7}"/>
                </a:ext>
              </a:extLst>
            </p:cNvPr>
            <p:cNvPicPr>
              <a:picLocks noChangeAspect="1"/>
            </p:cNvPicPr>
            <p:nvPr/>
          </p:nvPicPr>
          <p:blipFill>
            <a:blip r:embed="rId7"/>
            <a:stretch>
              <a:fillRect/>
            </a:stretch>
          </p:blipFill>
          <p:spPr>
            <a:xfrm>
              <a:off x="3148786" y="2869725"/>
              <a:ext cx="1152000" cy="1152000"/>
            </a:xfrm>
            <a:prstGeom prst="rect">
              <a:avLst/>
            </a:prstGeom>
          </p:spPr>
        </p:pic>
      </p:grpSp>
      <p:sp>
        <p:nvSpPr>
          <p:cNvPr id="3" name="TextBox 2">
            <a:extLst>
              <a:ext uri="{FF2B5EF4-FFF2-40B4-BE49-F238E27FC236}">
                <a16:creationId xmlns:a16="http://schemas.microsoft.com/office/drawing/2014/main" id="{39F502CC-0704-A8FB-B288-F50D87603B03}"/>
              </a:ext>
            </a:extLst>
          </p:cNvPr>
          <p:cNvSpPr txBox="1"/>
          <p:nvPr/>
        </p:nvSpPr>
        <p:spPr>
          <a:xfrm>
            <a:off x="3786061" y="-585461"/>
            <a:ext cx="1029449" cy="2646878"/>
          </a:xfrm>
          <a:prstGeom prst="rect">
            <a:avLst/>
          </a:prstGeom>
          <a:noFill/>
        </p:spPr>
        <p:txBody>
          <a:bodyPr wrap="none" rtlCol="0">
            <a:spAutoFit/>
          </a:bodyPr>
          <a:lstStyle/>
          <a:p>
            <a:r>
              <a:rPr lang="en-US" sz="16600" b="1" dirty="0">
                <a:solidFill>
                  <a:schemeClr val="bg1"/>
                </a:solidFill>
                <a:latin typeface="IrisUPC" panose="020B0604020202020204" pitchFamily="34" charset="-34"/>
                <a:cs typeface="IrisUPC" panose="020B0604020202020204" pitchFamily="34" charset="-34"/>
              </a:rPr>
              <a:t>K</a:t>
            </a:r>
          </a:p>
        </p:txBody>
      </p:sp>
      <p:sp>
        <p:nvSpPr>
          <p:cNvPr id="4" name="TextBox 3">
            <a:extLst>
              <a:ext uri="{FF2B5EF4-FFF2-40B4-BE49-F238E27FC236}">
                <a16:creationId xmlns:a16="http://schemas.microsoft.com/office/drawing/2014/main" id="{1DEAC5A4-63FE-8F06-10BF-10D65E0CDC8C}"/>
              </a:ext>
            </a:extLst>
          </p:cNvPr>
          <p:cNvSpPr txBox="1"/>
          <p:nvPr/>
        </p:nvSpPr>
        <p:spPr>
          <a:xfrm>
            <a:off x="6005652" y="-604511"/>
            <a:ext cx="1029449" cy="2646878"/>
          </a:xfrm>
          <a:prstGeom prst="rect">
            <a:avLst/>
          </a:prstGeom>
          <a:noFill/>
        </p:spPr>
        <p:txBody>
          <a:bodyPr wrap="none" rtlCol="0">
            <a:spAutoFit/>
          </a:bodyPr>
          <a:lstStyle/>
          <a:p>
            <a:r>
              <a:rPr lang="en-US" sz="16600" b="1" dirty="0">
                <a:solidFill>
                  <a:schemeClr val="bg1"/>
                </a:solidFill>
                <a:latin typeface="IrisUPC" panose="020B0604020202020204" pitchFamily="34" charset="-34"/>
                <a:cs typeface="IrisUPC" panose="020B0604020202020204" pitchFamily="34" charset="-34"/>
              </a:rPr>
              <a:t>Y</a:t>
            </a:r>
            <a:endParaRPr lang="en-US" b="1" dirty="0">
              <a:solidFill>
                <a:schemeClr val="bg1"/>
              </a:solidFill>
              <a:latin typeface="IrisUPC" panose="020B0604020202020204" pitchFamily="34" charset="-34"/>
              <a:cs typeface="IrisUPC" panose="020B0604020202020204" pitchFamily="34" charset="-34"/>
            </a:endParaRPr>
          </a:p>
        </p:txBody>
      </p:sp>
      <p:sp>
        <p:nvSpPr>
          <p:cNvPr id="11" name="TextBox 10">
            <a:extLst>
              <a:ext uri="{FF2B5EF4-FFF2-40B4-BE49-F238E27FC236}">
                <a16:creationId xmlns:a16="http://schemas.microsoft.com/office/drawing/2014/main" id="{35C8BB7A-D848-DDA3-7110-F3FAB77638EB}"/>
              </a:ext>
            </a:extLst>
          </p:cNvPr>
          <p:cNvSpPr txBox="1"/>
          <p:nvPr/>
        </p:nvSpPr>
        <p:spPr>
          <a:xfrm>
            <a:off x="6728553" y="737978"/>
            <a:ext cx="928459" cy="584775"/>
          </a:xfrm>
          <a:prstGeom prst="rect">
            <a:avLst/>
          </a:prstGeom>
          <a:noFill/>
        </p:spPr>
        <p:txBody>
          <a:bodyPr wrap="none" rtlCol="0">
            <a:spAutoFit/>
          </a:bodyPr>
          <a:lstStyle/>
          <a:p>
            <a:r>
              <a:rPr lang="en-US" sz="3200" dirty="0">
                <a:solidFill>
                  <a:schemeClr val="bg1"/>
                </a:solidFill>
                <a:latin typeface="IrisUPC" panose="020B0604020202020204" pitchFamily="34" charset="-34"/>
                <a:cs typeface="IrisUPC" panose="020B0604020202020204" pitchFamily="34" charset="-34"/>
              </a:rPr>
              <a:t>TASKS</a:t>
            </a:r>
          </a:p>
        </p:txBody>
      </p:sp>
      <p:sp>
        <p:nvSpPr>
          <p:cNvPr id="13" name="TextBox 12">
            <a:extLst>
              <a:ext uri="{FF2B5EF4-FFF2-40B4-BE49-F238E27FC236}">
                <a16:creationId xmlns:a16="http://schemas.microsoft.com/office/drawing/2014/main" id="{364BC46B-B547-C0EC-EB2A-8A54BBC2645C}"/>
              </a:ext>
            </a:extLst>
          </p:cNvPr>
          <p:cNvSpPr txBox="1"/>
          <p:nvPr/>
        </p:nvSpPr>
        <p:spPr>
          <a:xfrm>
            <a:off x="4533014" y="1172942"/>
            <a:ext cx="1909497" cy="584775"/>
          </a:xfrm>
          <a:prstGeom prst="rect">
            <a:avLst/>
          </a:prstGeom>
          <a:noFill/>
        </p:spPr>
        <p:txBody>
          <a:bodyPr wrap="none" rtlCol="0">
            <a:spAutoFit/>
          </a:bodyPr>
          <a:lstStyle/>
          <a:p>
            <a:r>
              <a:rPr lang="en-US" sz="3200" dirty="0">
                <a:solidFill>
                  <a:schemeClr val="bg1"/>
                </a:solidFill>
                <a:latin typeface="IrisUPC" panose="020B0604020202020204" pitchFamily="34" charset="-34"/>
                <a:cs typeface="IrisUPC" panose="020B0604020202020204" pitchFamily="34" charset="-34"/>
              </a:rPr>
              <a:t>UNDERTAKEN</a:t>
            </a:r>
          </a:p>
        </p:txBody>
      </p:sp>
      <p:pic>
        <p:nvPicPr>
          <p:cNvPr id="16" name="Picture 15" descr="A white cloud of smoke&#10;&#10;AI-generated content may be incorrect.">
            <a:extLst>
              <a:ext uri="{FF2B5EF4-FFF2-40B4-BE49-F238E27FC236}">
                <a16:creationId xmlns:a16="http://schemas.microsoft.com/office/drawing/2014/main" id="{D3368227-0B0E-82D8-4D3A-A2392E417EBB}"/>
              </a:ext>
            </a:extLst>
          </p:cNvPr>
          <p:cNvPicPr>
            <a:picLocks noChangeAspect="1"/>
          </p:cNvPicPr>
          <p:nvPr/>
        </p:nvPicPr>
        <p:blipFill>
          <a:blip r:embed="rId9">
            <a:alphaModFix amt="55000"/>
          </a:blip>
          <a:stretch>
            <a:fillRect/>
          </a:stretch>
        </p:blipFill>
        <p:spPr>
          <a:xfrm>
            <a:off x="-2414012" y="-701468"/>
            <a:ext cx="7772400" cy="4371975"/>
          </a:xfrm>
          <a:prstGeom prst="rect">
            <a:avLst/>
          </a:prstGeom>
        </p:spPr>
      </p:pic>
      <p:sp>
        <p:nvSpPr>
          <p:cNvPr id="14" name="TextBox 13">
            <a:extLst>
              <a:ext uri="{FF2B5EF4-FFF2-40B4-BE49-F238E27FC236}">
                <a16:creationId xmlns:a16="http://schemas.microsoft.com/office/drawing/2014/main" id="{8196BCD0-D507-A9EB-AB3E-AFCC36BE849A}"/>
              </a:ext>
            </a:extLst>
          </p:cNvPr>
          <p:cNvSpPr txBox="1"/>
          <p:nvPr/>
        </p:nvSpPr>
        <p:spPr>
          <a:xfrm>
            <a:off x="582245" y="1795281"/>
            <a:ext cx="11608231" cy="4431983"/>
          </a:xfrm>
          <a:prstGeom prst="rect">
            <a:avLst/>
          </a:prstGeom>
          <a:noFill/>
        </p:spPr>
        <p:txBody>
          <a:bodyPr wrap="square" rtlCol="0">
            <a:spAutoFit/>
          </a:bodyPr>
          <a:lstStyle/>
          <a:p>
            <a:pPr algn="ctr"/>
            <a:r>
              <a:rPr lang="en-IN" sz="2400" dirty="0">
                <a:solidFill>
                  <a:srgbClr val="FFFF00"/>
                </a:solidFill>
                <a:latin typeface="IrisUPC" panose="020B0604020202020204" pitchFamily="34" charset="-34"/>
                <a:cs typeface="IrisUPC" panose="020B0604020202020204" pitchFamily="34" charset="-34"/>
              </a:rPr>
              <a:t>Reviewed and analysed RBI’s ODI circulars, equity remittance procedures, and supporting documents including valuation reports.</a:t>
            </a:r>
          </a:p>
          <a:p>
            <a:pPr algn="ctr"/>
            <a:r>
              <a:rPr lang="en-IN" sz="2400" dirty="0">
                <a:solidFill>
                  <a:srgbClr val="FFFF00"/>
                </a:solidFill>
                <a:latin typeface="IrisUPC" panose="020B0604020202020204" pitchFamily="34" charset="-34"/>
                <a:cs typeface="IrisUPC" panose="020B0604020202020204" pitchFamily="34" charset="-34"/>
              </a:rPr>
              <a:t>Studied facility agreements, term sheets, and financial covenants for international borrowing processes, gaining exposure to the borrowing process and compliance requirements for loans taken by IGE UK for hotel refurbishments and capital expenditure.</a:t>
            </a:r>
          </a:p>
          <a:p>
            <a:pPr algn="ctr"/>
            <a:r>
              <a:rPr lang="en-IN" sz="2400" dirty="0">
                <a:solidFill>
                  <a:srgbClr val="FFFF00"/>
                </a:solidFill>
                <a:latin typeface="IrisUPC" panose="020B0604020202020204" pitchFamily="34" charset="-34"/>
                <a:cs typeface="IrisUPC" panose="020B0604020202020204" pitchFamily="34" charset="-34"/>
              </a:rPr>
              <a:t>Researched AIF (Alternative Investment Funds) regulations and their relevance to treasury operations.</a:t>
            </a:r>
          </a:p>
          <a:p>
            <a:pPr algn="ctr"/>
            <a:r>
              <a:rPr lang="en-IN" sz="2400" dirty="0">
                <a:solidFill>
                  <a:schemeClr val="bg1"/>
                </a:solidFill>
                <a:latin typeface="IrisUPC" panose="020B0604020202020204" pitchFamily="34" charset="-34"/>
                <a:cs typeface="IrisUPC" panose="020B0604020202020204" pitchFamily="34" charset="-34"/>
              </a:rPr>
              <a:t>Gained knowledge on LIBOR to SOFR transition and its impact on foreign borrowings.</a:t>
            </a:r>
          </a:p>
          <a:p>
            <a:pPr algn="ctr"/>
            <a:r>
              <a:rPr lang="en-IN" sz="2400" dirty="0">
                <a:solidFill>
                  <a:schemeClr val="bg1"/>
                </a:solidFill>
                <a:latin typeface="IrisUPC" panose="020B0604020202020204" pitchFamily="34" charset="-34"/>
                <a:cs typeface="IrisUPC" panose="020B0604020202020204" pitchFamily="34" charset="-34"/>
              </a:rPr>
              <a:t>Learned about hedging strategies, including interest rate hedging and cross-currency swaps for risk management.</a:t>
            </a:r>
          </a:p>
          <a:p>
            <a:pPr algn="ctr"/>
            <a:r>
              <a:rPr lang="en-IN" sz="2400" dirty="0">
                <a:solidFill>
                  <a:schemeClr val="bg1"/>
                </a:solidFill>
                <a:latin typeface="IrisUPC" panose="020B0604020202020204" pitchFamily="34" charset="-34"/>
                <a:cs typeface="IrisUPC" panose="020B0604020202020204" pitchFamily="34" charset="-34"/>
              </a:rPr>
              <a:t>Worked on EMIR reporting, assisting in preparing, reviewing, and reconciling trades reported under regulatory requirements.</a:t>
            </a:r>
          </a:p>
          <a:p>
            <a:pPr algn="ctr"/>
            <a:r>
              <a:rPr lang="en-IN" sz="2400" dirty="0">
                <a:solidFill>
                  <a:srgbClr val="FFFF00"/>
                </a:solidFill>
                <a:latin typeface="IrisUPC" panose="020B0604020202020204" pitchFamily="34" charset="-34"/>
                <a:cs typeface="IrisUPC" panose="020B0604020202020204" pitchFamily="34" charset="-34"/>
              </a:rPr>
              <a:t>Assisted in MIS reporting, generating performance summaries for the international hotels portfolio.</a:t>
            </a:r>
          </a:p>
          <a:p>
            <a:pPr algn="ctr"/>
            <a:r>
              <a:rPr lang="en-IN" sz="2400" dirty="0">
                <a:solidFill>
                  <a:srgbClr val="FFFF00"/>
                </a:solidFill>
                <a:latin typeface="IrisUPC" panose="020B0604020202020204" pitchFamily="34" charset="-34"/>
                <a:cs typeface="IrisUPC" panose="020B0604020202020204" pitchFamily="34" charset="-34"/>
              </a:rPr>
              <a:t>Managed interest invoices, including reconciling bank interest payments with loan schedules.</a:t>
            </a:r>
          </a:p>
          <a:p>
            <a:pPr algn="ctr"/>
            <a:r>
              <a:rPr lang="en-IN" sz="2400" dirty="0">
                <a:solidFill>
                  <a:schemeClr val="tx1">
                    <a:lumMod val="95000"/>
                    <a:lumOff val="5000"/>
                  </a:schemeClr>
                </a:solidFill>
                <a:latin typeface="IrisUPC" panose="020B0604020202020204" pitchFamily="34" charset="-34"/>
                <a:cs typeface="IrisUPC" panose="020B0604020202020204" pitchFamily="34" charset="-34"/>
              </a:rPr>
              <a:t>Contributed to international reporting tasks and updated corporate financial presentations (corporate deck) for management.</a:t>
            </a:r>
          </a:p>
          <a:p>
            <a:pPr algn="ctr"/>
            <a:r>
              <a:rPr lang="en-IN" sz="2400" dirty="0">
                <a:solidFill>
                  <a:schemeClr val="tx1">
                    <a:lumMod val="95000"/>
                    <a:lumOff val="5000"/>
                  </a:schemeClr>
                </a:solidFill>
                <a:latin typeface="IrisUPC" panose="020B0604020202020204" pitchFamily="34" charset="-34"/>
                <a:cs typeface="IrisUPC" panose="020B0604020202020204" pitchFamily="34" charset="-34"/>
              </a:rPr>
              <a:t>Recorded and maintained Fixed Deposit (FD) details in treasury systems to support internal tracking and reporting</a:t>
            </a:r>
            <a:r>
              <a:rPr lang="en-IN" sz="2400" dirty="0">
                <a:solidFill>
                  <a:schemeClr val="bg1"/>
                </a:solidFill>
                <a:latin typeface="IrisUPC" panose="020B0604020202020204" pitchFamily="34" charset="-34"/>
                <a:cs typeface="IrisUPC" panose="020B0604020202020204" pitchFamily="34" charset="-34"/>
              </a:rPr>
              <a:t>.</a:t>
            </a:r>
          </a:p>
          <a:p>
            <a:endParaRPr lang="en-US" dirty="0"/>
          </a:p>
        </p:txBody>
      </p:sp>
      <p:pic>
        <p:nvPicPr>
          <p:cNvPr id="19" name="Picture 18" descr="A black background with a black square&#10;&#10;AI-generated content may be incorrect.">
            <a:hlinkClick r:id="rId10" action="ppaction://hlinksldjump"/>
            <a:extLst>
              <a:ext uri="{FF2B5EF4-FFF2-40B4-BE49-F238E27FC236}">
                <a16:creationId xmlns:a16="http://schemas.microsoft.com/office/drawing/2014/main" id="{5D65C8EF-BC66-FF22-F8E3-316CA871E95D}"/>
              </a:ext>
            </a:extLst>
          </p:cNvPr>
          <p:cNvPicPr>
            <a:picLocks noChangeAspect="1"/>
          </p:cNvPicPr>
          <p:nvPr/>
        </p:nvPicPr>
        <p:blipFill>
          <a:blip r:embed="rId11"/>
          <a:stretch>
            <a:fillRect/>
          </a:stretch>
        </p:blipFill>
        <p:spPr>
          <a:xfrm>
            <a:off x="11787980" y="68927"/>
            <a:ext cx="288000" cy="288000"/>
          </a:xfrm>
          <a:prstGeom prst="rect">
            <a:avLst/>
          </a:prstGeom>
        </p:spPr>
      </p:pic>
    </p:spTree>
    <p:extLst>
      <p:ext uri="{BB962C8B-B14F-4D97-AF65-F5344CB8AC3E}">
        <p14:creationId xmlns:p14="http://schemas.microsoft.com/office/powerpoint/2010/main" val="11605829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B028DE-4306-CF10-065E-93B7420C640F}"/>
            </a:ext>
          </a:extLst>
        </p:cNvPr>
        <p:cNvGrpSpPr/>
        <p:nvPr/>
      </p:nvGrpSpPr>
      <p:grpSpPr>
        <a:xfrm>
          <a:off x="0" y="0"/>
          <a:ext cx="0" cy="0"/>
          <a:chOff x="0" y="0"/>
          <a:chExt cx="0" cy="0"/>
        </a:xfrm>
      </p:grpSpPr>
      <p:pic>
        <p:nvPicPr>
          <p:cNvPr id="5" name="Picture 4" descr="A blue sky with clouds&#10;&#10;AI-generated content may be incorrect.">
            <a:extLst>
              <a:ext uri="{FF2B5EF4-FFF2-40B4-BE49-F238E27FC236}">
                <a16:creationId xmlns:a16="http://schemas.microsoft.com/office/drawing/2014/main" id="{D7F15589-B1BA-565A-DB9B-BF1FD3A72BFF}"/>
              </a:ext>
            </a:extLst>
          </p:cNvPr>
          <p:cNvPicPr>
            <a:picLocks noChangeAspect="1"/>
          </p:cNvPicPr>
          <p:nvPr/>
        </p:nvPicPr>
        <p:blipFill>
          <a:blip r:embed="rId2"/>
          <a:srcRect b="15747"/>
          <a:stretch>
            <a:fillRect/>
          </a:stretch>
        </p:blipFill>
        <p:spPr>
          <a:xfrm>
            <a:off x="-1504" y="0"/>
            <a:ext cx="12191980" cy="6856718"/>
          </a:xfrm>
          <a:prstGeom prst="rect">
            <a:avLst/>
          </a:prstGeom>
        </p:spPr>
      </p:pic>
      <p:sp>
        <p:nvSpPr>
          <p:cNvPr id="30" name="TextBox 29">
            <a:extLst>
              <a:ext uri="{FF2B5EF4-FFF2-40B4-BE49-F238E27FC236}">
                <a16:creationId xmlns:a16="http://schemas.microsoft.com/office/drawing/2014/main" id="{7DAB7158-E3C3-1641-690B-8B441820B34A}"/>
              </a:ext>
            </a:extLst>
          </p:cNvPr>
          <p:cNvSpPr txBox="1"/>
          <p:nvPr/>
        </p:nvSpPr>
        <p:spPr>
          <a:xfrm>
            <a:off x="3563317" y="-634650"/>
            <a:ext cx="4884671" cy="3154710"/>
          </a:xfrm>
          <a:prstGeom prst="rect">
            <a:avLst/>
          </a:prstGeom>
          <a:noFill/>
        </p:spPr>
        <p:txBody>
          <a:bodyPr wrap="none" rtlCol="0">
            <a:spAutoFit/>
          </a:bodyPr>
          <a:lstStyle/>
          <a:p>
            <a:pPr algn="ctr"/>
            <a:r>
              <a:rPr lang="en-US" sz="19900" b="1" dirty="0">
                <a:latin typeface="IrisUPC" panose="020B0604020202020204" pitchFamily="34" charset="-34"/>
                <a:cs typeface="IrisUPC" panose="020B0604020202020204" pitchFamily="34" charset="-34"/>
              </a:rPr>
              <a:t>TABLE</a:t>
            </a:r>
          </a:p>
        </p:txBody>
      </p:sp>
      <p:sp>
        <p:nvSpPr>
          <p:cNvPr id="31" name="TextBox 30">
            <a:extLst>
              <a:ext uri="{FF2B5EF4-FFF2-40B4-BE49-F238E27FC236}">
                <a16:creationId xmlns:a16="http://schemas.microsoft.com/office/drawing/2014/main" id="{11313BB2-537B-4150-9375-A57D8043E597}"/>
              </a:ext>
            </a:extLst>
          </p:cNvPr>
          <p:cNvSpPr txBox="1"/>
          <p:nvPr/>
        </p:nvSpPr>
        <p:spPr>
          <a:xfrm>
            <a:off x="6840021" y="1528461"/>
            <a:ext cx="2219967" cy="461665"/>
          </a:xfrm>
          <a:prstGeom prst="rect">
            <a:avLst/>
          </a:prstGeom>
          <a:noFill/>
        </p:spPr>
        <p:txBody>
          <a:bodyPr wrap="none" rtlCol="0">
            <a:spAutoFit/>
          </a:bodyPr>
          <a:lstStyle/>
          <a:p>
            <a:r>
              <a:rPr lang="en-US" sz="2400" b="1" dirty="0">
                <a:latin typeface="Avenir Next Heavy" panose="020B0503020202020204" pitchFamily="34" charset="0"/>
              </a:rPr>
              <a:t>OF CONTENT</a:t>
            </a:r>
          </a:p>
        </p:txBody>
      </p:sp>
      <p:grpSp>
        <p:nvGrpSpPr>
          <p:cNvPr id="56" name="Group 55">
            <a:extLst>
              <a:ext uri="{FF2B5EF4-FFF2-40B4-BE49-F238E27FC236}">
                <a16:creationId xmlns:a16="http://schemas.microsoft.com/office/drawing/2014/main" id="{45F03BAE-2552-C861-6734-5AC7BB718F54}"/>
              </a:ext>
            </a:extLst>
          </p:cNvPr>
          <p:cNvGrpSpPr/>
          <p:nvPr/>
        </p:nvGrpSpPr>
        <p:grpSpPr>
          <a:xfrm>
            <a:off x="6419425" y="2528421"/>
            <a:ext cx="1224000" cy="1188000"/>
            <a:chOff x="6419425" y="2840151"/>
            <a:chExt cx="1224000" cy="1188000"/>
          </a:xfrm>
        </p:grpSpPr>
        <p:sp>
          <p:nvSpPr>
            <p:cNvPr id="22" name="Rectangle 21">
              <a:extLst>
                <a:ext uri="{FF2B5EF4-FFF2-40B4-BE49-F238E27FC236}">
                  <a16:creationId xmlns:a16="http://schemas.microsoft.com/office/drawing/2014/main" id="{ACFD5AC8-6675-4D3F-C334-790E4ED290E0}"/>
                </a:ext>
              </a:extLst>
            </p:cNvPr>
            <p:cNvSpPr>
              <a:spLocks noChangeAspect="1"/>
            </p:cNvSpPr>
            <p:nvPr/>
          </p:nvSpPr>
          <p:spPr>
            <a:xfrm>
              <a:off x="6419425" y="2877109"/>
              <a:ext cx="1224000" cy="1128107"/>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Picture 46" descr="A black background with a black square&#10;&#10;AI-generated content may be incorrect.">
              <a:hlinkClick r:id="rId4" action="ppaction://hlinksldjump"/>
              <a:extLst>
                <a:ext uri="{FF2B5EF4-FFF2-40B4-BE49-F238E27FC236}">
                  <a16:creationId xmlns:a16="http://schemas.microsoft.com/office/drawing/2014/main" id="{260921D4-7740-31A3-96A5-0A99B1568570}"/>
                </a:ext>
              </a:extLst>
            </p:cNvPr>
            <p:cNvPicPr>
              <a:picLocks noChangeAspect="1"/>
            </p:cNvPicPr>
            <p:nvPr/>
          </p:nvPicPr>
          <p:blipFill>
            <a:blip r:embed="rId3"/>
            <a:stretch>
              <a:fillRect/>
            </a:stretch>
          </p:blipFill>
          <p:spPr>
            <a:xfrm>
              <a:off x="6431982" y="2840151"/>
              <a:ext cx="1188000" cy="1188000"/>
            </a:xfrm>
            <a:prstGeom prst="rect">
              <a:avLst/>
            </a:prstGeom>
          </p:spPr>
        </p:pic>
      </p:grpSp>
      <p:grpSp>
        <p:nvGrpSpPr>
          <p:cNvPr id="55" name="Group 54">
            <a:extLst>
              <a:ext uri="{FF2B5EF4-FFF2-40B4-BE49-F238E27FC236}">
                <a16:creationId xmlns:a16="http://schemas.microsoft.com/office/drawing/2014/main" id="{A232B316-9F69-EAD3-8329-00F257E5A890}"/>
              </a:ext>
            </a:extLst>
          </p:cNvPr>
          <p:cNvGrpSpPr/>
          <p:nvPr/>
        </p:nvGrpSpPr>
        <p:grpSpPr>
          <a:xfrm>
            <a:off x="7835988" y="2513114"/>
            <a:ext cx="1226109" cy="1224000"/>
            <a:chOff x="7835988" y="2700152"/>
            <a:chExt cx="1226109" cy="1224000"/>
          </a:xfrm>
        </p:grpSpPr>
        <p:sp>
          <p:nvSpPr>
            <p:cNvPr id="12" name="Rectangle 11">
              <a:extLst>
                <a:ext uri="{FF2B5EF4-FFF2-40B4-BE49-F238E27FC236}">
                  <a16:creationId xmlns:a16="http://schemas.microsoft.com/office/drawing/2014/main" id="{5CFBB71B-8F26-2479-B409-AA09E1FF7C94}"/>
                </a:ext>
              </a:extLst>
            </p:cNvPr>
            <p:cNvSpPr>
              <a:spLocks noChangeAspect="1"/>
            </p:cNvSpPr>
            <p:nvPr/>
          </p:nvSpPr>
          <p:spPr>
            <a:xfrm>
              <a:off x="7835988" y="2744111"/>
              <a:ext cx="1224000" cy="1128107"/>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Picture 48" descr="A black background with a black square&#10;&#10;AI-generated content may be incorrect.">
              <a:hlinkClick r:id="rId6" action="ppaction://hlinksldjump"/>
              <a:extLst>
                <a:ext uri="{FF2B5EF4-FFF2-40B4-BE49-F238E27FC236}">
                  <a16:creationId xmlns:a16="http://schemas.microsoft.com/office/drawing/2014/main" id="{B2DDFCF5-651D-EAF8-3195-E8B288AF8D3D}"/>
                </a:ext>
              </a:extLst>
            </p:cNvPr>
            <p:cNvPicPr>
              <a:picLocks noChangeAspect="1"/>
            </p:cNvPicPr>
            <p:nvPr/>
          </p:nvPicPr>
          <p:blipFill>
            <a:blip r:embed="rId5"/>
            <a:stretch>
              <a:fillRect/>
            </a:stretch>
          </p:blipFill>
          <p:spPr>
            <a:xfrm>
              <a:off x="7838097" y="2700152"/>
              <a:ext cx="1224000" cy="1224000"/>
            </a:xfrm>
            <a:prstGeom prst="rect">
              <a:avLst/>
            </a:prstGeom>
          </p:spPr>
        </p:pic>
      </p:grpSp>
      <p:grpSp>
        <p:nvGrpSpPr>
          <p:cNvPr id="54" name="Group 53">
            <a:extLst>
              <a:ext uri="{FF2B5EF4-FFF2-40B4-BE49-F238E27FC236}">
                <a16:creationId xmlns:a16="http://schemas.microsoft.com/office/drawing/2014/main" id="{3F3A60BD-0238-0283-BE29-612A77AF8DEB}"/>
              </a:ext>
            </a:extLst>
          </p:cNvPr>
          <p:cNvGrpSpPr/>
          <p:nvPr/>
        </p:nvGrpSpPr>
        <p:grpSpPr>
          <a:xfrm>
            <a:off x="4932470" y="2560781"/>
            <a:ext cx="1224000" cy="1152000"/>
            <a:chOff x="4932470" y="2872511"/>
            <a:chExt cx="1224000" cy="1152000"/>
          </a:xfrm>
        </p:grpSpPr>
        <p:sp>
          <p:nvSpPr>
            <p:cNvPr id="24" name="Rectangle 23">
              <a:extLst>
                <a:ext uri="{FF2B5EF4-FFF2-40B4-BE49-F238E27FC236}">
                  <a16:creationId xmlns:a16="http://schemas.microsoft.com/office/drawing/2014/main" id="{3EF09115-5F25-A269-2DE8-AD51544AF9EE}"/>
                </a:ext>
              </a:extLst>
            </p:cNvPr>
            <p:cNvSpPr>
              <a:spLocks noChangeAspect="1"/>
            </p:cNvSpPr>
            <p:nvPr/>
          </p:nvSpPr>
          <p:spPr>
            <a:xfrm>
              <a:off x="4932470" y="2880930"/>
              <a:ext cx="1224000" cy="1128107"/>
            </a:xfrm>
            <a:prstGeom prst="rect">
              <a:avLst/>
            </a:prstGeom>
            <a:blipFill dpi="0" rotWithShape="1">
              <a:blip r:embed="rId7">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50" descr="A black background with a black square&#10;&#10;AI-generated content may be incorrect.">
              <a:hlinkClick r:id="rId8" action="ppaction://hlinksldjump"/>
              <a:extLst>
                <a:ext uri="{FF2B5EF4-FFF2-40B4-BE49-F238E27FC236}">
                  <a16:creationId xmlns:a16="http://schemas.microsoft.com/office/drawing/2014/main" id="{D104B217-B687-2AD3-2774-97B515EFA00D}"/>
                </a:ext>
              </a:extLst>
            </p:cNvPr>
            <p:cNvPicPr>
              <a:picLocks noChangeAspect="1"/>
            </p:cNvPicPr>
            <p:nvPr/>
          </p:nvPicPr>
          <p:blipFill>
            <a:blip r:embed="rId7"/>
            <a:stretch>
              <a:fillRect/>
            </a:stretch>
          </p:blipFill>
          <p:spPr>
            <a:xfrm>
              <a:off x="4969339" y="2872511"/>
              <a:ext cx="1152000" cy="1152000"/>
            </a:xfrm>
            <a:prstGeom prst="rect">
              <a:avLst/>
            </a:prstGeom>
          </p:spPr>
        </p:pic>
      </p:grpSp>
      <p:grpSp>
        <p:nvGrpSpPr>
          <p:cNvPr id="57" name="Group 56">
            <a:extLst>
              <a:ext uri="{FF2B5EF4-FFF2-40B4-BE49-F238E27FC236}">
                <a16:creationId xmlns:a16="http://schemas.microsoft.com/office/drawing/2014/main" id="{92C14445-FCCF-C390-C5A3-8B4C6AC867C4}"/>
              </a:ext>
            </a:extLst>
          </p:cNvPr>
          <p:cNvGrpSpPr/>
          <p:nvPr/>
        </p:nvGrpSpPr>
        <p:grpSpPr>
          <a:xfrm>
            <a:off x="3120056" y="2557995"/>
            <a:ext cx="1224000" cy="1152000"/>
            <a:chOff x="3120056" y="2869725"/>
            <a:chExt cx="1224000" cy="1152000"/>
          </a:xfrm>
        </p:grpSpPr>
        <p:sp>
          <p:nvSpPr>
            <p:cNvPr id="23" name="Rectangle 22">
              <a:extLst>
                <a:ext uri="{FF2B5EF4-FFF2-40B4-BE49-F238E27FC236}">
                  <a16:creationId xmlns:a16="http://schemas.microsoft.com/office/drawing/2014/main" id="{8F2E2972-1135-8D5B-0A3F-870D555D1D80}"/>
                </a:ext>
              </a:extLst>
            </p:cNvPr>
            <p:cNvSpPr>
              <a:spLocks noChangeAspect="1"/>
            </p:cNvSpPr>
            <p:nvPr/>
          </p:nvSpPr>
          <p:spPr>
            <a:xfrm>
              <a:off x="3120056" y="2869725"/>
              <a:ext cx="1224000" cy="1151971"/>
            </a:xfrm>
            <a:prstGeom prst="rect">
              <a:avLst/>
            </a:prstGeom>
            <a:blipFill dpi="0" rotWithShape="1">
              <a:blip r:embed="rId9">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pic>
          <p:nvPicPr>
            <p:cNvPr id="53" name="Picture 52" descr="A black background with a black square&#10;&#10;AI-generated content may be incorrect.">
              <a:hlinkClick r:id="rId10" action="ppaction://hlinksldjump"/>
              <a:extLst>
                <a:ext uri="{FF2B5EF4-FFF2-40B4-BE49-F238E27FC236}">
                  <a16:creationId xmlns:a16="http://schemas.microsoft.com/office/drawing/2014/main" id="{03518227-470C-9489-507A-661FE2E767E6}"/>
                </a:ext>
              </a:extLst>
            </p:cNvPr>
            <p:cNvPicPr>
              <a:picLocks noChangeAspect="1"/>
            </p:cNvPicPr>
            <p:nvPr/>
          </p:nvPicPr>
          <p:blipFill>
            <a:blip r:embed="rId9"/>
            <a:stretch>
              <a:fillRect/>
            </a:stretch>
          </p:blipFill>
          <p:spPr>
            <a:xfrm>
              <a:off x="3148786" y="2869725"/>
              <a:ext cx="1152000" cy="1152000"/>
            </a:xfrm>
            <a:prstGeom prst="rect">
              <a:avLst/>
            </a:prstGeom>
          </p:spPr>
        </p:pic>
      </p:grpSp>
      <p:sp>
        <p:nvSpPr>
          <p:cNvPr id="7" name="TextBox 6">
            <a:extLst>
              <a:ext uri="{FF2B5EF4-FFF2-40B4-BE49-F238E27FC236}">
                <a16:creationId xmlns:a16="http://schemas.microsoft.com/office/drawing/2014/main" id="{9176ABB7-6519-22B7-405A-E2AFE76E0EBA}"/>
              </a:ext>
            </a:extLst>
          </p:cNvPr>
          <p:cNvSpPr txBox="1"/>
          <p:nvPr/>
        </p:nvSpPr>
        <p:spPr>
          <a:xfrm>
            <a:off x="2018215" y="6575622"/>
            <a:ext cx="516488" cy="3139321"/>
          </a:xfrm>
          <a:prstGeom prst="rect">
            <a:avLst/>
          </a:prstGeom>
          <a:noFill/>
        </p:spPr>
        <p:txBody>
          <a:bodyPr wrap="none" rtlCol="0">
            <a:spAutoFit/>
          </a:bodyPr>
          <a:lstStyle/>
          <a:p>
            <a:r>
              <a:rPr lang="en-US" sz="6600" dirty="0">
                <a:solidFill>
                  <a:srgbClr val="FFFF00"/>
                </a:solidFill>
                <a:latin typeface="IrisUPC" panose="020B0604020202020204" pitchFamily="34" charset="-34"/>
                <a:cs typeface="IrisUPC" panose="020B0604020202020204" pitchFamily="34" charset="-34"/>
              </a:rPr>
              <a:t>K</a:t>
            </a:r>
          </a:p>
          <a:p>
            <a:r>
              <a:rPr lang="en-US" sz="6600" dirty="0">
                <a:solidFill>
                  <a:srgbClr val="FFFF00"/>
                </a:solidFill>
                <a:latin typeface="IrisUPC" panose="020B0604020202020204" pitchFamily="34" charset="-34"/>
                <a:cs typeface="IrisUPC" panose="020B0604020202020204" pitchFamily="34" charset="-34"/>
              </a:rPr>
              <a:t>E</a:t>
            </a:r>
          </a:p>
          <a:p>
            <a:r>
              <a:rPr lang="en-US" sz="6600" dirty="0">
                <a:solidFill>
                  <a:srgbClr val="FFFF00"/>
                </a:solidFill>
                <a:latin typeface="IrisUPC" panose="020B0604020202020204" pitchFamily="34" charset="-34"/>
                <a:cs typeface="IrisUPC" panose="020B0604020202020204" pitchFamily="34" charset="-34"/>
              </a:rPr>
              <a:t>Y</a:t>
            </a:r>
          </a:p>
        </p:txBody>
      </p:sp>
      <p:sp>
        <p:nvSpPr>
          <p:cNvPr id="9" name="TextBox 8">
            <a:extLst>
              <a:ext uri="{FF2B5EF4-FFF2-40B4-BE49-F238E27FC236}">
                <a16:creationId xmlns:a16="http://schemas.microsoft.com/office/drawing/2014/main" id="{51D862A8-0D29-8682-AEC2-F738B39C4651}"/>
              </a:ext>
            </a:extLst>
          </p:cNvPr>
          <p:cNvSpPr txBox="1"/>
          <p:nvPr/>
        </p:nvSpPr>
        <p:spPr>
          <a:xfrm>
            <a:off x="4864308" y="-1332060"/>
            <a:ext cx="585417" cy="1569660"/>
          </a:xfrm>
          <a:prstGeom prst="rect">
            <a:avLst/>
          </a:prstGeom>
          <a:noFill/>
        </p:spPr>
        <p:txBody>
          <a:bodyPr wrap="none" rtlCol="0">
            <a:spAutoFit/>
          </a:bodyPr>
          <a:lstStyle/>
          <a:p>
            <a:r>
              <a:rPr lang="en-US" sz="9600" b="1" dirty="0">
                <a:solidFill>
                  <a:schemeClr val="bg1"/>
                </a:solidFill>
                <a:latin typeface="IrisUPC" panose="020B0604020202020204" pitchFamily="34" charset="-34"/>
                <a:cs typeface="IrisUPC" panose="020B0604020202020204" pitchFamily="34" charset="-34"/>
              </a:rPr>
              <a:t>L</a:t>
            </a:r>
          </a:p>
        </p:txBody>
      </p:sp>
      <p:sp>
        <p:nvSpPr>
          <p:cNvPr id="10" name="TextBox 9">
            <a:extLst>
              <a:ext uri="{FF2B5EF4-FFF2-40B4-BE49-F238E27FC236}">
                <a16:creationId xmlns:a16="http://schemas.microsoft.com/office/drawing/2014/main" id="{5B42A908-E354-4E11-B386-ACCDB5403B97}"/>
              </a:ext>
            </a:extLst>
          </p:cNvPr>
          <p:cNvSpPr txBox="1"/>
          <p:nvPr/>
        </p:nvSpPr>
        <p:spPr>
          <a:xfrm>
            <a:off x="5637625" y="-1332060"/>
            <a:ext cx="585417" cy="1569660"/>
          </a:xfrm>
          <a:prstGeom prst="rect">
            <a:avLst/>
          </a:prstGeom>
          <a:noFill/>
        </p:spPr>
        <p:txBody>
          <a:bodyPr wrap="none" rtlCol="0">
            <a:spAutoFit/>
          </a:bodyPr>
          <a:lstStyle/>
          <a:p>
            <a:r>
              <a:rPr lang="en-US" sz="9600" b="1" dirty="0">
                <a:solidFill>
                  <a:schemeClr val="bg1"/>
                </a:solidFill>
                <a:latin typeface="IrisUPC" panose="020B0604020202020204" pitchFamily="34" charset="-34"/>
                <a:cs typeface="IrisUPC" panose="020B0604020202020204" pitchFamily="34" charset="-34"/>
              </a:rPr>
              <a:t>E</a:t>
            </a:r>
          </a:p>
        </p:txBody>
      </p:sp>
      <p:sp>
        <p:nvSpPr>
          <p:cNvPr id="11" name="TextBox 10">
            <a:extLst>
              <a:ext uri="{FF2B5EF4-FFF2-40B4-BE49-F238E27FC236}">
                <a16:creationId xmlns:a16="http://schemas.microsoft.com/office/drawing/2014/main" id="{39097B1E-80E3-02FC-EF60-858278D7BA2C}"/>
              </a:ext>
            </a:extLst>
          </p:cNvPr>
          <p:cNvSpPr txBox="1"/>
          <p:nvPr/>
        </p:nvSpPr>
        <p:spPr>
          <a:xfrm>
            <a:off x="7849603" y="-1332060"/>
            <a:ext cx="673582" cy="1569660"/>
          </a:xfrm>
          <a:prstGeom prst="rect">
            <a:avLst/>
          </a:prstGeom>
          <a:noFill/>
        </p:spPr>
        <p:txBody>
          <a:bodyPr wrap="none" rtlCol="0">
            <a:spAutoFit/>
          </a:bodyPr>
          <a:lstStyle/>
          <a:p>
            <a:r>
              <a:rPr lang="en-US" sz="9600" b="1" dirty="0">
                <a:solidFill>
                  <a:schemeClr val="bg1"/>
                </a:solidFill>
                <a:latin typeface="IrisUPC" panose="020B0604020202020204" pitchFamily="34" charset="-34"/>
                <a:cs typeface="IrisUPC" panose="020B0604020202020204" pitchFamily="34" charset="-34"/>
              </a:rPr>
              <a:t>R</a:t>
            </a:r>
          </a:p>
        </p:txBody>
      </p:sp>
      <p:sp>
        <p:nvSpPr>
          <p:cNvPr id="13" name="TextBox 12">
            <a:extLst>
              <a:ext uri="{FF2B5EF4-FFF2-40B4-BE49-F238E27FC236}">
                <a16:creationId xmlns:a16="http://schemas.microsoft.com/office/drawing/2014/main" id="{438ECC5F-4330-8DF7-EF6E-5B5FC88A4FC3}"/>
              </a:ext>
            </a:extLst>
          </p:cNvPr>
          <p:cNvSpPr txBox="1"/>
          <p:nvPr/>
        </p:nvSpPr>
        <p:spPr>
          <a:xfrm>
            <a:off x="10061964" y="-1332060"/>
            <a:ext cx="808235" cy="1569660"/>
          </a:xfrm>
          <a:prstGeom prst="rect">
            <a:avLst/>
          </a:prstGeom>
          <a:noFill/>
        </p:spPr>
        <p:txBody>
          <a:bodyPr wrap="none" rtlCol="0">
            <a:spAutoFit/>
          </a:bodyPr>
          <a:lstStyle/>
          <a:p>
            <a:r>
              <a:rPr lang="en-US" sz="9600" b="1" dirty="0">
                <a:solidFill>
                  <a:schemeClr val="bg1"/>
                </a:solidFill>
                <a:latin typeface="IrisUPC" panose="020B0604020202020204" pitchFamily="34" charset="-34"/>
                <a:cs typeface="IrisUPC" panose="020B0604020202020204" pitchFamily="34" charset="-34"/>
              </a:rPr>
              <a:t>N</a:t>
            </a:r>
          </a:p>
        </p:txBody>
      </p:sp>
      <p:sp>
        <p:nvSpPr>
          <p:cNvPr id="14" name="TextBox 13">
            <a:extLst>
              <a:ext uri="{FF2B5EF4-FFF2-40B4-BE49-F238E27FC236}">
                <a16:creationId xmlns:a16="http://schemas.microsoft.com/office/drawing/2014/main" id="{5A8864A1-83C7-B684-5B17-DDBE2FE6C95D}"/>
              </a:ext>
            </a:extLst>
          </p:cNvPr>
          <p:cNvSpPr txBox="1"/>
          <p:nvPr/>
        </p:nvSpPr>
        <p:spPr>
          <a:xfrm>
            <a:off x="9543379" y="-1332060"/>
            <a:ext cx="450764" cy="1569660"/>
          </a:xfrm>
          <a:prstGeom prst="rect">
            <a:avLst/>
          </a:prstGeom>
          <a:noFill/>
        </p:spPr>
        <p:txBody>
          <a:bodyPr wrap="none" rtlCol="0">
            <a:spAutoFit/>
          </a:bodyPr>
          <a:lstStyle/>
          <a:p>
            <a:r>
              <a:rPr lang="en-US" sz="9600" b="1" dirty="0">
                <a:solidFill>
                  <a:schemeClr val="bg1"/>
                </a:solidFill>
                <a:latin typeface="IrisUPC" panose="020B0604020202020204" pitchFamily="34" charset="-34"/>
                <a:cs typeface="IrisUPC" panose="020B0604020202020204" pitchFamily="34" charset="-34"/>
              </a:rPr>
              <a:t>I</a:t>
            </a:r>
          </a:p>
        </p:txBody>
      </p:sp>
      <p:sp>
        <p:nvSpPr>
          <p:cNvPr id="15" name="TextBox 14">
            <a:extLst>
              <a:ext uri="{FF2B5EF4-FFF2-40B4-BE49-F238E27FC236}">
                <a16:creationId xmlns:a16="http://schemas.microsoft.com/office/drawing/2014/main" id="{42915641-4F8B-B414-9223-E4340F6464C3}"/>
              </a:ext>
            </a:extLst>
          </p:cNvPr>
          <p:cNvSpPr txBox="1"/>
          <p:nvPr/>
        </p:nvSpPr>
        <p:spPr>
          <a:xfrm>
            <a:off x="8555206" y="-1332060"/>
            <a:ext cx="808235" cy="1569660"/>
          </a:xfrm>
          <a:prstGeom prst="rect">
            <a:avLst/>
          </a:prstGeom>
          <a:noFill/>
        </p:spPr>
        <p:txBody>
          <a:bodyPr wrap="none" rtlCol="0">
            <a:spAutoFit/>
          </a:bodyPr>
          <a:lstStyle/>
          <a:p>
            <a:r>
              <a:rPr lang="en-US" sz="9600" b="1" dirty="0">
                <a:solidFill>
                  <a:schemeClr val="bg1"/>
                </a:solidFill>
                <a:latin typeface="IrisUPC" panose="020B0604020202020204" pitchFamily="34" charset="-34"/>
                <a:cs typeface="IrisUPC" panose="020B0604020202020204" pitchFamily="34" charset="-34"/>
              </a:rPr>
              <a:t>N</a:t>
            </a:r>
          </a:p>
        </p:txBody>
      </p:sp>
      <p:sp>
        <p:nvSpPr>
          <p:cNvPr id="16" name="TextBox 15">
            <a:extLst>
              <a:ext uri="{FF2B5EF4-FFF2-40B4-BE49-F238E27FC236}">
                <a16:creationId xmlns:a16="http://schemas.microsoft.com/office/drawing/2014/main" id="{636FE249-9CF1-BD17-362B-BE2487D361E6}"/>
              </a:ext>
            </a:extLst>
          </p:cNvPr>
          <p:cNvSpPr txBox="1"/>
          <p:nvPr/>
        </p:nvSpPr>
        <p:spPr>
          <a:xfrm>
            <a:off x="10790712" y="-1332060"/>
            <a:ext cx="808235" cy="1569660"/>
          </a:xfrm>
          <a:prstGeom prst="rect">
            <a:avLst/>
          </a:prstGeom>
          <a:noFill/>
        </p:spPr>
        <p:txBody>
          <a:bodyPr wrap="none" rtlCol="0">
            <a:spAutoFit/>
          </a:bodyPr>
          <a:lstStyle/>
          <a:p>
            <a:r>
              <a:rPr lang="en-US" sz="9600" b="1" dirty="0">
                <a:solidFill>
                  <a:schemeClr val="bg1"/>
                </a:solidFill>
                <a:latin typeface="IrisUPC" panose="020B0604020202020204" pitchFamily="34" charset="-34"/>
                <a:cs typeface="IrisUPC" panose="020B0604020202020204" pitchFamily="34" charset="-34"/>
              </a:rPr>
              <a:t>G</a:t>
            </a:r>
          </a:p>
        </p:txBody>
      </p:sp>
      <p:sp>
        <p:nvSpPr>
          <p:cNvPr id="17" name="TextBox 16">
            <a:extLst>
              <a:ext uri="{FF2B5EF4-FFF2-40B4-BE49-F238E27FC236}">
                <a16:creationId xmlns:a16="http://schemas.microsoft.com/office/drawing/2014/main" id="{7E47D246-EA84-83A1-A8EE-5BA85FCD438B}"/>
              </a:ext>
            </a:extLst>
          </p:cNvPr>
          <p:cNvSpPr txBox="1"/>
          <p:nvPr/>
        </p:nvSpPr>
        <p:spPr>
          <a:xfrm>
            <a:off x="11598687" y="-1332060"/>
            <a:ext cx="585417" cy="1569660"/>
          </a:xfrm>
          <a:prstGeom prst="rect">
            <a:avLst/>
          </a:prstGeom>
          <a:noFill/>
        </p:spPr>
        <p:txBody>
          <a:bodyPr wrap="none" rtlCol="0">
            <a:spAutoFit/>
          </a:bodyPr>
          <a:lstStyle/>
          <a:p>
            <a:r>
              <a:rPr lang="en-US" sz="9600" b="1" dirty="0">
                <a:solidFill>
                  <a:schemeClr val="bg1"/>
                </a:solidFill>
                <a:latin typeface="IrisUPC" panose="020B0604020202020204" pitchFamily="34" charset="-34"/>
                <a:cs typeface="IrisUPC" panose="020B0604020202020204" pitchFamily="34" charset="-34"/>
              </a:rPr>
              <a:t>S</a:t>
            </a:r>
          </a:p>
        </p:txBody>
      </p:sp>
      <p:sp>
        <p:nvSpPr>
          <p:cNvPr id="18" name="TextBox 17">
            <a:extLst>
              <a:ext uri="{FF2B5EF4-FFF2-40B4-BE49-F238E27FC236}">
                <a16:creationId xmlns:a16="http://schemas.microsoft.com/office/drawing/2014/main" id="{B31A2B95-DBED-FB27-6305-F02689FBBDC5}"/>
              </a:ext>
            </a:extLst>
          </p:cNvPr>
          <p:cNvSpPr txBox="1"/>
          <p:nvPr/>
        </p:nvSpPr>
        <p:spPr>
          <a:xfrm>
            <a:off x="12353363" y="1401538"/>
            <a:ext cx="8229600" cy="5539978"/>
          </a:xfrm>
          <a:prstGeom prst="rect">
            <a:avLst/>
          </a:prstGeom>
          <a:noFill/>
        </p:spPr>
        <p:txBody>
          <a:bodyPr wrap="square" rtlCol="0">
            <a:spAutoFit/>
          </a:bodyPr>
          <a:lstStyle/>
          <a:p>
            <a:r>
              <a:rPr lang="en-IN" sz="2400" dirty="0">
                <a:latin typeface="IrisUPC" panose="020B0604020202020204" pitchFamily="34" charset="-34"/>
                <a:cs typeface="IrisUPC" panose="020B0604020202020204" pitchFamily="34" charset="-34"/>
              </a:rPr>
              <a:t>Developed a comprehensive understanding of cross-border capital structuring, including equity remittance, corporate guarantees, and foreign borrowings.</a:t>
            </a:r>
          </a:p>
          <a:p>
            <a:r>
              <a:rPr lang="en-IN" sz="2400" dirty="0">
                <a:latin typeface="IrisUPC" panose="020B0604020202020204" pitchFamily="34" charset="-34"/>
                <a:cs typeface="IrisUPC" panose="020B0604020202020204" pitchFamily="34" charset="-34"/>
              </a:rPr>
              <a:t>Gained practical knowledge of RBI’s ODI framework, FEMA guidelines, and regulatory reporting requirements (ODI, EMIR, AIF).</a:t>
            </a:r>
          </a:p>
          <a:p>
            <a:r>
              <a:rPr lang="en-IN" sz="2400" dirty="0">
                <a:latin typeface="IrisUPC" panose="020B0604020202020204" pitchFamily="34" charset="-34"/>
                <a:cs typeface="IrisUPC" panose="020B0604020202020204" pitchFamily="34" charset="-34"/>
              </a:rPr>
              <a:t>Learned the end-to-end borrowing process, including facility agreements, term sheets, financial covenants, and loan compliance.</a:t>
            </a:r>
          </a:p>
          <a:p>
            <a:r>
              <a:rPr lang="en-IN" sz="2400" dirty="0">
                <a:latin typeface="IrisUPC" panose="020B0604020202020204" pitchFamily="34" charset="-34"/>
                <a:cs typeface="IrisUPC" panose="020B0604020202020204" pitchFamily="34" charset="-34"/>
              </a:rPr>
              <a:t>Enhanced skills in treasury operations such as interest rate hedging, cross-currency swaps, and bank reconciliation.</a:t>
            </a:r>
          </a:p>
          <a:p>
            <a:r>
              <a:rPr lang="en-IN" sz="2400" dirty="0">
                <a:latin typeface="IrisUPC" panose="020B0604020202020204" pitchFamily="34" charset="-34"/>
                <a:cs typeface="IrisUPC" panose="020B0604020202020204" pitchFamily="34" charset="-34"/>
              </a:rPr>
              <a:t>Strengthened abilities in documentation, valuation analysis, and compliance certifications for international financing.</a:t>
            </a:r>
          </a:p>
          <a:p>
            <a:r>
              <a:rPr lang="en-IN" sz="2400" dirty="0">
                <a:latin typeface="IrisUPC" panose="020B0604020202020204" pitchFamily="34" charset="-34"/>
                <a:cs typeface="IrisUPC" panose="020B0604020202020204" pitchFamily="34" charset="-34"/>
              </a:rPr>
              <a:t>Acquired hands-on experience in MIS reporting, international reporting, and corporate presentations for strategic decision-making.</a:t>
            </a:r>
          </a:p>
          <a:p>
            <a:r>
              <a:rPr lang="en-IN" sz="2400" dirty="0">
                <a:latin typeface="IrisUPC" panose="020B0604020202020204" pitchFamily="34" charset="-34"/>
                <a:cs typeface="IrisUPC" panose="020B0604020202020204" pitchFamily="34" charset="-34"/>
              </a:rPr>
              <a:t>Improved collaboration skills by coordinating with banks, auditors, and cross-functional teams during loan and remittance processes.</a:t>
            </a:r>
          </a:p>
          <a:p>
            <a:endParaRPr lang="en-US" dirty="0"/>
          </a:p>
        </p:txBody>
      </p:sp>
      <p:pic>
        <p:nvPicPr>
          <p:cNvPr id="20" name="Picture 19" descr="A black background with a black square&#10;&#10;AI-generated content may be incorrect.">
            <a:hlinkClick r:id="rId11" action="ppaction://hlinksldjump"/>
            <a:extLst>
              <a:ext uri="{FF2B5EF4-FFF2-40B4-BE49-F238E27FC236}">
                <a16:creationId xmlns:a16="http://schemas.microsoft.com/office/drawing/2014/main" id="{4C04DF08-31DF-FA30-E457-ECAFA41CBBD1}"/>
              </a:ext>
            </a:extLst>
          </p:cNvPr>
          <p:cNvPicPr>
            <a:picLocks noChangeAspect="1"/>
          </p:cNvPicPr>
          <p:nvPr/>
        </p:nvPicPr>
        <p:blipFill>
          <a:blip r:embed="rId12"/>
          <a:stretch>
            <a:fillRect/>
          </a:stretch>
        </p:blipFill>
        <p:spPr>
          <a:xfrm>
            <a:off x="46536" y="-620187"/>
            <a:ext cx="288000" cy="288000"/>
          </a:xfrm>
          <a:prstGeom prst="rect">
            <a:avLst/>
          </a:prstGeom>
        </p:spPr>
      </p:pic>
    </p:spTree>
    <p:extLst>
      <p:ext uri="{BB962C8B-B14F-4D97-AF65-F5344CB8AC3E}">
        <p14:creationId xmlns:p14="http://schemas.microsoft.com/office/powerpoint/2010/main" val="27936826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4EDFA3-9523-420C-90A4-12D50E200685}"/>
            </a:ext>
          </a:extLst>
        </p:cNvPr>
        <p:cNvGrpSpPr/>
        <p:nvPr/>
      </p:nvGrpSpPr>
      <p:grpSpPr>
        <a:xfrm>
          <a:off x="0" y="0"/>
          <a:ext cx="0" cy="0"/>
          <a:chOff x="0" y="0"/>
          <a:chExt cx="0" cy="0"/>
        </a:xfrm>
      </p:grpSpPr>
      <p:pic>
        <p:nvPicPr>
          <p:cNvPr id="5" name="Picture 4" descr="A blue sky with clouds&#10;&#10;AI-generated content may be incorrect.">
            <a:extLst>
              <a:ext uri="{FF2B5EF4-FFF2-40B4-BE49-F238E27FC236}">
                <a16:creationId xmlns:a16="http://schemas.microsoft.com/office/drawing/2014/main" id="{6377F0AF-BCDF-9235-94A9-9DA58A410954}"/>
              </a:ext>
            </a:extLst>
          </p:cNvPr>
          <p:cNvPicPr>
            <a:picLocks noChangeAspect="1"/>
          </p:cNvPicPr>
          <p:nvPr/>
        </p:nvPicPr>
        <p:blipFill>
          <a:blip r:embed="rId2"/>
          <a:srcRect b="15747"/>
          <a:stretch>
            <a:fillRect/>
          </a:stretch>
        </p:blipFill>
        <p:spPr>
          <a:xfrm>
            <a:off x="-1504" y="0"/>
            <a:ext cx="12191980" cy="6856718"/>
          </a:xfrm>
          <a:prstGeom prst="rect">
            <a:avLst/>
          </a:prstGeom>
        </p:spPr>
      </p:pic>
      <p:sp>
        <p:nvSpPr>
          <p:cNvPr id="30" name="TextBox 29">
            <a:extLst>
              <a:ext uri="{FF2B5EF4-FFF2-40B4-BE49-F238E27FC236}">
                <a16:creationId xmlns:a16="http://schemas.microsoft.com/office/drawing/2014/main" id="{262571A3-9FDA-4ACC-D7E1-87C19995F9EE}"/>
              </a:ext>
            </a:extLst>
          </p:cNvPr>
          <p:cNvSpPr txBox="1"/>
          <p:nvPr/>
        </p:nvSpPr>
        <p:spPr>
          <a:xfrm>
            <a:off x="3563317" y="-2987885"/>
            <a:ext cx="4884671" cy="3154710"/>
          </a:xfrm>
          <a:prstGeom prst="rect">
            <a:avLst/>
          </a:prstGeom>
          <a:noFill/>
        </p:spPr>
        <p:txBody>
          <a:bodyPr wrap="none" rtlCol="0">
            <a:spAutoFit/>
          </a:bodyPr>
          <a:lstStyle/>
          <a:p>
            <a:pPr algn="ctr"/>
            <a:r>
              <a:rPr lang="en-US" sz="19900" b="1" dirty="0">
                <a:latin typeface="IrisUPC" panose="020B0604020202020204" pitchFamily="34" charset="-34"/>
                <a:cs typeface="IrisUPC" panose="020B0604020202020204" pitchFamily="34" charset="-34"/>
              </a:rPr>
              <a:t>TABLE</a:t>
            </a:r>
          </a:p>
        </p:txBody>
      </p:sp>
      <p:sp>
        <p:nvSpPr>
          <p:cNvPr id="31" name="TextBox 30">
            <a:extLst>
              <a:ext uri="{FF2B5EF4-FFF2-40B4-BE49-F238E27FC236}">
                <a16:creationId xmlns:a16="http://schemas.microsoft.com/office/drawing/2014/main" id="{9EC33E48-DF34-EF11-F21E-C98CE5072088}"/>
              </a:ext>
            </a:extLst>
          </p:cNvPr>
          <p:cNvSpPr txBox="1"/>
          <p:nvPr/>
        </p:nvSpPr>
        <p:spPr>
          <a:xfrm>
            <a:off x="6840021" y="-824774"/>
            <a:ext cx="2219967" cy="461665"/>
          </a:xfrm>
          <a:prstGeom prst="rect">
            <a:avLst/>
          </a:prstGeom>
          <a:noFill/>
        </p:spPr>
        <p:txBody>
          <a:bodyPr wrap="none" rtlCol="0">
            <a:spAutoFit/>
          </a:bodyPr>
          <a:lstStyle/>
          <a:p>
            <a:r>
              <a:rPr lang="en-US" sz="2400" b="1" dirty="0">
                <a:latin typeface="Avenir Next Heavy" panose="020B0503020202020204" pitchFamily="34" charset="0"/>
              </a:rPr>
              <a:t>OF CONTENT</a:t>
            </a:r>
          </a:p>
        </p:txBody>
      </p:sp>
      <p:grpSp>
        <p:nvGrpSpPr>
          <p:cNvPr id="56" name="Group 55">
            <a:extLst>
              <a:ext uri="{FF2B5EF4-FFF2-40B4-BE49-F238E27FC236}">
                <a16:creationId xmlns:a16="http://schemas.microsoft.com/office/drawing/2014/main" id="{3DFA890A-9CE1-6D59-0F7E-4831D39EF5EC}"/>
              </a:ext>
            </a:extLst>
          </p:cNvPr>
          <p:cNvGrpSpPr/>
          <p:nvPr/>
        </p:nvGrpSpPr>
        <p:grpSpPr>
          <a:xfrm>
            <a:off x="6446319" y="106769"/>
            <a:ext cx="1224000" cy="1188000"/>
            <a:chOff x="6419425" y="2840151"/>
            <a:chExt cx="1224000" cy="1188000"/>
          </a:xfrm>
        </p:grpSpPr>
        <p:sp>
          <p:nvSpPr>
            <p:cNvPr id="22" name="Rectangle 21">
              <a:extLst>
                <a:ext uri="{FF2B5EF4-FFF2-40B4-BE49-F238E27FC236}">
                  <a16:creationId xmlns:a16="http://schemas.microsoft.com/office/drawing/2014/main" id="{1523B032-D816-2EA3-D7FD-383B1199DA2D}"/>
                </a:ext>
              </a:extLst>
            </p:cNvPr>
            <p:cNvSpPr>
              <a:spLocks noChangeAspect="1"/>
            </p:cNvSpPr>
            <p:nvPr/>
          </p:nvSpPr>
          <p:spPr>
            <a:xfrm>
              <a:off x="6419425" y="2877109"/>
              <a:ext cx="1224000" cy="1128107"/>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Picture 46" descr="A black background with a black square&#10;&#10;AI-generated content may be incorrect.">
              <a:extLst>
                <a:ext uri="{FF2B5EF4-FFF2-40B4-BE49-F238E27FC236}">
                  <a16:creationId xmlns:a16="http://schemas.microsoft.com/office/drawing/2014/main" id="{718B79AD-D565-B006-B35F-3A6E8A189093}"/>
                </a:ext>
              </a:extLst>
            </p:cNvPr>
            <p:cNvPicPr>
              <a:picLocks noChangeAspect="1"/>
            </p:cNvPicPr>
            <p:nvPr/>
          </p:nvPicPr>
          <p:blipFill>
            <a:blip r:embed="rId3"/>
            <a:stretch>
              <a:fillRect/>
            </a:stretch>
          </p:blipFill>
          <p:spPr>
            <a:xfrm>
              <a:off x="6431982" y="2840151"/>
              <a:ext cx="1188000" cy="1188000"/>
            </a:xfrm>
            <a:prstGeom prst="rect">
              <a:avLst/>
            </a:prstGeom>
          </p:spPr>
        </p:pic>
      </p:grpSp>
      <p:grpSp>
        <p:nvGrpSpPr>
          <p:cNvPr id="55" name="Group 54">
            <a:extLst>
              <a:ext uri="{FF2B5EF4-FFF2-40B4-BE49-F238E27FC236}">
                <a16:creationId xmlns:a16="http://schemas.microsoft.com/office/drawing/2014/main" id="{A2F4EEC1-52A3-5B1F-0228-2737BA300D84}"/>
              </a:ext>
            </a:extLst>
          </p:cNvPr>
          <p:cNvGrpSpPr/>
          <p:nvPr/>
        </p:nvGrpSpPr>
        <p:grpSpPr>
          <a:xfrm>
            <a:off x="7835988" y="7609555"/>
            <a:ext cx="1226109" cy="1224000"/>
            <a:chOff x="7835988" y="2700152"/>
            <a:chExt cx="1226109" cy="1224000"/>
          </a:xfrm>
        </p:grpSpPr>
        <p:sp>
          <p:nvSpPr>
            <p:cNvPr id="12" name="Rectangle 11">
              <a:extLst>
                <a:ext uri="{FF2B5EF4-FFF2-40B4-BE49-F238E27FC236}">
                  <a16:creationId xmlns:a16="http://schemas.microsoft.com/office/drawing/2014/main" id="{5B9E2F18-8FD3-93E4-3B5B-DFDFFC670CFC}"/>
                </a:ext>
              </a:extLst>
            </p:cNvPr>
            <p:cNvSpPr>
              <a:spLocks noChangeAspect="1"/>
            </p:cNvSpPr>
            <p:nvPr/>
          </p:nvSpPr>
          <p:spPr>
            <a:xfrm>
              <a:off x="7835988" y="2744111"/>
              <a:ext cx="1224000" cy="1128107"/>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Picture 48" descr="A black background with a black square&#10;&#10;AI-generated content may be incorrect.">
              <a:extLst>
                <a:ext uri="{FF2B5EF4-FFF2-40B4-BE49-F238E27FC236}">
                  <a16:creationId xmlns:a16="http://schemas.microsoft.com/office/drawing/2014/main" id="{7ADC5C9F-5E65-1C74-DEFA-141F28F67240}"/>
                </a:ext>
              </a:extLst>
            </p:cNvPr>
            <p:cNvPicPr>
              <a:picLocks noChangeAspect="1"/>
            </p:cNvPicPr>
            <p:nvPr/>
          </p:nvPicPr>
          <p:blipFill>
            <a:blip r:embed="rId4"/>
            <a:stretch>
              <a:fillRect/>
            </a:stretch>
          </p:blipFill>
          <p:spPr>
            <a:xfrm>
              <a:off x="7838097" y="2700152"/>
              <a:ext cx="1224000" cy="1224000"/>
            </a:xfrm>
            <a:prstGeom prst="rect">
              <a:avLst/>
            </a:prstGeom>
          </p:spPr>
        </p:pic>
      </p:grpSp>
      <p:grpSp>
        <p:nvGrpSpPr>
          <p:cNvPr id="54" name="Group 53">
            <a:extLst>
              <a:ext uri="{FF2B5EF4-FFF2-40B4-BE49-F238E27FC236}">
                <a16:creationId xmlns:a16="http://schemas.microsoft.com/office/drawing/2014/main" id="{781619DF-5029-456C-5218-7373EC96B21D}"/>
              </a:ext>
            </a:extLst>
          </p:cNvPr>
          <p:cNvGrpSpPr/>
          <p:nvPr/>
        </p:nvGrpSpPr>
        <p:grpSpPr>
          <a:xfrm>
            <a:off x="4932470" y="7657222"/>
            <a:ext cx="1224000" cy="1152000"/>
            <a:chOff x="4932470" y="2872511"/>
            <a:chExt cx="1224000" cy="1152000"/>
          </a:xfrm>
        </p:grpSpPr>
        <p:sp>
          <p:nvSpPr>
            <p:cNvPr id="24" name="Rectangle 23">
              <a:extLst>
                <a:ext uri="{FF2B5EF4-FFF2-40B4-BE49-F238E27FC236}">
                  <a16:creationId xmlns:a16="http://schemas.microsoft.com/office/drawing/2014/main" id="{12ECBD12-16C7-D0AD-BD58-6FE67275E005}"/>
                </a:ext>
              </a:extLst>
            </p:cNvPr>
            <p:cNvSpPr>
              <a:spLocks noChangeAspect="1"/>
            </p:cNvSpPr>
            <p:nvPr/>
          </p:nvSpPr>
          <p:spPr>
            <a:xfrm>
              <a:off x="4932470" y="2880930"/>
              <a:ext cx="1224000" cy="1128107"/>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50" descr="A black background with a black square&#10;&#10;AI-generated content may be incorrect.">
              <a:extLst>
                <a:ext uri="{FF2B5EF4-FFF2-40B4-BE49-F238E27FC236}">
                  <a16:creationId xmlns:a16="http://schemas.microsoft.com/office/drawing/2014/main" id="{08C79D61-1253-7400-4FFA-24BA75D5C533}"/>
                </a:ext>
              </a:extLst>
            </p:cNvPr>
            <p:cNvPicPr>
              <a:picLocks noChangeAspect="1"/>
            </p:cNvPicPr>
            <p:nvPr/>
          </p:nvPicPr>
          <p:blipFill>
            <a:blip r:embed="rId5"/>
            <a:stretch>
              <a:fillRect/>
            </a:stretch>
          </p:blipFill>
          <p:spPr>
            <a:xfrm>
              <a:off x="4969339" y="2872511"/>
              <a:ext cx="1152000" cy="1152000"/>
            </a:xfrm>
            <a:prstGeom prst="rect">
              <a:avLst/>
            </a:prstGeom>
          </p:spPr>
        </p:pic>
      </p:grpSp>
      <p:grpSp>
        <p:nvGrpSpPr>
          <p:cNvPr id="57" name="Group 56">
            <a:extLst>
              <a:ext uri="{FF2B5EF4-FFF2-40B4-BE49-F238E27FC236}">
                <a16:creationId xmlns:a16="http://schemas.microsoft.com/office/drawing/2014/main" id="{D5AB28AB-7EED-E03C-383E-C37199E6A776}"/>
              </a:ext>
            </a:extLst>
          </p:cNvPr>
          <p:cNvGrpSpPr/>
          <p:nvPr/>
        </p:nvGrpSpPr>
        <p:grpSpPr>
          <a:xfrm>
            <a:off x="3120056" y="7654436"/>
            <a:ext cx="1224000" cy="1152000"/>
            <a:chOff x="3120056" y="2869725"/>
            <a:chExt cx="1224000" cy="1152000"/>
          </a:xfrm>
        </p:grpSpPr>
        <p:sp>
          <p:nvSpPr>
            <p:cNvPr id="23" name="Rectangle 22">
              <a:extLst>
                <a:ext uri="{FF2B5EF4-FFF2-40B4-BE49-F238E27FC236}">
                  <a16:creationId xmlns:a16="http://schemas.microsoft.com/office/drawing/2014/main" id="{574DC217-D29E-EF8E-3E73-D15D2CD662C3}"/>
                </a:ext>
              </a:extLst>
            </p:cNvPr>
            <p:cNvSpPr>
              <a:spLocks noChangeAspect="1"/>
            </p:cNvSpPr>
            <p:nvPr/>
          </p:nvSpPr>
          <p:spPr>
            <a:xfrm>
              <a:off x="3120056" y="2869725"/>
              <a:ext cx="1224000" cy="1151971"/>
            </a:xfrm>
            <a:prstGeom prst="rect">
              <a:avLst/>
            </a:prstGeom>
            <a:blipFill dpi="0" rotWithShape="1">
              <a:blip r:embed="rId6">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pic>
          <p:nvPicPr>
            <p:cNvPr id="53" name="Picture 52" descr="A black background with a black square&#10;&#10;AI-generated content may be incorrect.">
              <a:hlinkClick r:id="rId7" action="ppaction://hlinksldjump"/>
              <a:extLst>
                <a:ext uri="{FF2B5EF4-FFF2-40B4-BE49-F238E27FC236}">
                  <a16:creationId xmlns:a16="http://schemas.microsoft.com/office/drawing/2014/main" id="{5516F121-79D2-BEEE-582F-D8F05350B585}"/>
                </a:ext>
              </a:extLst>
            </p:cNvPr>
            <p:cNvPicPr>
              <a:picLocks noChangeAspect="1"/>
            </p:cNvPicPr>
            <p:nvPr/>
          </p:nvPicPr>
          <p:blipFill>
            <a:blip r:embed="rId6"/>
            <a:stretch>
              <a:fillRect/>
            </a:stretch>
          </p:blipFill>
          <p:spPr>
            <a:xfrm>
              <a:off x="3148786" y="2869725"/>
              <a:ext cx="1152000" cy="1152000"/>
            </a:xfrm>
            <a:prstGeom prst="rect">
              <a:avLst/>
            </a:prstGeom>
          </p:spPr>
        </p:pic>
      </p:grpSp>
      <p:sp>
        <p:nvSpPr>
          <p:cNvPr id="2" name="TextBox 1">
            <a:extLst>
              <a:ext uri="{FF2B5EF4-FFF2-40B4-BE49-F238E27FC236}">
                <a16:creationId xmlns:a16="http://schemas.microsoft.com/office/drawing/2014/main" id="{738B9616-E318-FB4F-2D2F-E9E41AC17CDE}"/>
              </a:ext>
            </a:extLst>
          </p:cNvPr>
          <p:cNvSpPr txBox="1"/>
          <p:nvPr/>
        </p:nvSpPr>
        <p:spPr>
          <a:xfrm>
            <a:off x="828609" y="106769"/>
            <a:ext cx="1641796" cy="6463308"/>
          </a:xfrm>
          <a:prstGeom prst="rect">
            <a:avLst/>
          </a:prstGeom>
          <a:noFill/>
        </p:spPr>
        <p:txBody>
          <a:bodyPr wrap="none" rtlCol="0">
            <a:spAutoFit/>
          </a:bodyPr>
          <a:lstStyle/>
          <a:p>
            <a:r>
              <a:rPr lang="en-US" sz="13800" dirty="0">
                <a:solidFill>
                  <a:srgbClr val="FFFF00"/>
                </a:solidFill>
                <a:latin typeface="Felix Titling" pitchFamily="82" charset="77"/>
                <a:cs typeface="IrisUPC" panose="020B0604020202020204" pitchFamily="34" charset="-34"/>
              </a:rPr>
              <a:t>K</a:t>
            </a:r>
          </a:p>
          <a:p>
            <a:r>
              <a:rPr lang="en-US" sz="13800" dirty="0">
                <a:solidFill>
                  <a:srgbClr val="FFFF00"/>
                </a:solidFill>
                <a:latin typeface="Felix Titling" pitchFamily="82" charset="77"/>
                <a:cs typeface="IrisUPC" panose="020B0604020202020204" pitchFamily="34" charset="-34"/>
              </a:rPr>
              <a:t>E</a:t>
            </a:r>
          </a:p>
          <a:p>
            <a:r>
              <a:rPr lang="en-US" sz="13800" dirty="0">
                <a:solidFill>
                  <a:srgbClr val="FFFF00"/>
                </a:solidFill>
                <a:latin typeface="Felix Titling" pitchFamily="82" charset="77"/>
                <a:cs typeface="IrisUPC" panose="020B0604020202020204" pitchFamily="34" charset="-34"/>
              </a:rPr>
              <a:t>Y</a:t>
            </a:r>
            <a:endParaRPr lang="en-US" sz="6600" dirty="0">
              <a:solidFill>
                <a:srgbClr val="FFFF00"/>
              </a:solidFill>
              <a:latin typeface="Felix Titling" pitchFamily="82" charset="77"/>
              <a:cs typeface="IrisUPC" panose="020B0604020202020204" pitchFamily="34" charset="-34"/>
            </a:endParaRPr>
          </a:p>
        </p:txBody>
      </p:sp>
      <p:sp>
        <p:nvSpPr>
          <p:cNvPr id="6" name="TextBox 5">
            <a:extLst>
              <a:ext uri="{FF2B5EF4-FFF2-40B4-BE49-F238E27FC236}">
                <a16:creationId xmlns:a16="http://schemas.microsoft.com/office/drawing/2014/main" id="{E0FE1800-35BC-8BAE-1A7A-53F038463930}"/>
              </a:ext>
            </a:extLst>
          </p:cNvPr>
          <p:cNvSpPr txBox="1"/>
          <p:nvPr/>
        </p:nvSpPr>
        <p:spPr>
          <a:xfrm>
            <a:off x="4864308" y="-323535"/>
            <a:ext cx="585417" cy="1569660"/>
          </a:xfrm>
          <a:prstGeom prst="rect">
            <a:avLst/>
          </a:prstGeom>
          <a:noFill/>
        </p:spPr>
        <p:txBody>
          <a:bodyPr wrap="none" rtlCol="0">
            <a:spAutoFit/>
          </a:bodyPr>
          <a:lstStyle/>
          <a:p>
            <a:r>
              <a:rPr lang="en-US" sz="9600" b="1" dirty="0">
                <a:solidFill>
                  <a:schemeClr val="bg1"/>
                </a:solidFill>
                <a:latin typeface="IrisUPC" panose="020B0604020202020204" pitchFamily="34" charset="-34"/>
                <a:cs typeface="IrisUPC" panose="020B0604020202020204" pitchFamily="34" charset="-34"/>
              </a:rPr>
              <a:t>L</a:t>
            </a:r>
          </a:p>
        </p:txBody>
      </p:sp>
      <p:sp>
        <p:nvSpPr>
          <p:cNvPr id="7" name="TextBox 6">
            <a:extLst>
              <a:ext uri="{FF2B5EF4-FFF2-40B4-BE49-F238E27FC236}">
                <a16:creationId xmlns:a16="http://schemas.microsoft.com/office/drawing/2014/main" id="{BFEEA6C6-DB5B-FF9E-BE73-A80B0F87C4D2}"/>
              </a:ext>
            </a:extLst>
          </p:cNvPr>
          <p:cNvSpPr txBox="1"/>
          <p:nvPr/>
        </p:nvSpPr>
        <p:spPr>
          <a:xfrm>
            <a:off x="5637625" y="-323535"/>
            <a:ext cx="585417" cy="1569660"/>
          </a:xfrm>
          <a:prstGeom prst="rect">
            <a:avLst/>
          </a:prstGeom>
          <a:noFill/>
        </p:spPr>
        <p:txBody>
          <a:bodyPr wrap="none" rtlCol="0">
            <a:spAutoFit/>
          </a:bodyPr>
          <a:lstStyle/>
          <a:p>
            <a:r>
              <a:rPr lang="en-US" sz="9600" b="1" dirty="0">
                <a:solidFill>
                  <a:schemeClr val="bg1"/>
                </a:solidFill>
                <a:latin typeface="IrisUPC" panose="020B0604020202020204" pitchFamily="34" charset="-34"/>
                <a:cs typeface="IrisUPC" panose="020B0604020202020204" pitchFamily="34" charset="-34"/>
              </a:rPr>
              <a:t>E</a:t>
            </a:r>
          </a:p>
        </p:txBody>
      </p:sp>
      <p:sp>
        <p:nvSpPr>
          <p:cNvPr id="8" name="TextBox 7">
            <a:extLst>
              <a:ext uri="{FF2B5EF4-FFF2-40B4-BE49-F238E27FC236}">
                <a16:creationId xmlns:a16="http://schemas.microsoft.com/office/drawing/2014/main" id="{973CDE86-F532-246C-CF74-3181BFC84161}"/>
              </a:ext>
            </a:extLst>
          </p:cNvPr>
          <p:cNvSpPr txBox="1"/>
          <p:nvPr/>
        </p:nvSpPr>
        <p:spPr>
          <a:xfrm>
            <a:off x="7849603" y="-323535"/>
            <a:ext cx="673582" cy="1569660"/>
          </a:xfrm>
          <a:prstGeom prst="rect">
            <a:avLst/>
          </a:prstGeom>
          <a:noFill/>
        </p:spPr>
        <p:txBody>
          <a:bodyPr wrap="none" rtlCol="0">
            <a:spAutoFit/>
          </a:bodyPr>
          <a:lstStyle/>
          <a:p>
            <a:r>
              <a:rPr lang="en-US" sz="9600" b="1" dirty="0">
                <a:solidFill>
                  <a:schemeClr val="bg1"/>
                </a:solidFill>
                <a:latin typeface="IrisUPC" panose="020B0604020202020204" pitchFamily="34" charset="-34"/>
                <a:cs typeface="IrisUPC" panose="020B0604020202020204" pitchFamily="34" charset="-34"/>
              </a:rPr>
              <a:t>R</a:t>
            </a:r>
          </a:p>
        </p:txBody>
      </p:sp>
      <p:sp>
        <p:nvSpPr>
          <p:cNvPr id="9" name="TextBox 8">
            <a:extLst>
              <a:ext uri="{FF2B5EF4-FFF2-40B4-BE49-F238E27FC236}">
                <a16:creationId xmlns:a16="http://schemas.microsoft.com/office/drawing/2014/main" id="{648DCFBB-A67D-9642-AAF2-5A3CDBB43BE2}"/>
              </a:ext>
            </a:extLst>
          </p:cNvPr>
          <p:cNvSpPr txBox="1"/>
          <p:nvPr/>
        </p:nvSpPr>
        <p:spPr>
          <a:xfrm>
            <a:off x="10061964" y="-323535"/>
            <a:ext cx="808235" cy="1569660"/>
          </a:xfrm>
          <a:prstGeom prst="rect">
            <a:avLst/>
          </a:prstGeom>
          <a:noFill/>
        </p:spPr>
        <p:txBody>
          <a:bodyPr wrap="none" rtlCol="0">
            <a:spAutoFit/>
          </a:bodyPr>
          <a:lstStyle/>
          <a:p>
            <a:r>
              <a:rPr lang="en-US" sz="9600" b="1" dirty="0">
                <a:solidFill>
                  <a:schemeClr val="bg1"/>
                </a:solidFill>
                <a:latin typeface="IrisUPC" panose="020B0604020202020204" pitchFamily="34" charset="-34"/>
                <a:cs typeface="IrisUPC" panose="020B0604020202020204" pitchFamily="34" charset="-34"/>
              </a:rPr>
              <a:t>N</a:t>
            </a:r>
          </a:p>
        </p:txBody>
      </p:sp>
      <p:sp>
        <p:nvSpPr>
          <p:cNvPr id="10" name="TextBox 9">
            <a:extLst>
              <a:ext uri="{FF2B5EF4-FFF2-40B4-BE49-F238E27FC236}">
                <a16:creationId xmlns:a16="http://schemas.microsoft.com/office/drawing/2014/main" id="{0B62DD1F-9041-3176-6541-427075A9FA73}"/>
              </a:ext>
            </a:extLst>
          </p:cNvPr>
          <p:cNvSpPr txBox="1"/>
          <p:nvPr/>
        </p:nvSpPr>
        <p:spPr>
          <a:xfrm>
            <a:off x="9543379" y="-323535"/>
            <a:ext cx="450764" cy="1569660"/>
          </a:xfrm>
          <a:prstGeom prst="rect">
            <a:avLst/>
          </a:prstGeom>
          <a:noFill/>
        </p:spPr>
        <p:txBody>
          <a:bodyPr wrap="none" rtlCol="0">
            <a:spAutoFit/>
          </a:bodyPr>
          <a:lstStyle/>
          <a:p>
            <a:r>
              <a:rPr lang="en-US" sz="9600" b="1" dirty="0">
                <a:solidFill>
                  <a:schemeClr val="bg1"/>
                </a:solidFill>
                <a:latin typeface="IrisUPC" panose="020B0604020202020204" pitchFamily="34" charset="-34"/>
                <a:cs typeface="IrisUPC" panose="020B0604020202020204" pitchFamily="34" charset="-34"/>
              </a:rPr>
              <a:t>I</a:t>
            </a:r>
          </a:p>
        </p:txBody>
      </p:sp>
      <p:sp>
        <p:nvSpPr>
          <p:cNvPr id="11" name="TextBox 10">
            <a:extLst>
              <a:ext uri="{FF2B5EF4-FFF2-40B4-BE49-F238E27FC236}">
                <a16:creationId xmlns:a16="http://schemas.microsoft.com/office/drawing/2014/main" id="{E686A18E-33C1-E4FE-ACBE-D06D715E1259}"/>
              </a:ext>
            </a:extLst>
          </p:cNvPr>
          <p:cNvSpPr txBox="1"/>
          <p:nvPr/>
        </p:nvSpPr>
        <p:spPr>
          <a:xfrm>
            <a:off x="8555206" y="-323535"/>
            <a:ext cx="808235" cy="1569660"/>
          </a:xfrm>
          <a:prstGeom prst="rect">
            <a:avLst/>
          </a:prstGeom>
          <a:noFill/>
        </p:spPr>
        <p:txBody>
          <a:bodyPr wrap="none" rtlCol="0">
            <a:spAutoFit/>
          </a:bodyPr>
          <a:lstStyle/>
          <a:p>
            <a:r>
              <a:rPr lang="en-US" sz="9600" b="1" dirty="0">
                <a:solidFill>
                  <a:schemeClr val="bg1"/>
                </a:solidFill>
                <a:latin typeface="IrisUPC" panose="020B0604020202020204" pitchFamily="34" charset="-34"/>
                <a:cs typeface="IrisUPC" panose="020B0604020202020204" pitchFamily="34" charset="-34"/>
              </a:rPr>
              <a:t>N</a:t>
            </a:r>
          </a:p>
        </p:txBody>
      </p:sp>
      <p:sp>
        <p:nvSpPr>
          <p:cNvPr id="13" name="TextBox 12">
            <a:extLst>
              <a:ext uri="{FF2B5EF4-FFF2-40B4-BE49-F238E27FC236}">
                <a16:creationId xmlns:a16="http://schemas.microsoft.com/office/drawing/2014/main" id="{5A4504A9-BACA-2028-0EF7-C8E6401947EE}"/>
              </a:ext>
            </a:extLst>
          </p:cNvPr>
          <p:cNvSpPr txBox="1"/>
          <p:nvPr/>
        </p:nvSpPr>
        <p:spPr>
          <a:xfrm>
            <a:off x="10790712" y="-323535"/>
            <a:ext cx="808235" cy="1569660"/>
          </a:xfrm>
          <a:prstGeom prst="rect">
            <a:avLst/>
          </a:prstGeom>
          <a:noFill/>
        </p:spPr>
        <p:txBody>
          <a:bodyPr wrap="none" rtlCol="0">
            <a:spAutoFit/>
          </a:bodyPr>
          <a:lstStyle/>
          <a:p>
            <a:r>
              <a:rPr lang="en-US" sz="9600" b="1" dirty="0">
                <a:solidFill>
                  <a:schemeClr val="bg1"/>
                </a:solidFill>
                <a:latin typeface="IrisUPC" panose="020B0604020202020204" pitchFamily="34" charset="-34"/>
                <a:cs typeface="IrisUPC" panose="020B0604020202020204" pitchFamily="34" charset="-34"/>
              </a:rPr>
              <a:t>G</a:t>
            </a:r>
          </a:p>
        </p:txBody>
      </p:sp>
      <p:sp>
        <p:nvSpPr>
          <p:cNvPr id="14" name="TextBox 13">
            <a:extLst>
              <a:ext uri="{FF2B5EF4-FFF2-40B4-BE49-F238E27FC236}">
                <a16:creationId xmlns:a16="http://schemas.microsoft.com/office/drawing/2014/main" id="{6167C145-6BC7-3EF8-BCEB-E869CAE7D262}"/>
              </a:ext>
            </a:extLst>
          </p:cNvPr>
          <p:cNvSpPr txBox="1"/>
          <p:nvPr/>
        </p:nvSpPr>
        <p:spPr>
          <a:xfrm>
            <a:off x="11598687" y="-323535"/>
            <a:ext cx="585417" cy="1569660"/>
          </a:xfrm>
          <a:prstGeom prst="rect">
            <a:avLst/>
          </a:prstGeom>
          <a:noFill/>
        </p:spPr>
        <p:txBody>
          <a:bodyPr wrap="none" rtlCol="0">
            <a:spAutoFit/>
          </a:bodyPr>
          <a:lstStyle/>
          <a:p>
            <a:r>
              <a:rPr lang="en-US" sz="9600" b="1" dirty="0">
                <a:solidFill>
                  <a:schemeClr val="bg1"/>
                </a:solidFill>
                <a:latin typeface="IrisUPC" panose="020B0604020202020204" pitchFamily="34" charset="-34"/>
                <a:cs typeface="IrisUPC" panose="020B0604020202020204" pitchFamily="34" charset="-34"/>
              </a:rPr>
              <a:t>S</a:t>
            </a:r>
          </a:p>
        </p:txBody>
      </p:sp>
      <p:sp>
        <p:nvSpPr>
          <p:cNvPr id="18" name="TextBox 17">
            <a:extLst>
              <a:ext uri="{FF2B5EF4-FFF2-40B4-BE49-F238E27FC236}">
                <a16:creationId xmlns:a16="http://schemas.microsoft.com/office/drawing/2014/main" id="{1DF3AF85-3AEA-EB30-24F6-86EA49FDFCD8}"/>
              </a:ext>
            </a:extLst>
          </p:cNvPr>
          <p:cNvSpPr txBox="1"/>
          <p:nvPr/>
        </p:nvSpPr>
        <p:spPr>
          <a:xfrm>
            <a:off x="3532076" y="1401538"/>
            <a:ext cx="8229600" cy="5539978"/>
          </a:xfrm>
          <a:prstGeom prst="rect">
            <a:avLst/>
          </a:prstGeom>
          <a:noFill/>
        </p:spPr>
        <p:txBody>
          <a:bodyPr wrap="square" rtlCol="0">
            <a:spAutoFit/>
          </a:bodyPr>
          <a:lstStyle/>
          <a:p>
            <a:r>
              <a:rPr lang="en-IN" sz="2400" dirty="0">
                <a:latin typeface="IrisUPC" panose="020B0604020202020204" pitchFamily="34" charset="-34"/>
                <a:cs typeface="IrisUPC" panose="020B0604020202020204" pitchFamily="34" charset="-34"/>
              </a:rPr>
              <a:t>Developed a comprehensive understanding of cross-border capital structuring, including equity remittance, corporate guarantees, and foreign borrowings.</a:t>
            </a:r>
          </a:p>
          <a:p>
            <a:r>
              <a:rPr lang="en-IN" sz="2400" dirty="0">
                <a:latin typeface="IrisUPC" panose="020B0604020202020204" pitchFamily="34" charset="-34"/>
                <a:cs typeface="IrisUPC" panose="020B0604020202020204" pitchFamily="34" charset="-34"/>
              </a:rPr>
              <a:t>Gained practical knowledge of RBI’s ODI framework, FEMA guidelines, and regulatory reporting requirements (ODI, EMIR, AIF).</a:t>
            </a:r>
          </a:p>
          <a:p>
            <a:r>
              <a:rPr lang="en-IN" sz="2400" dirty="0">
                <a:latin typeface="IrisUPC" panose="020B0604020202020204" pitchFamily="34" charset="-34"/>
                <a:cs typeface="IrisUPC" panose="020B0604020202020204" pitchFamily="34" charset="-34"/>
              </a:rPr>
              <a:t>Learned the end-to-end borrowing process, including facility agreements, term sheets, financial covenants, and loan compliance.</a:t>
            </a:r>
          </a:p>
          <a:p>
            <a:r>
              <a:rPr lang="en-IN" sz="2400" dirty="0">
                <a:latin typeface="IrisUPC" panose="020B0604020202020204" pitchFamily="34" charset="-34"/>
                <a:cs typeface="IrisUPC" panose="020B0604020202020204" pitchFamily="34" charset="-34"/>
              </a:rPr>
              <a:t>Enhanced skills in treasury operations such as interest rate hedging, cross-currency swaps, and bank reconciliation.</a:t>
            </a:r>
          </a:p>
          <a:p>
            <a:r>
              <a:rPr lang="en-IN" sz="2400" dirty="0">
                <a:latin typeface="IrisUPC" panose="020B0604020202020204" pitchFamily="34" charset="-34"/>
                <a:cs typeface="IrisUPC" panose="020B0604020202020204" pitchFamily="34" charset="-34"/>
              </a:rPr>
              <a:t>Strengthened abilities in documentation, valuation analysis, and compliance certifications for international financing.</a:t>
            </a:r>
          </a:p>
          <a:p>
            <a:r>
              <a:rPr lang="en-IN" sz="2400" dirty="0">
                <a:latin typeface="IrisUPC" panose="020B0604020202020204" pitchFamily="34" charset="-34"/>
                <a:cs typeface="IrisUPC" panose="020B0604020202020204" pitchFamily="34" charset="-34"/>
              </a:rPr>
              <a:t>Acquired hands-on experience in MIS reporting, international reporting, and corporate presentations for strategic decision-making.</a:t>
            </a:r>
          </a:p>
          <a:p>
            <a:r>
              <a:rPr lang="en-IN" sz="2400" dirty="0">
                <a:latin typeface="IrisUPC" panose="020B0604020202020204" pitchFamily="34" charset="-34"/>
                <a:cs typeface="IrisUPC" panose="020B0604020202020204" pitchFamily="34" charset="-34"/>
              </a:rPr>
              <a:t>Improved collaboration skills by coordinating with banks, auditors, and cross-functional teams during loan and remittance processes.</a:t>
            </a:r>
          </a:p>
          <a:p>
            <a:endParaRPr lang="en-US" dirty="0"/>
          </a:p>
        </p:txBody>
      </p:sp>
      <p:pic>
        <p:nvPicPr>
          <p:cNvPr id="19" name="Picture 18" descr="A black background with a black square&#10;&#10;AI-generated content may be incorrect.">
            <a:hlinkClick r:id="rId8" action="ppaction://hlinksldjump"/>
            <a:extLst>
              <a:ext uri="{FF2B5EF4-FFF2-40B4-BE49-F238E27FC236}">
                <a16:creationId xmlns:a16="http://schemas.microsoft.com/office/drawing/2014/main" id="{D004462D-209C-569E-ADFA-42592733A999}"/>
              </a:ext>
            </a:extLst>
          </p:cNvPr>
          <p:cNvPicPr>
            <a:picLocks noChangeAspect="1"/>
          </p:cNvPicPr>
          <p:nvPr/>
        </p:nvPicPr>
        <p:blipFill>
          <a:blip r:embed="rId9"/>
          <a:stretch>
            <a:fillRect/>
          </a:stretch>
        </p:blipFill>
        <p:spPr>
          <a:xfrm>
            <a:off x="46536" y="68927"/>
            <a:ext cx="288000" cy="288000"/>
          </a:xfrm>
          <a:prstGeom prst="rect">
            <a:avLst/>
          </a:prstGeom>
        </p:spPr>
      </p:pic>
    </p:spTree>
    <p:extLst>
      <p:ext uri="{BB962C8B-B14F-4D97-AF65-F5344CB8AC3E}">
        <p14:creationId xmlns:p14="http://schemas.microsoft.com/office/powerpoint/2010/main" val="24770928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BE0144-7DC6-1822-D125-76A684AD93B3}"/>
            </a:ext>
          </a:extLst>
        </p:cNvPr>
        <p:cNvGrpSpPr/>
        <p:nvPr/>
      </p:nvGrpSpPr>
      <p:grpSpPr>
        <a:xfrm>
          <a:off x="0" y="0"/>
          <a:ext cx="0" cy="0"/>
          <a:chOff x="0" y="0"/>
          <a:chExt cx="0" cy="0"/>
        </a:xfrm>
      </p:grpSpPr>
      <p:pic>
        <p:nvPicPr>
          <p:cNvPr id="5" name="Picture 4" descr="A blue sky with clouds&#10;&#10;AI-generated content may be incorrect.">
            <a:extLst>
              <a:ext uri="{FF2B5EF4-FFF2-40B4-BE49-F238E27FC236}">
                <a16:creationId xmlns:a16="http://schemas.microsoft.com/office/drawing/2014/main" id="{96A2AE95-8B32-D848-061B-070D4FAA6DBD}"/>
              </a:ext>
            </a:extLst>
          </p:cNvPr>
          <p:cNvPicPr>
            <a:picLocks noChangeAspect="1"/>
          </p:cNvPicPr>
          <p:nvPr/>
        </p:nvPicPr>
        <p:blipFill>
          <a:blip r:embed="rId2"/>
          <a:srcRect b="15747"/>
          <a:stretch>
            <a:fillRect/>
          </a:stretch>
        </p:blipFill>
        <p:spPr>
          <a:xfrm>
            <a:off x="10071" y="0"/>
            <a:ext cx="12191980" cy="6856718"/>
          </a:xfrm>
          <a:prstGeom prst="rect">
            <a:avLst/>
          </a:prstGeom>
        </p:spPr>
      </p:pic>
      <p:sp>
        <p:nvSpPr>
          <p:cNvPr id="30" name="TextBox 29">
            <a:extLst>
              <a:ext uri="{FF2B5EF4-FFF2-40B4-BE49-F238E27FC236}">
                <a16:creationId xmlns:a16="http://schemas.microsoft.com/office/drawing/2014/main" id="{854B9122-A44E-9A60-8A74-EA8EA36F307C}"/>
              </a:ext>
            </a:extLst>
          </p:cNvPr>
          <p:cNvSpPr txBox="1"/>
          <p:nvPr/>
        </p:nvSpPr>
        <p:spPr>
          <a:xfrm>
            <a:off x="3563317" y="-634650"/>
            <a:ext cx="4884671" cy="3154710"/>
          </a:xfrm>
          <a:prstGeom prst="rect">
            <a:avLst/>
          </a:prstGeom>
          <a:noFill/>
        </p:spPr>
        <p:txBody>
          <a:bodyPr wrap="none" rtlCol="0">
            <a:spAutoFit/>
          </a:bodyPr>
          <a:lstStyle/>
          <a:p>
            <a:pPr algn="ctr"/>
            <a:r>
              <a:rPr lang="en-US" sz="19900" b="1" dirty="0">
                <a:latin typeface="IrisUPC" panose="020B0604020202020204" pitchFamily="34" charset="-34"/>
                <a:cs typeface="IrisUPC" panose="020B0604020202020204" pitchFamily="34" charset="-34"/>
              </a:rPr>
              <a:t>TABLE</a:t>
            </a:r>
          </a:p>
        </p:txBody>
      </p:sp>
      <p:sp>
        <p:nvSpPr>
          <p:cNvPr id="31" name="TextBox 30">
            <a:extLst>
              <a:ext uri="{FF2B5EF4-FFF2-40B4-BE49-F238E27FC236}">
                <a16:creationId xmlns:a16="http://schemas.microsoft.com/office/drawing/2014/main" id="{ECCB0DF4-70AC-A90C-B485-64E19E9BEF49}"/>
              </a:ext>
            </a:extLst>
          </p:cNvPr>
          <p:cNvSpPr txBox="1"/>
          <p:nvPr/>
        </p:nvSpPr>
        <p:spPr>
          <a:xfrm>
            <a:off x="6840021" y="1528461"/>
            <a:ext cx="2219967" cy="461665"/>
          </a:xfrm>
          <a:prstGeom prst="rect">
            <a:avLst/>
          </a:prstGeom>
          <a:noFill/>
        </p:spPr>
        <p:txBody>
          <a:bodyPr wrap="none" rtlCol="0">
            <a:spAutoFit/>
          </a:bodyPr>
          <a:lstStyle/>
          <a:p>
            <a:r>
              <a:rPr lang="en-US" sz="2400" b="1" dirty="0">
                <a:latin typeface="Avenir Next Heavy" panose="020B0503020202020204" pitchFamily="34" charset="0"/>
              </a:rPr>
              <a:t>OF CONTENT</a:t>
            </a:r>
          </a:p>
        </p:txBody>
      </p:sp>
      <p:grpSp>
        <p:nvGrpSpPr>
          <p:cNvPr id="56" name="Group 55">
            <a:extLst>
              <a:ext uri="{FF2B5EF4-FFF2-40B4-BE49-F238E27FC236}">
                <a16:creationId xmlns:a16="http://schemas.microsoft.com/office/drawing/2014/main" id="{4046A99C-7048-1275-66EF-3C26AEDBC803}"/>
              </a:ext>
            </a:extLst>
          </p:cNvPr>
          <p:cNvGrpSpPr/>
          <p:nvPr/>
        </p:nvGrpSpPr>
        <p:grpSpPr>
          <a:xfrm>
            <a:off x="6419425" y="2528421"/>
            <a:ext cx="1224000" cy="1188000"/>
            <a:chOff x="6419425" y="2840151"/>
            <a:chExt cx="1224000" cy="1188000"/>
          </a:xfrm>
        </p:grpSpPr>
        <p:sp>
          <p:nvSpPr>
            <p:cNvPr id="22" name="Rectangle 21">
              <a:extLst>
                <a:ext uri="{FF2B5EF4-FFF2-40B4-BE49-F238E27FC236}">
                  <a16:creationId xmlns:a16="http://schemas.microsoft.com/office/drawing/2014/main" id="{92CD7AD1-5F28-D938-B3A2-F1410012B6F9}"/>
                </a:ext>
              </a:extLst>
            </p:cNvPr>
            <p:cNvSpPr>
              <a:spLocks noChangeAspect="1"/>
            </p:cNvSpPr>
            <p:nvPr/>
          </p:nvSpPr>
          <p:spPr>
            <a:xfrm>
              <a:off x="6419425" y="2877109"/>
              <a:ext cx="1224000" cy="1128107"/>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Picture 46" descr="A black background with a black square&#10;&#10;AI-generated content may be incorrect.">
              <a:hlinkClick r:id="rId4" action="ppaction://hlinksldjump"/>
              <a:extLst>
                <a:ext uri="{FF2B5EF4-FFF2-40B4-BE49-F238E27FC236}">
                  <a16:creationId xmlns:a16="http://schemas.microsoft.com/office/drawing/2014/main" id="{9A5A37E9-B652-F246-7505-2BC81AD3CF49}"/>
                </a:ext>
              </a:extLst>
            </p:cNvPr>
            <p:cNvPicPr>
              <a:picLocks noChangeAspect="1"/>
            </p:cNvPicPr>
            <p:nvPr/>
          </p:nvPicPr>
          <p:blipFill>
            <a:blip r:embed="rId3"/>
            <a:stretch>
              <a:fillRect/>
            </a:stretch>
          </p:blipFill>
          <p:spPr>
            <a:xfrm>
              <a:off x="6431982" y="2840151"/>
              <a:ext cx="1188000" cy="1188000"/>
            </a:xfrm>
            <a:prstGeom prst="rect">
              <a:avLst/>
            </a:prstGeom>
          </p:spPr>
        </p:pic>
      </p:grpSp>
      <p:grpSp>
        <p:nvGrpSpPr>
          <p:cNvPr id="55" name="Group 54">
            <a:extLst>
              <a:ext uri="{FF2B5EF4-FFF2-40B4-BE49-F238E27FC236}">
                <a16:creationId xmlns:a16="http://schemas.microsoft.com/office/drawing/2014/main" id="{5D5394DC-296F-E3F8-AB98-9CEFC84FD5A5}"/>
              </a:ext>
            </a:extLst>
          </p:cNvPr>
          <p:cNvGrpSpPr/>
          <p:nvPr/>
        </p:nvGrpSpPr>
        <p:grpSpPr>
          <a:xfrm>
            <a:off x="7835988" y="2513114"/>
            <a:ext cx="1226109" cy="1224000"/>
            <a:chOff x="7835988" y="2700152"/>
            <a:chExt cx="1226109" cy="1224000"/>
          </a:xfrm>
        </p:grpSpPr>
        <p:sp>
          <p:nvSpPr>
            <p:cNvPr id="12" name="Rectangle 11">
              <a:extLst>
                <a:ext uri="{FF2B5EF4-FFF2-40B4-BE49-F238E27FC236}">
                  <a16:creationId xmlns:a16="http://schemas.microsoft.com/office/drawing/2014/main" id="{E7416AF8-C331-4FB9-15D5-76A35F06153D}"/>
                </a:ext>
              </a:extLst>
            </p:cNvPr>
            <p:cNvSpPr>
              <a:spLocks noChangeAspect="1"/>
            </p:cNvSpPr>
            <p:nvPr/>
          </p:nvSpPr>
          <p:spPr>
            <a:xfrm>
              <a:off x="7835988" y="2744111"/>
              <a:ext cx="1224000" cy="1128107"/>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Picture 48" descr="A black background with a black square&#10;&#10;AI-generated content may be incorrect.">
              <a:hlinkClick r:id="rId6" action="ppaction://hlinksldjump"/>
              <a:extLst>
                <a:ext uri="{FF2B5EF4-FFF2-40B4-BE49-F238E27FC236}">
                  <a16:creationId xmlns:a16="http://schemas.microsoft.com/office/drawing/2014/main" id="{537CD6E2-E004-F88C-9B88-9A75F2F44CA8}"/>
                </a:ext>
              </a:extLst>
            </p:cNvPr>
            <p:cNvPicPr>
              <a:picLocks noChangeAspect="1"/>
            </p:cNvPicPr>
            <p:nvPr/>
          </p:nvPicPr>
          <p:blipFill>
            <a:blip r:embed="rId5"/>
            <a:stretch>
              <a:fillRect/>
            </a:stretch>
          </p:blipFill>
          <p:spPr>
            <a:xfrm>
              <a:off x="7838097" y="2700152"/>
              <a:ext cx="1224000" cy="1224000"/>
            </a:xfrm>
            <a:prstGeom prst="rect">
              <a:avLst/>
            </a:prstGeom>
          </p:spPr>
        </p:pic>
      </p:grpSp>
      <p:grpSp>
        <p:nvGrpSpPr>
          <p:cNvPr id="54" name="Group 53">
            <a:extLst>
              <a:ext uri="{FF2B5EF4-FFF2-40B4-BE49-F238E27FC236}">
                <a16:creationId xmlns:a16="http://schemas.microsoft.com/office/drawing/2014/main" id="{DB2D3725-CC0D-7CD0-E9AA-524DD4B8CA54}"/>
              </a:ext>
            </a:extLst>
          </p:cNvPr>
          <p:cNvGrpSpPr/>
          <p:nvPr/>
        </p:nvGrpSpPr>
        <p:grpSpPr>
          <a:xfrm>
            <a:off x="4932470" y="2560781"/>
            <a:ext cx="1224000" cy="1152000"/>
            <a:chOff x="4932470" y="2872511"/>
            <a:chExt cx="1224000" cy="1152000"/>
          </a:xfrm>
        </p:grpSpPr>
        <p:sp>
          <p:nvSpPr>
            <p:cNvPr id="24" name="Rectangle 23">
              <a:extLst>
                <a:ext uri="{FF2B5EF4-FFF2-40B4-BE49-F238E27FC236}">
                  <a16:creationId xmlns:a16="http://schemas.microsoft.com/office/drawing/2014/main" id="{7E479176-69A6-D1C3-C834-58B57727CC53}"/>
                </a:ext>
              </a:extLst>
            </p:cNvPr>
            <p:cNvSpPr>
              <a:spLocks noChangeAspect="1"/>
            </p:cNvSpPr>
            <p:nvPr/>
          </p:nvSpPr>
          <p:spPr>
            <a:xfrm>
              <a:off x="4932470" y="2880930"/>
              <a:ext cx="1224000" cy="1128107"/>
            </a:xfrm>
            <a:prstGeom prst="rect">
              <a:avLst/>
            </a:prstGeom>
            <a:blipFill dpi="0" rotWithShape="1">
              <a:blip r:embed="rId7">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50" descr="A black background with a black square&#10;&#10;AI-generated content may be incorrect.">
              <a:hlinkClick r:id="rId8" action="ppaction://hlinksldjump"/>
              <a:extLst>
                <a:ext uri="{FF2B5EF4-FFF2-40B4-BE49-F238E27FC236}">
                  <a16:creationId xmlns:a16="http://schemas.microsoft.com/office/drawing/2014/main" id="{2E44F193-FA47-599F-2FC2-1D725ABE8F98}"/>
                </a:ext>
              </a:extLst>
            </p:cNvPr>
            <p:cNvPicPr>
              <a:picLocks noChangeAspect="1"/>
            </p:cNvPicPr>
            <p:nvPr/>
          </p:nvPicPr>
          <p:blipFill>
            <a:blip r:embed="rId7"/>
            <a:stretch>
              <a:fillRect/>
            </a:stretch>
          </p:blipFill>
          <p:spPr>
            <a:xfrm>
              <a:off x="4969339" y="2872511"/>
              <a:ext cx="1152000" cy="1152000"/>
            </a:xfrm>
            <a:prstGeom prst="rect">
              <a:avLst/>
            </a:prstGeom>
          </p:spPr>
        </p:pic>
      </p:grpSp>
      <p:grpSp>
        <p:nvGrpSpPr>
          <p:cNvPr id="57" name="Group 56">
            <a:extLst>
              <a:ext uri="{FF2B5EF4-FFF2-40B4-BE49-F238E27FC236}">
                <a16:creationId xmlns:a16="http://schemas.microsoft.com/office/drawing/2014/main" id="{A0AF3519-ED52-81D8-D144-97B7652FDF2B}"/>
              </a:ext>
            </a:extLst>
          </p:cNvPr>
          <p:cNvGrpSpPr/>
          <p:nvPr/>
        </p:nvGrpSpPr>
        <p:grpSpPr>
          <a:xfrm>
            <a:off x="3120056" y="2557995"/>
            <a:ext cx="1224000" cy="1152000"/>
            <a:chOff x="3120056" y="2869725"/>
            <a:chExt cx="1224000" cy="1152000"/>
          </a:xfrm>
        </p:grpSpPr>
        <p:sp>
          <p:nvSpPr>
            <p:cNvPr id="23" name="Rectangle 22">
              <a:extLst>
                <a:ext uri="{FF2B5EF4-FFF2-40B4-BE49-F238E27FC236}">
                  <a16:creationId xmlns:a16="http://schemas.microsoft.com/office/drawing/2014/main" id="{83889513-7815-0431-52DC-14A4B0237EED}"/>
                </a:ext>
              </a:extLst>
            </p:cNvPr>
            <p:cNvSpPr>
              <a:spLocks noChangeAspect="1"/>
            </p:cNvSpPr>
            <p:nvPr/>
          </p:nvSpPr>
          <p:spPr>
            <a:xfrm>
              <a:off x="3120056" y="2869725"/>
              <a:ext cx="1224000" cy="1151971"/>
            </a:xfrm>
            <a:prstGeom prst="rect">
              <a:avLst/>
            </a:prstGeom>
            <a:blipFill dpi="0" rotWithShape="1">
              <a:blip r:embed="rId9">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pic>
          <p:nvPicPr>
            <p:cNvPr id="53" name="Picture 52" descr="A black background with a black square&#10;&#10;AI-generated content may be incorrect.">
              <a:hlinkClick r:id="rId10" action="ppaction://hlinksldjump"/>
              <a:extLst>
                <a:ext uri="{FF2B5EF4-FFF2-40B4-BE49-F238E27FC236}">
                  <a16:creationId xmlns:a16="http://schemas.microsoft.com/office/drawing/2014/main" id="{6974DD6A-1789-3B0A-3887-D25A3688D6DA}"/>
                </a:ext>
              </a:extLst>
            </p:cNvPr>
            <p:cNvPicPr>
              <a:picLocks noChangeAspect="1"/>
            </p:cNvPicPr>
            <p:nvPr/>
          </p:nvPicPr>
          <p:blipFill>
            <a:blip r:embed="rId9"/>
            <a:stretch>
              <a:fillRect/>
            </a:stretch>
          </p:blipFill>
          <p:spPr>
            <a:xfrm>
              <a:off x="3148786" y="2869725"/>
              <a:ext cx="1152000" cy="1152000"/>
            </a:xfrm>
            <a:prstGeom prst="rect">
              <a:avLst/>
            </a:prstGeom>
          </p:spPr>
        </p:pic>
      </p:grpSp>
      <p:sp>
        <p:nvSpPr>
          <p:cNvPr id="91" name="TextBox 90">
            <a:extLst>
              <a:ext uri="{FF2B5EF4-FFF2-40B4-BE49-F238E27FC236}">
                <a16:creationId xmlns:a16="http://schemas.microsoft.com/office/drawing/2014/main" id="{B8004377-4DEF-53B9-B7CE-0AE68CE5CAE7}"/>
              </a:ext>
            </a:extLst>
          </p:cNvPr>
          <p:cNvSpPr txBox="1"/>
          <p:nvPr/>
        </p:nvSpPr>
        <p:spPr>
          <a:xfrm>
            <a:off x="-9524178" y="798141"/>
            <a:ext cx="9435958" cy="5509200"/>
          </a:xfrm>
          <a:prstGeom prst="rect">
            <a:avLst/>
          </a:prstGeom>
          <a:noFill/>
        </p:spPr>
        <p:txBody>
          <a:bodyPr wrap="square" rtlCol="0">
            <a:spAutoFit/>
          </a:bodyPr>
          <a:lstStyle/>
          <a:p>
            <a:r>
              <a:rPr lang="en-IN" sz="3200" dirty="0">
                <a:solidFill>
                  <a:srgbClr val="FFFF00"/>
                </a:solidFill>
                <a:latin typeface="IrisUPC" panose="020B0604020202020204" pitchFamily="34" charset="-34"/>
                <a:cs typeface="IrisUPC" panose="020B0604020202020204" pitchFamily="34" charset="-34"/>
              </a:rPr>
              <a:t>The internship provided a highly enriching and positive experience, significantly enhancing my understanding of finance and international treasury operations.</a:t>
            </a:r>
          </a:p>
          <a:p>
            <a:r>
              <a:rPr lang="en-IN" sz="3200" dirty="0">
                <a:solidFill>
                  <a:srgbClr val="FFFF00"/>
                </a:solidFill>
                <a:latin typeface="IrisUPC" panose="020B0604020202020204" pitchFamily="34" charset="-34"/>
                <a:cs typeface="IrisUPC" panose="020B0604020202020204" pitchFamily="34" charset="-34"/>
              </a:rPr>
              <a:t>It helped me gain clarity on my long-term career goals and motivated me to pursue a stronger path in corporate finance and global capital management.</a:t>
            </a:r>
          </a:p>
          <a:p>
            <a:r>
              <a:rPr lang="en-IN" sz="3200" dirty="0">
                <a:solidFill>
                  <a:srgbClr val="FFFF00"/>
                </a:solidFill>
                <a:latin typeface="IrisUPC" panose="020B0604020202020204" pitchFamily="34" charset="-34"/>
                <a:cs typeface="IrisUPC" panose="020B0604020202020204" pitchFamily="34" charset="-34"/>
              </a:rPr>
              <a:t>The project allowed me to grow professionally, improving both technical skills and decision-making abilities in a real-world corporate environment.</a:t>
            </a:r>
          </a:p>
          <a:p>
            <a:r>
              <a:rPr lang="en-IN" sz="3200" dirty="0">
                <a:solidFill>
                  <a:srgbClr val="FFFF00"/>
                </a:solidFill>
                <a:latin typeface="IrisUPC" panose="020B0604020202020204" pitchFamily="34" charset="-34"/>
                <a:cs typeface="IrisUPC" panose="020B0604020202020204" pitchFamily="34" charset="-34"/>
              </a:rPr>
              <a:t>The work culture at InterGlobe Enterprises offered an ideal balance of professionalism and friendliness.</a:t>
            </a:r>
          </a:p>
          <a:p>
            <a:r>
              <a:rPr lang="en-IN" sz="3200" dirty="0">
                <a:latin typeface="IrisUPC" panose="020B0604020202020204" pitchFamily="34" charset="-34"/>
                <a:cs typeface="IrisUPC" panose="020B0604020202020204" pitchFamily="34" charset="-34"/>
              </a:rPr>
              <a:t>I am grateful for the guidance and mentorship provided, which has been invaluable in shaping my overall professional development.</a:t>
            </a:r>
          </a:p>
          <a:p>
            <a:endParaRPr lang="en-US" sz="3200" dirty="0">
              <a:solidFill>
                <a:srgbClr val="FFFF00"/>
              </a:solidFill>
              <a:latin typeface="IrisUPC" panose="020B0604020202020204" pitchFamily="34" charset="-34"/>
              <a:cs typeface="IrisUPC" panose="020B0604020202020204" pitchFamily="34" charset="-34"/>
            </a:endParaRPr>
          </a:p>
        </p:txBody>
      </p:sp>
      <p:sp>
        <p:nvSpPr>
          <p:cNvPr id="92" name="TextBox 91">
            <a:extLst>
              <a:ext uri="{FF2B5EF4-FFF2-40B4-BE49-F238E27FC236}">
                <a16:creationId xmlns:a16="http://schemas.microsoft.com/office/drawing/2014/main" id="{A572F94B-0E80-7ED6-255B-3FE9B7D534D0}"/>
              </a:ext>
            </a:extLst>
          </p:cNvPr>
          <p:cNvSpPr txBox="1"/>
          <p:nvPr/>
        </p:nvSpPr>
        <p:spPr>
          <a:xfrm>
            <a:off x="12089093" y="570275"/>
            <a:ext cx="2536272" cy="5386090"/>
          </a:xfrm>
          <a:prstGeom prst="rect">
            <a:avLst/>
          </a:prstGeom>
          <a:noFill/>
        </p:spPr>
        <p:txBody>
          <a:bodyPr wrap="none" rtlCol="0">
            <a:spAutoFit/>
          </a:bodyPr>
          <a:lstStyle/>
          <a:p>
            <a:r>
              <a:rPr lang="en-US" sz="34400" dirty="0">
                <a:latin typeface="IrisUPC" panose="020B0604020202020204" pitchFamily="34" charset="-34"/>
                <a:cs typeface="IrisUPC" panose="020B0604020202020204" pitchFamily="34" charset="-34"/>
              </a:rPr>
              <a:t>O</a:t>
            </a:r>
          </a:p>
        </p:txBody>
      </p:sp>
      <p:sp>
        <p:nvSpPr>
          <p:cNvPr id="93" name="TextBox 92">
            <a:extLst>
              <a:ext uri="{FF2B5EF4-FFF2-40B4-BE49-F238E27FC236}">
                <a16:creationId xmlns:a16="http://schemas.microsoft.com/office/drawing/2014/main" id="{9DABAF1B-C685-1652-BA4D-4F26DC547CA3}"/>
              </a:ext>
            </a:extLst>
          </p:cNvPr>
          <p:cNvSpPr txBox="1"/>
          <p:nvPr/>
        </p:nvSpPr>
        <p:spPr>
          <a:xfrm rot="7509875">
            <a:off x="13661695" y="1751698"/>
            <a:ext cx="316112" cy="461665"/>
          </a:xfrm>
          <a:prstGeom prst="rect">
            <a:avLst/>
          </a:prstGeom>
          <a:noFill/>
        </p:spPr>
        <p:txBody>
          <a:bodyPr wrap="none" rtlCol="0">
            <a:spAutoFit/>
          </a:bodyPr>
          <a:lstStyle/>
          <a:p>
            <a:r>
              <a:rPr lang="en-US" sz="2400" dirty="0">
                <a:latin typeface="IrisUPC" panose="020B0604020202020204" pitchFamily="34" charset="-34"/>
                <a:cs typeface="IrisUPC" panose="020B0604020202020204" pitchFamily="34" charset="-34"/>
              </a:rPr>
              <a:t>V</a:t>
            </a:r>
          </a:p>
        </p:txBody>
      </p:sp>
      <p:sp>
        <p:nvSpPr>
          <p:cNvPr id="94" name="TextBox 93">
            <a:extLst>
              <a:ext uri="{FF2B5EF4-FFF2-40B4-BE49-F238E27FC236}">
                <a16:creationId xmlns:a16="http://schemas.microsoft.com/office/drawing/2014/main" id="{47E07D95-E729-CAD2-10F4-D8D251F6A469}"/>
              </a:ext>
            </a:extLst>
          </p:cNvPr>
          <p:cNvSpPr txBox="1"/>
          <p:nvPr/>
        </p:nvSpPr>
        <p:spPr>
          <a:xfrm rot="6619994">
            <a:off x="14069074" y="1942537"/>
            <a:ext cx="282450" cy="461665"/>
          </a:xfrm>
          <a:prstGeom prst="rect">
            <a:avLst/>
          </a:prstGeom>
          <a:noFill/>
        </p:spPr>
        <p:txBody>
          <a:bodyPr wrap="none" rtlCol="0">
            <a:spAutoFit/>
          </a:bodyPr>
          <a:lstStyle/>
          <a:p>
            <a:r>
              <a:rPr lang="en-US" sz="2400" dirty="0">
                <a:latin typeface="IrisUPC" panose="020B0604020202020204" pitchFamily="34" charset="-34"/>
                <a:cs typeface="IrisUPC" panose="020B0604020202020204" pitchFamily="34" charset="-34"/>
              </a:rPr>
              <a:t>E</a:t>
            </a:r>
          </a:p>
        </p:txBody>
      </p:sp>
      <p:sp>
        <p:nvSpPr>
          <p:cNvPr id="95" name="TextBox 94">
            <a:extLst>
              <a:ext uri="{FF2B5EF4-FFF2-40B4-BE49-F238E27FC236}">
                <a16:creationId xmlns:a16="http://schemas.microsoft.com/office/drawing/2014/main" id="{2DC7FDC4-286C-6C9B-56B6-35AD755032E0}"/>
              </a:ext>
            </a:extLst>
          </p:cNvPr>
          <p:cNvSpPr txBox="1"/>
          <p:nvPr/>
        </p:nvSpPr>
        <p:spPr>
          <a:xfrm rot="6439778">
            <a:off x="14706492" y="2369456"/>
            <a:ext cx="304892" cy="461665"/>
          </a:xfrm>
          <a:prstGeom prst="rect">
            <a:avLst/>
          </a:prstGeom>
          <a:noFill/>
        </p:spPr>
        <p:txBody>
          <a:bodyPr wrap="none" rtlCol="0">
            <a:spAutoFit/>
          </a:bodyPr>
          <a:lstStyle/>
          <a:p>
            <a:r>
              <a:rPr lang="en-US" sz="2400" dirty="0">
                <a:latin typeface="IrisUPC" panose="020B0604020202020204" pitchFamily="34" charset="-34"/>
                <a:cs typeface="IrisUPC" panose="020B0604020202020204" pitchFamily="34" charset="-34"/>
              </a:rPr>
              <a:t>R</a:t>
            </a:r>
          </a:p>
        </p:txBody>
      </p:sp>
      <p:sp>
        <p:nvSpPr>
          <p:cNvPr id="96" name="TextBox 95">
            <a:extLst>
              <a:ext uri="{FF2B5EF4-FFF2-40B4-BE49-F238E27FC236}">
                <a16:creationId xmlns:a16="http://schemas.microsoft.com/office/drawing/2014/main" id="{97E5F452-C2A3-2120-7474-DEE68CF7074A}"/>
              </a:ext>
            </a:extLst>
          </p:cNvPr>
          <p:cNvSpPr txBox="1"/>
          <p:nvPr/>
        </p:nvSpPr>
        <p:spPr>
          <a:xfrm rot="5400000">
            <a:off x="15426592" y="2890294"/>
            <a:ext cx="316112" cy="461665"/>
          </a:xfrm>
          <a:prstGeom prst="rect">
            <a:avLst/>
          </a:prstGeom>
          <a:noFill/>
        </p:spPr>
        <p:txBody>
          <a:bodyPr wrap="none" rtlCol="0">
            <a:spAutoFit/>
          </a:bodyPr>
          <a:lstStyle/>
          <a:p>
            <a:r>
              <a:rPr lang="en-US" sz="2400" dirty="0">
                <a:latin typeface="IrisUPC" panose="020B0604020202020204" pitchFamily="34" charset="-34"/>
                <a:cs typeface="IrisUPC" panose="020B0604020202020204" pitchFamily="34" charset="-34"/>
              </a:rPr>
              <a:t>A</a:t>
            </a:r>
          </a:p>
        </p:txBody>
      </p:sp>
      <p:sp>
        <p:nvSpPr>
          <p:cNvPr id="97" name="TextBox 96">
            <a:extLst>
              <a:ext uri="{FF2B5EF4-FFF2-40B4-BE49-F238E27FC236}">
                <a16:creationId xmlns:a16="http://schemas.microsoft.com/office/drawing/2014/main" id="{0B849935-419E-3461-BEFA-6943877BD87B}"/>
              </a:ext>
            </a:extLst>
          </p:cNvPr>
          <p:cNvSpPr txBox="1"/>
          <p:nvPr/>
        </p:nvSpPr>
        <p:spPr>
          <a:xfrm rot="4223297">
            <a:off x="16676864" y="3802620"/>
            <a:ext cx="260920" cy="461665"/>
          </a:xfrm>
          <a:prstGeom prst="rect">
            <a:avLst/>
          </a:prstGeom>
          <a:noFill/>
        </p:spPr>
        <p:txBody>
          <a:bodyPr wrap="square" rtlCol="0">
            <a:spAutoFit/>
          </a:bodyPr>
          <a:lstStyle/>
          <a:p>
            <a:r>
              <a:rPr lang="en-US" sz="2400" dirty="0">
                <a:latin typeface="IrisUPC" panose="020B0604020202020204" pitchFamily="34" charset="-34"/>
                <a:cs typeface="IrisUPC" panose="020B0604020202020204" pitchFamily="34" charset="-34"/>
              </a:rPr>
              <a:t>L</a:t>
            </a:r>
          </a:p>
        </p:txBody>
      </p:sp>
      <p:sp>
        <p:nvSpPr>
          <p:cNvPr id="98" name="TextBox 97">
            <a:extLst>
              <a:ext uri="{FF2B5EF4-FFF2-40B4-BE49-F238E27FC236}">
                <a16:creationId xmlns:a16="http://schemas.microsoft.com/office/drawing/2014/main" id="{ABEB83E9-DC65-685B-BA51-B7F24BAE41CB}"/>
              </a:ext>
            </a:extLst>
          </p:cNvPr>
          <p:cNvSpPr txBox="1"/>
          <p:nvPr/>
        </p:nvSpPr>
        <p:spPr>
          <a:xfrm rot="4392793">
            <a:off x="16237502" y="3383185"/>
            <a:ext cx="282450" cy="461665"/>
          </a:xfrm>
          <a:prstGeom prst="rect">
            <a:avLst/>
          </a:prstGeom>
          <a:noFill/>
        </p:spPr>
        <p:txBody>
          <a:bodyPr wrap="none" rtlCol="0">
            <a:spAutoFit/>
          </a:bodyPr>
          <a:lstStyle/>
          <a:p>
            <a:r>
              <a:rPr lang="en-US" sz="2400" dirty="0">
                <a:latin typeface="IrisUPC" panose="020B0604020202020204" pitchFamily="34" charset="-34"/>
                <a:cs typeface="IrisUPC" panose="020B0604020202020204" pitchFamily="34" charset="-34"/>
              </a:rPr>
              <a:t>L</a:t>
            </a:r>
          </a:p>
        </p:txBody>
      </p:sp>
      <p:sp>
        <p:nvSpPr>
          <p:cNvPr id="99" name="TextBox 98">
            <a:extLst>
              <a:ext uri="{FF2B5EF4-FFF2-40B4-BE49-F238E27FC236}">
                <a16:creationId xmlns:a16="http://schemas.microsoft.com/office/drawing/2014/main" id="{D4137142-6B88-36A9-7178-F4294DD00BE1}"/>
              </a:ext>
            </a:extLst>
          </p:cNvPr>
          <p:cNvSpPr txBox="1"/>
          <p:nvPr/>
        </p:nvSpPr>
        <p:spPr>
          <a:xfrm>
            <a:off x="9612897" y="-919566"/>
            <a:ext cx="325730" cy="523220"/>
          </a:xfrm>
          <a:prstGeom prst="rect">
            <a:avLst/>
          </a:prstGeom>
          <a:noFill/>
          <a:effectLst>
            <a:reflection blurRad="6350" stA="52790" endPos="82503" dir="5400000" sy="-100000" algn="bl" rotWithShape="0"/>
          </a:effectLst>
        </p:spPr>
        <p:txBody>
          <a:bodyPr wrap="none" rtlCol="0">
            <a:spAutoFit/>
          </a:bodyPr>
          <a:lstStyle/>
          <a:p>
            <a:r>
              <a:rPr lang="en-US" sz="2800" dirty="0">
                <a:latin typeface="IrisUPC" panose="020B0604020202020204" pitchFamily="34" charset="-34"/>
                <a:cs typeface="IrisUPC" panose="020B0604020202020204" pitchFamily="34" charset="-34"/>
              </a:rPr>
              <a:t>R</a:t>
            </a:r>
          </a:p>
        </p:txBody>
      </p:sp>
      <p:sp>
        <p:nvSpPr>
          <p:cNvPr id="100" name="TextBox 99">
            <a:extLst>
              <a:ext uri="{FF2B5EF4-FFF2-40B4-BE49-F238E27FC236}">
                <a16:creationId xmlns:a16="http://schemas.microsoft.com/office/drawing/2014/main" id="{1BA86F1B-1640-2CAF-9F36-A39457D6F05F}"/>
              </a:ext>
            </a:extLst>
          </p:cNvPr>
          <p:cNvSpPr txBox="1"/>
          <p:nvPr/>
        </p:nvSpPr>
        <p:spPr>
          <a:xfrm>
            <a:off x="10057961" y="-1181903"/>
            <a:ext cx="300082" cy="523220"/>
          </a:xfrm>
          <a:prstGeom prst="rect">
            <a:avLst/>
          </a:prstGeom>
          <a:noFill/>
          <a:effectLst>
            <a:reflection blurRad="6350" stA="52790" endPos="82503" dir="5400000" sy="-100000" algn="bl" rotWithShape="0"/>
          </a:effectLst>
        </p:spPr>
        <p:txBody>
          <a:bodyPr wrap="none" rtlCol="0">
            <a:spAutoFit/>
          </a:bodyPr>
          <a:lstStyle/>
          <a:p>
            <a:r>
              <a:rPr lang="en-US" sz="2800" dirty="0">
                <a:latin typeface="IrisUPC" panose="020B0604020202020204" pitchFamily="34" charset="-34"/>
                <a:cs typeface="IrisUPC" panose="020B0604020202020204" pitchFamily="34" charset="-34"/>
              </a:rPr>
              <a:t>E</a:t>
            </a:r>
          </a:p>
        </p:txBody>
      </p:sp>
      <p:sp>
        <p:nvSpPr>
          <p:cNvPr id="101" name="TextBox 100">
            <a:extLst>
              <a:ext uri="{FF2B5EF4-FFF2-40B4-BE49-F238E27FC236}">
                <a16:creationId xmlns:a16="http://schemas.microsoft.com/office/drawing/2014/main" id="{CDFC40CD-F117-EAA7-20EB-061ACC965EEE}"/>
              </a:ext>
            </a:extLst>
          </p:cNvPr>
          <p:cNvSpPr txBox="1"/>
          <p:nvPr/>
        </p:nvSpPr>
        <p:spPr>
          <a:xfrm>
            <a:off x="10534323" y="-1413396"/>
            <a:ext cx="300082" cy="523220"/>
          </a:xfrm>
          <a:prstGeom prst="rect">
            <a:avLst/>
          </a:prstGeom>
          <a:noFill/>
          <a:effectLst>
            <a:reflection blurRad="6350" stA="52790" endPos="82503" dir="5400000" sy="-100000" algn="bl" rotWithShape="0"/>
          </a:effectLst>
        </p:spPr>
        <p:txBody>
          <a:bodyPr wrap="none" rtlCol="0">
            <a:spAutoFit/>
          </a:bodyPr>
          <a:lstStyle/>
          <a:p>
            <a:r>
              <a:rPr lang="en-US" sz="2800" dirty="0">
                <a:latin typeface="IrisUPC" panose="020B0604020202020204" pitchFamily="34" charset="-34"/>
                <a:cs typeface="IrisUPC" panose="020B0604020202020204" pitchFamily="34" charset="-34"/>
              </a:rPr>
              <a:t>F</a:t>
            </a:r>
          </a:p>
        </p:txBody>
      </p:sp>
      <p:sp>
        <p:nvSpPr>
          <p:cNvPr id="102" name="TextBox 101">
            <a:extLst>
              <a:ext uri="{FF2B5EF4-FFF2-40B4-BE49-F238E27FC236}">
                <a16:creationId xmlns:a16="http://schemas.microsoft.com/office/drawing/2014/main" id="{3C2CB2F5-0C41-C933-3CDF-A69CF18D69BE}"/>
              </a:ext>
            </a:extLst>
          </p:cNvPr>
          <p:cNvSpPr txBox="1"/>
          <p:nvPr/>
        </p:nvSpPr>
        <p:spPr>
          <a:xfrm>
            <a:off x="11020453" y="-1714337"/>
            <a:ext cx="300082" cy="523220"/>
          </a:xfrm>
          <a:prstGeom prst="rect">
            <a:avLst/>
          </a:prstGeom>
          <a:noFill/>
          <a:effectLst>
            <a:reflection blurRad="6350" stA="52790" endPos="82503" dir="5400000" sy="-100000" algn="bl" rotWithShape="0"/>
          </a:effectLst>
        </p:spPr>
        <p:txBody>
          <a:bodyPr wrap="none" rtlCol="0">
            <a:spAutoFit/>
          </a:bodyPr>
          <a:lstStyle/>
          <a:p>
            <a:r>
              <a:rPr lang="en-US" sz="2800" dirty="0">
                <a:latin typeface="IrisUPC" panose="020B0604020202020204" pitchFamily="34" charset="-34"/>
                <a:cs typeface="IrisUPC" panose="020B0604020202020204" pitchFamily="34" charset="-34"/>
              </a:rPr>
              <a:t>L</a:t>
            </a:r>
          </a:p>
        </p:txBody>
      </p:sp>
      <p:sp>
        <p:nvSpPr>
          <p:cNvPr id="103" name="TextBox 102">
            <a:extLst>
              <a:ext uri="{FF2B5EF4-FFF2-40B4-BE49-F238E27FC236}">
                <a16:creationId xmlns:a16="http://schemas.microsoft.com/office/drawing/2014/main" id="{DA586FE2-65FF-929A-E814-9DB627F693FE}"/>
              </a:ext>
            </a:extLst>
          </p:cNvPr>
          <p:cNvSpPr txBox="1"/>
          <p:nvPr/>
        </p:nvSpPr>
        <p:spPr>
          <a:xfrm>
            <a:off x="11435444" y="-2269923"/>
            <a:ext cx="300082" cy="523220"/>
          </a:xfrm>
          <a:prstGeom prst="rect">
            <a:avLst/>
          </a:prstGeom>
          <a:noFill/>
          <a:effectLst>
            <a:reflection blurRad="6350" stA="52790" endPos="82503" dir="5400000" sy="-100000" algn="bl" rotWithShape="0"/>
          </a:effectLst>
        </p:spPr>
        <p:txBody>
          <a:bodyPr wrap="none" rtlCol="0">
            <a:spAutoFit/>
          </a:bodyPr>
          <a:lstStyle/>
          <a:p>
            <a:r>
              <a:rPr lang="en-US" sz="2800" dirty="0">
                <a:latin typeface="IrisUPC" panose="020B0604020202020204" pitchFamily="34" charset="-34"/>
                <a:cs typeface="IrisUPC" panose="020B0604020202020204" pitchFamily="34" charset="-34"/>
              </a:rPr>
              <a:t>E</a:t>
            </a:r>
          </a:p>
        </p:txBody>
      </p:sp>
      <p:sp>
        <p:nvSpPr>
          <p:cNvPr id="104" name="TextBox 103">
            <a:extLst>
              <a:ext uri="{FF2B5EF4-FFF2-40B4-BE49-F238E27FC236}">
                <a16:creationId xmlns:a16="http://schemas.microsoft.com/office/drawing/2014/main" id="{D528C369-5850-A342-4131-3E2B8ADBED61}"/>
              </a:ext>
            </a:extLst>
          </p:cNvPr>
          <p:cNvSpPr txBox="1"/>
          <p:nvPr/>
        </p:nvSpPr>
        <p:spPr>
          <a:xfrm>
            <a:off x="11825966" y="-2781533"/>
            <a:ext cx="338554" cy="523220"/>
          </a:xfrm>
          <a:prstGeom prst="rect">
            <a:avLst/>
          </a:prstGeom>
          <a:noFill/>
          <a:effectLst>
            <a:reflection blurRad="6350" stA="52790" endPos="82503" dir="5400000" sy="-100000" algn="bl" rotWithShape="0"/>
          </a:effectLst>
        </p:spPr>
        <p:txBody>
          <a:bodyPr wrap="none" rtlCol="0">
            <a:spAutoFit/>
          </a:bodyPr>
          <a:lstStyle/>
          <a:p>
            <a:r>
              <a:rPr lang="en-US" sz="2800" dirty="0">
                <a:latin typeface="IrisUPC" panose="020B0604020202020204" pitchFamily="34" charset="-34"/>
                <a:cs typeface="IrisUPC" panose="020B0604020202020204" pitchFamily="34" charset="-34"/>
              </a:rPr>
              <a:t>C</a:t>
            </a:r>
          </a:p>
        </p:txBody>
      </p:sp>
      <p:sp>
        <p:nvSpPr>
          <p:cNvPr id="105" name="TextBox 104">
            <a:extLst>
              <a:ext uri="{FF2B5EF4-FFF2-40B4-BE49-F238E27FC236}">
                <a16:creationId xmlns:a16="http://schemas.microsoft.com/office/drawing/2014/main" id="{E4931033-BEDA-923C-0FE1-BAC32DAEBB3C}"/>
              </a:ext>
            </a:extLst>
          </p:cNvPr>
          <p:cNvSpPr txBox="1"/>
          <p:nvPr/>
        </p:nvSpPr>
        <p:spPr>
          <a:xfrm>
            <a:off x="12265153" y="449353"/>
            <a:ext cx="312906" cy="523220"/>
          </a:xfrm>
          <a:prstGeom prst="rect">
            <a:avLst/>
          </a:prstGeom>
          <a:noFill/>
          <a:effectLst>
            <a:reflection blurRad="6350" stA="52790" endPos="82503" dir="5400000" sy="-100000" algn="bl" rotWithShape="0"/>
          </a:effectLst>
        </p:spPr>
        <p:txBody>
          <a:bodyPr wrap="none" rtlCol="0">
            <a:spAutoFit/>
          </a:bodyPr>
          <a:lstStyle/>
          <a:p>
            <a:r>
              <a:rPr lang="en-US" sz="2800" dirty="0">
                <a:latin typeface="IrisUPC" panose="020B0604020202020204" pitchFamily="34" charset="-34"/>
                <a:cs typeface="IrisUPC" panose="020B0604020202020204" pitchFamily="34" charset="-34"/>
              </a:rPr>
              <a:t>T</a:t>
            </a:r>
          </a:p>
        </p:txBody>
      </p:sp>
      <p:sp>
        <p:nvSpPr>
          <p:cNvPr id="106" name="TextBox 105">
            <a:extLst>
              <a:ext uri="{FF2B5EF4-FFF2-40B4-BE49-F238E27FC236}">
                <a16:creationId xmlns:a16="http://schemas.microsoft.com/office/drawing/2014/main" id="{24F60891-7E55-160B-841D-F64E264BEC01}"/>
              </a:ext>
            </a:extLst>
          </p:cNvPr>
          <p:cNvSpPr txBox="1"/>
          <p:nvPr/>
        </p:nvSpPr>
        <p:spPr>
          <a:xfrm>
            <a:off x="12807653" y="857979"/>
            <a:ext cx="248786" cy="523220"/>
          </a:xfrm>
          <a:prstGeom prst="rect">
            <a:avLst/>
          </a:prstGeom>
          <a:noFill/>
          <a:effectLst>
            <a:reflection blurRad="6350" stA="52790" endPos="82503" dir="5400000" sy="-100000" algn="bl" rotWithShape="0"/>
          </a:effectLst>
        </p:spPr>
        <p:txBody>
          <a:bodyPr wrap="none" rtlCol="0">
            <a:spAutoFit/>
          </a:bodyPr>
          <a:lstStyle/>
          <a:p>
            <a:r>
              <a:rPr lang="en-US" sz="2800" dirty="0">
                <a:latin typeface="IrisUPC" panose="020B0604020202020204" pitchFamily="34" charset="-34"/>
                <a:cs typeface="IrisUPC" panose="020B0604020202020204" pitchFamily="34" charset="-34"/>
              </a:rPr>
              <a:t>I</a:t>
            </a:r>
          </a:p>
        </p:txBody>
      </p:sp>
      <p:sp>
        <p:nvSpPr>
          <p:cNvPr id="107" name="TextBox 106">
            <a:extLst>
              <a:ext uri="{FF2B5EF4-FFF2-40B4-BE49-F238E27FC236}">
                <a16:creationId xmlns:a16="http://schemas.microsoft.com/office/drawing/2014/main" id="{3A84DBDC-C20A-6D51-5F70-3FBC88BC629F}"/>
              </a:ext>
            </a:extLst>
          </p:cNvPr>
          <p:cNvSpPr txBox="1"/>
          <p:nvPr/>
        </p:nvSpPr>
        <p:spPr>
          <a:xfrm>
            <a:off x="13631615" y="1284854"/>
            <a:ext cx="375424" cy="523220"/>
          </a:xfrm>
          <a:prstGeom prst="rect">
            <a:avLst/>
          </a:prstGeom>
          <a:noFill/>
          <a:effectLst>
            <a:reflection blurRad="6350" stA="52790" endPos="82503" dir="5400000" sy="-100000" algn="bl" rotWithShape="0"/>
          </a:effectLst>
        </p:spPr>
        <p:txBody>
          <a:bodyPr wrap="none" rtlCol="0">
            <a:spAutoFit/>
          </a:bodyPr>
          <a:lstStyle/>
          <a:p>
            <a:r>
              <a:rPr lang="en-US" sz="2800" dirty="0">
                <a:latin typeface="IrisUPC" panose="020B0604020202020204" pitchFamily="34" charset="-34"/>
                <a:cs typeface="IrisUPC" panose="020B0604020202020204" pitchFamily="34" charset="-34"/>
              </a:rPr>
              <a:t>O</a:t>
            </a:r>
          </a:p>
        </p:txBody>
      </p:sp>
      <p:sp>
        <p:nvSpPr>
          <p:cNvPr id="108" name="TextBox 107">
            <a:extLst>
              <a:ext uri="{FF2B5EF4-FFF2-40B4-BE49-F238E27FC236}">
                <a16:creationId xmlns:a16="http://schemas.microsoft.com/office/drawing/2014/main" id="{01D42E8D-E95B-B65C-4C32-1319BEA5955B}"/>
              </a:ext>
            </a:extLst>
          </p:cNvPr>
          <p:cNvSpPr txBox="1"/>
          <p:nvPr/>
        </p:nvSpPr>
        <p:spPr>
          <a:xfrm>
            <a:off x="14330906" y="1681538"/>
            <a:ext cx="364202" cy="523220"/>
          </a:xfrm>
          <a:prstGeom prst="rect">
            <a:avLst/>
          </a:prstGeom>
          <a:noFill/>
          <a:effectLst>
            <a:reflection blurRad="6350" stA="52790" endPos="82503" dir="5400000" sy="-100000" algn="bl" rotWithShape="0"/>
          </a:effectLst>
        </p:spPr>
        <p:txBody>
          <a:bodyPr wrap="none" rtlCol="0">
            <a:spAutoFit/>
          </a:bodyPr>
          <a:lstStyle/>
          <a:p>
            <a:r>
              <a:rPr lang="en-US" sz="2800" dirty="0">
                <a:latin typeface="IrisUPC" panose="020B0604020202020204" pitchFamily="34" charset="-34"/>
                <a:cs typeface="IrisUPC" panose="020B0604020202020204" pitchFamily="34" charset="-34"/>
              </a:rPr>
              <a:t>N</a:t>
            </a:r>
          </a:p>
        </p:txBody>
      </p:sp>
      <p:sp>
        <p:nvSpPr>
          <p:cNvPr id="109" name="TextBox 108">
            <a:extLst>
              <a:ext uri="{FF2B5EF4-FFF2-40B4-BE49-F238E27FC236}">
                <a16:creationId xmlns:a16="http://schemas.microsoft.com/office/drawing/2014/main" id="{F8BF72D4-54A2-AD5D-1B82-6C26DF3AA69D}"/>
              </a:ext>
            </a:extLst>
          </p:cNvPr>
          <p:cNvSpPr txBox="1"/>
          <p:nvPr/>
        </p:nvSpPr>
        <p:spPr>
          <a:xfrm>
            <a:off x="11332309" y="7803274"/>
            <a:ext cx="300082" cy="523220"/>
          </a:xfrm>
          <a:prstGeom prst="rect">
            <a:avLst/>
          </a:prstGeom>
          <a:noFill/>
        </p:spPr>
        <p:txBody>
          <a:bodyPr wrap="none" rtlCol="0">
            <a:spAutoFit/>
          </a:bodyPr>
          <a:lstStyle/>
          <a:p>
            <a:r>
              <a:rPr lang="en-US" sz="2800" dirty="0">
                <a:latin typeface="IrisUPC" panose="020B0604020202020204" pitchFamily="34" charset="-34"/>
                <a:cs typeface="IrisUPC" panose="020B0604020202020204" pitchFamily="34" charset="-34"/>
              </a:rPr>
              <a:t>E</a:t>
            </a:r>
          </a:p>
        </p:txBody>
      </p:sp>
      <p:sp>
        <p:nvSpPr>
          <p:cNvPr id="110" name="TextBox 109">
            <a:extLst>
              <a:ext uri="{FF2B5EF4-FFF2-40B4-BE49-F238E27FC236}">
                <a16:creationId xmlns:a16="http://schemas.microsoft.com/office/drawing/2014/main" id="{6E40D369-9F48-2F0F-E471-8781A5ED9AC3}"/>
              </a:ext>
            </a:extLst>
          </p:cNvPr>
          <p:cNvSpPr txBox="1"/>
          <p:nvPr/>
        </p:nvSpPr>
        <p:spPr>
          <a:xfrm>
            <a:off x="16739695" y="4428834"/>
            <a:ext cx="325730" cy="523220"/>
          </a:xfrm>
          <a:prstGeom prst="rect">
            <a:avLst/>
          </a:prstGeom>
          <a:noFill/>
        </p:spPr>
        <p:txBody>
          <a:bodyPr wrap="none" rtlCol="0">
            <a:spAutoFit/>
          </a:bodyPr>
          <a:lstStyle/>
          <a:p>
            <a:r>
              <a:rPr lang="en-US" sz="2800" dirty="0">
                <a:latin typeface="IrisUPC" panose="020B0604020202020204" pitchFamily="34" charset="-34"/>
                <a:cs typeface="IrisUPC" panose="020B0604020202020204" pitchFamily="34" charset="-34"/>
              </a:rPr>
              <a:t>X</a:t>
            </a:r>
          </a:p>
        </p:txBody>
      </p:sp>
      <p:sp>
        <p:nvSpPr>
          <p:cNvPr id="111" name="TextBox 110">
            <a:extLst>
              <a:ext uri="{FF2B5EF4-FFF2-40B4-BE49-F238E27FC236}">
                <a16:creationId xmlns:a16="http://schemas.microsoft.com/office/drawing/2014/main" id="{63318A7D-A0F3-5707-D15B-9A10F1939C55}"/>
              </a:ext>
            </a:extLst>
          </p:cNvPr>
          <p:cNvSpPr txBox="1"/>
          <p:nvPr/>
        </p:nvSpPr>
        <p:spPr>
          <a:xfrm>
            <a:off x="16098237" y="4892279"/>
            <a:ext cx="312906" cy="523220"/>
          </a:xfrm>
          <a:prstGeom prst="rect">
            <a:avLst/>
          </a:prstGeom>
          <a:noFill/>
        </p:spPr>
        <p:txBody>
          <a:bodyPr wrap="none" rtlCol="0">
            <a:spAutoFit/>
          </a:bodyPr>
          <a:lstStyle/>
          <a:p>
            <a:r>
              <a:rPr lang="en-US" sz="2800" dirty="0">
                <a:latin typeface="IrisUPC" panose="020B0604020202020204" pitchFamily="34" charset="-34"/>
                <a:cs typeface="IrisUPC" panose="020B0604020202020204" pitchFamily="34" charset="-34"/>
              </a:rPr>
              <a:t>P</a:t>
            </a:r>
          </a:p>
        </p:txBody>
      </p:sp>
      <p:sp>
        <p:nvSpPr>
          <p:cNvPr id="112" name="TextBox 111">
            <a:extLst>
              <a:ext uri="{FF2B5EF4-FFF2-40B4-BE49-F238E27FC236}">
                <a16:creationId xmlns:a16="http://schemas.microsoft.com/office/drawing/2014/main" id="{5628AA1F-9545-692E-751F-4B96A9724101}"/>
              </a:ext>
            </a:extLst>
          </p:cNvPr>
          <p:cNvSpPr txBox="1"/>
          <p:nvPr/>
        </p:nvSpPr>
        <p:spPr>
          <a:xfrm>
            <a:off x="17091798" y="3978709"/>
            <a:ext cx="300082" cy="523220"/>
          </a:xfrm>
          <a:prstGeom prst="rect">
            <a:avLst/>
          </a:prstGeom>
          <a:noFill/>
        </p:spPr>
        <p:txBody>
          <a:bodyPr wrap="none" rtlCol="0">
            <a:spAutoFit/>
          </a:bodyPr>
          <a:lstStyle/>
          <a:p>
            <a:r>
              <a:rPr lang="en-US" sz="2800" dirty="0">
                <a:latin typeface="IrisUPC" panose="020B0604020202020204" pitchFamily="34" charset="-34"/>
                <a:cs typeface="IrisUPC" panose="020B0604020202020204" pitchFamily="34" charset="-34"/>
              </a:rPr>
              <a:t>E</a:t>
            </a:r>
          </a:p>
        </p:txBody>
      </p:sp>
      <p:sp>
        <p:nvSpPr>
          <p:cNvPr id="113" name="TextBox 112">
            <a:extLst>
              <a:ext uri="{FF2B5EF4-FFF2-40B4-BE49-F238E27FC236}">
                <a16:creationId xmlns:a16="http://schemas.microsoft.com/office/drawing/2014/main" id="{385994B9-8168-DC85-B426-58BFC0626D94}"/>
              </a:ext>
            </a:extLst>
          </p:cNvPr>
          <p:cNvSpPr txBox="1"/>
          <p:nvPr/>
        </p:nvSpPr>
        <p:spPr>
          <a:xfrm>
            <a:off x="14979710" y="5793809"/>
            <a:ext cx="325730" cy="523220"/>
          </a:xfrm>
          <a:prstGeom prst="rect">
            <a:avLst/>
          </a:prstGeom>
          <a:noFill/>
        </p:spPr>
        <p:txBody>
          <a:bodyPr wrap="none" rtlCol="0">
            <a:spAutoFit/>
          </a:bodyPr>
          <a:lstStyle/>
          <a:p>
            <a:r>
              <a:rPr lang="en-US" sz="2800" dirty="0">
                <a:latin typeface="IrisUPC" panose="020B0604020202020204" pitchFamily="34" charset="-34"/>
                <a:cs typeface="IrisUPC" panose="020B0604020202020204" pitchFamily="34" charset="-34"/>
              </a:rPr>
              <a:t>R</a:t>
            </a:r>
          </a:p>
        </p:txBody>
      </p:sp>
      <p:sp>
        <p:nvSpPr>
          <p:cNvPr id="114" name="TextBox 113">
            <a:extLst>
              <a:ext uri="{FF2B5EF4-FFF2-40B4-BE49-F238E27FC236}">
                <a16:creationId xmlns:a16="http://schemas.microsoft.com/office/drawing/2014/main" id="{AB4703A8-CB21-3A67-1ECE-C8B8C33DB6D1}"/>
              </a:ext>
            </a:extLst>
          </p:cNvPr>
          <p:cNvSpPr txBox="1"/>
          <p:nvPr/>
        </p:nvSpPr>
        <p:spPr>
          <a:xfrm>
            <a:off x="14213921" y="6231581"/>
            <a:ext cx="248786" cy="523220"/>
          </a:xfrm>
          <a:prstGeom prst="rect">
            <a:avLst/>
          </a:prstGeom>
          <a:noFill/>
        </p:spPr>
        <p:txBody>
          <a:bodyPr wrap="none" rtlCol="0">
            <a:spAutoFit/>
          </a:bodyPr>
          <a:lstStyle/>
          <a:p>
            <a:r>
              <a:rPr lang="en-US" sz="2800" dirty="0">
                <a:latin typeface="IrisUPC" panose="020B0604020202020204" pitchFamily="34" charset="-34"/>
                <a:cs typeface="IrisUPC" panose="020B0604020202020204" pitchFamily="34" charset="-34"/>
              </a:rPr>
              <a:t>I</a:t>
            </a:r>
          </a:p>
        </p:txBody>
      </p:sp>
      <p:sp>
        <p:nvSpPr>
          <p:cNvPr id="115" name="TextBox 114">
            <a:extLst>
              <a:ext uri="{FF2B5EF4-FFF2-40B4-BE49-F238E27FC236}">
                <a16:creationId xmlns:a16="http://schemas.microsoft.com/office/drawing/2014/main" id="{F1105740-1077-4BC9-3341-EBE18C92A0C1}"/>
              </a:ext>
            </a:extLst>
          </p:cNvPr>
          <p:cNvSpPr txBox="1"/>
          <p:nvPr/>
        </p:nvSpPr>
        <p:spPr>
          <a:xfrm>
            <a:off x="15442701" y="5328910"/>
            <a:ext cx="300082" cy="523220"/>
          </a:xfrm>
          <a:prstGeom prst="rect">
            <a:avLst/>
          </a:prstGeom>
          <a:noFill/>
        </p:spPr>
        <p:txBody>
          <a:bodyPr wrap="none" rtlCol="0">
            <a:spAutoFit/>
          </a:bodyPr>
          <a:lstStyle/>
          <a:p>
            <a:r>
              <a:rPr lang="en-US" sz="2800" dirty="0">
                <a:latin typeface="IrisUPC" panose="020B0604020202020204" pitchFamily="34" charset="-34"/>
                <a:cs typeface="IrisUPC" panose="020B0604020202020204" pitchFamily="34" charset="-34"/>
              </a:rPr>
              <a:t>E</a:t>
            </a:r>
          </a:p>
        </p:txBody>
      </p:sp>
      <p:sp>
        <p:nvSpPr>
          <p:cNvPr id="116" name="TextBox 115">
            <a:extLst>
              <a:ext uri="{FF2B5EF4-FFF2-40B4-BE49-F238E27FC236}">
                <a16:creationId xmlns:a16="http://schemas.microsoft.com/office/drawing/2014/main" id="{E7C7893A-641C-80A3-B8C0-FB74588CF321}"/>
              </a:ext>
            </a:extLst>
          </p:cNvPr>
          <p:cNvSpPr txBox="1"/>
          <p:nvPr/>
        </p:nvSpPr>
        <p:spPr>
          <a:xfrm>
            <a:off x="10892154" y="7178242"/>
            <a:ext cx="364202" cy="523220"/>
          </a:xfrm>
          <a:prstGeom prst="rect">
            <a:avLst/>
          </a:prstGeom>
          <a:noFill/>
        </p:spPr>
        <p:txBody>
          <a:bodyPr wrap="none" rtlCol="0">
            <a:spAutoFit/>
          </a:bodyPr>
          <a:lstStyle/>
          <a:p>
            <a:r>
              <a:rPr lang="en-US" sz="2800" dirty="0">
                <a:latin typeface="IrisUPC" panose="020B0604020202020204" pitchFamily="34" charset="-34"/>
                <a:cs typeface="IrisUPC" panose="020B0604020202020204" pitchFamily="34" charset="-34"/>
              </a:rPr>
              <a:t>N</a:t>
            </a:r>
          </a:p>
        </p:txBody>
      </p:sp>
      <p:sp>
        <p:nvSpPr>
          <p:cNvPr id="117" name="TextBox 116">
            <a:extLst>
              <a:ext uri="{FF2B5EF4-FFF2-40B4-BE49-F238E27FC236}">
                <a16:creationId xmlns:a16="http://schemas.microsoft.com/office/drawing/2014/main" id="{0A52FDD3-3361-F7A1-F89D-B01A83B05B8A}"/>
              </a:ext>
            </a:extLst>
          </p:cNvPr>
          <p:cNvSpPr txBox="1"/>
          <p:nvPr/>
        </p:nvSpPr>
        <p:spPr>
          <a:xfrm>
            <a:off x="10401555" y="6851629"/>
            <a:ext cx="338554" cy="523220"/>
          </a:xfrm>
          <a:prstGeom prst="rect">
            <a:avLst/>
          </a:prstGeom>
          <a:noFill/>
        </p:spPr>
        <p:txBody>
          <a:bodyPr wrap="none" rtlCol="0">
            <a:spAutoFit/>
          </a:bodyPr>
          <a:lstStyle/>
          <a:p>
            <a:r>
              <a:rPr lang="en-US" sz="2800" dirty="0">
                <a:latin typeface="IrisUPC" panose="020B0604020202020204" pitchFamily="34" charset="-34"/>
                <a:cs typeface="IrisUPC" panose="020B0604020202020204" pitchFamily="34" charset="-34"/>
              </a:rPr>
              <a:t>C</a:t>
            </a:r>
          </a:p>
        </p:txBody>
      </p:sp>
      <p:sp>
        <p:nvSpPr>
          <p:cNvPr id="118" name="TextBox 117">
            <a:extLst>
              <a:ext uri="{FF2B5EF4-FFF2-40B4-BE49-F238E27FC236}">
                <a16:creationId xmlns:a16="http://schemas.microsoft.com/office/drawing/2014/main" id="{8120AA42-DE16-74D3-C8AC-BD1A706FC024}"/>
              </a:ext>
            </a:extLst>
          </p:cNvPr>
          <p:cNvSpPr txBox="1"/>
          <p:nvPr/>
        </p:nvSpPr>
        <p:spPr>
          <a:xfrm>
            <a:off x="9876279" y="6843000"/>
            <a:ext cx="300082" cy="523220"/>
          </a:xfrm>
          <a:prstGeom prst="rect">
            <a:avLst/>
          </a:prstGeom>
          <a:noFill/>
        </p:spPr>
        <p:txBody>
          <a:bodyPr wrap="none" rtlCol="0">
            <a:spAutoFit/>
          </a:bodyPr>
          <a:lstStyle/>
          <a:p>
            <a:r>
              <a:rPr lang="en-US" sz="2800" dirty="0">
                <a:latin typeface="IrisUPC" panose="020B0604020202020204" pitchFamily="34" charset="-34"/>
                <a:cs typeface="IrisUPC" panose="020B0604020202020204" pitchFamily="34" charset="-34"/>
              </a:rPr>
              <a:t>E</a:t>
            </a:r>
          </a:p>
        </p:txBody>
      </p:sp>
      <p:pic>
        <p:nvPicPr>
          <p:cNvPr id="119" name="Picture 118" descr="A black background with a black square&#10;&#10;AI-generated content may be incorrect.">
            <a:hlinkClick r:id="rId11" action="ppaction://hlinksldjump"/>
            <a:extLst>
              <a:ext uri="{FF2B5EF4-FFF2-40B4-BE49-F238E27FC236}">
                <a16:creationId xmlns:a16="http://schemas.microsoft.com/office/drawing/2014/main" id="{0A55E078-764C-127C-A9A1-71D753EAFC30}"/>
              </a:ext>
            </a:extLst>
          </p:cNvPr>
          <p:cNvPicPr>
            <a:picLocks noChangeAspect="1"/>
          </p:cNvPicPr>
          <p:nvPr/>
        </p:nvPicPr>
        <p:blipFill>
          <a:blip r:embed="rId12"/>
          <a:stretch>
            <a:fillRect/>
          </a:stretch>
        </p:blipFill>
        <p:spPr>
          <a:xfrm>
            <a:off x="46536" y="-408152"/>
            <a:ext cx="288000" cy="288000"/>
          </a:xfrm>
          <a:prstGeom prst="rect">
            <a:avLst/>
          </a:prstGeom>
        </p:spPr>
      </p:pic>
    </p:spTree>
    <p:extLst>
      <p:ext uri="{BB962C8B-B14F-4D97-AF65-F5344CB8AC3E}">
        <p14:creationId xmlns:p14="http://schemas.microsoft.com/office/powerpoint/2010/main" val="15706524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DB3B11-40E2-C238-595E-C6D8E7DDC18E}"/>
            </a:ext>
          </a:extLst>
        </p:cNvPr>
        <p:cNvGrpSpPr/>
        <p:nvPr/>
      </p:nvGrpSpPr>
      <p:grpSpPr>
        <a:xfrm>
          <a:off x="0" y="0"/>
          <a:ext cx="0" cy="0"/>
          <a:chOff x="0" y="0"/>
          <a:chExt cx="0" cy="0"/>
        </a:xfrm>
      </p:grpSpPr>
      <p:pic>
        <p:nvPicPr>
          <p:cNvPr id="5" name="Picture 4" descr="A blue sky with clouds&#10;&#10;AI-generated content may be incorrect.">
            <a:extLst>
              <a:ext uri="{FF2B5EF4-FFF2-40B4-BE49-F238E27FC236}">
                <a16:creationId xmlns:a16="http://schemas.microsoft.com/office/drawing/2014/main" id="{9D171AB1-F97C-BC7E-2CA7-D24849ABF490}"/>
              </a:ext>
            </a:extLst>
          </p:cNvPr>
          <p:cNvPicPr>
            <a:picLocks noChangeAspect="1"/>
          </p:cNvPicPr>
          <p:nvPr/>
        </p:nvPicPr>
        <p:blipFill>
          <a:blip r:embed="rId2"/>
          <a:srcRect b="15747"/>
          <a:stretch>
            <a:fillRect/>
          </a:stretch>
        </p:blipFill>
        <p:spPr>
          <a:xfrm>
            <a:off x="-1504" y="0"/>
            <a:ext cx="12191980" cy="6856718"/>
          </a:xfrm>
          <a:prstGeom prst="rect">
            <a:avLst/>
          </a:prstGeom>
        </p:spPr>
      </p:pic>
      <p:sp>
        <p:nvSpPr>
          <p:cNvPr id="30" name="TextBox 29">
            <a:extLst>
              <a:ext uri="{FF2B5EF4-FFF2-40B4-BE49-F238E27FC236}">
                <a16:creationId xmlns:a16="http://schemas.microsoft.com/office/drawing/2014/main" id="{B1BF30DF-B85E-31FC-D1DA-644BDC6AE729}"/>
              </a:ext>
            </a:extLst>
          </p:cNvPr>
          <p:cNvSpPr txBox="1"/>
          <p:nvPr/>
        </p:nvSpPr>
        <p:spPr>
          <a:xfrm>
            <a:off x="3563317" y="-2826515"/>
            <a:ext cx="4884671" cy="3154710"/>
          </a:xfrm>
          <a:prstGeom prst="rect">
            <a:avLst/>
          </a:prstGeom>
          <a:noFill/>
        </p:spPr>
        <p:txBody>
          <a:bodyPr wrap="none" rtlCol="0">
            <a:spAutoFit/>
          </a:bodyPr>
          <a:lstStyle/>
          <a:p>
            <a:pPr algn="ctr"/>
            <a:r>
              <a:rPr lang="en-US" sz="19900" b="1" dirty="0">
                <a:latin typeface="IrisUPC" panose="020B0604020202020204" pitchFamily="34" charset="-34"/>
                <a:cs typeface="IrisUPC" panose="020B0604020202020204" pitchFamily="34" charset="-34"/>
              </a:rPr>
              <a:t>TABLE</a:t>
            </a:r>
          </a:p>
        </p:txBody>
      </p:sp>
      <p:sp>
        <p:nvSpPr>
          <p:cNvPr id="31" name="TextBox 30">
            <a:extLst>
              <a:ext uri="{FF2B5EF4-FFF2-40B4-BE49-F238E27FC236}">
                <a16:creationId xmlns:a16="http://schemas.microsoft.com/office/drawing/2014/main" id="{E14B622E-3D15-F417-E16C-08E26478BA99}"/>
              </a:ext>
            </a:extLst>
          </p:cNvPr>
          <p:cNvSpPr txBox="1"/>
          <p:nvPr/>
        </p:nvSpPr>
        <p:spPr>
          <a:xfrm>
            <a:off x="6840021" y="-663404"/>
            <a:ext cx="2219967" cy="461665"/>
          </a:xfrm>
          <a:prstGeom prst="rect">
            <a:avLst/>
          </a:prstGeom>
          <a:noFill/>
        </p:spPr>
        <p:txBody>
          <a:bodyPr wrap="none" rtlCol="0">
            <a:spAutoFit/>
          </a:bodyPr>
          <a:lstStyle/>
          <a:p>
            <a:r>
              <a:rPr lang="en-US" sz="2400" b="1" dirty="0">
                <a:latin typeface="Avenir Next Heavy" panose="020B0503020202020204" pitchFamily="34" charset="0"/>
              </a:rPr>
              <a:t>OF CONTENT</a:t>
            </a:r>
          </a:p>
        </p:txBody>
      </p:sp>
      <p:grpSp>
        <p:nvGrpSpPr>
          <p:cNvPr id="56" name="Group 55">
            <a:extLst>
              <a:ext uri="{FF2B5EF4-FFF2-40B4-BE49-F238E27FC236}">
                <a16:creationId xmlns:a16="http://schemas.microsoft.com/office/drawing/2014/main" id="{89BFB41E-6244-7C8E-995A-3C0601C500A9}"/>
              </a:ext>
            </a:extLst>
          </p:cNvPr>
          <p:cNvGrpSpPr/>
          <p:nvPr/>
        </p:nvGrpSpPr>
        <p:grpSpPr>
          <a:xfrm>
            <a:off x="6419425" y="7329025"/>
            <a:ext cx="1224000" cy="1188000"/>
            <a:chOff x="6419425" y="2840151"/>
            <a:chExt cx="1224000" cy="1188000"/>
          </a:xfrm>
        </p:grpSpPr>
        <p:sp>
          <p:nvSpPr>
            <p:cNvPr id="22" name="Rectangle 21">
              <a:extLst>
                <a:ext uri="{FF2B5EF4-FFF2-40B4-BE49-F238E27FC236}">
                  <a16:creationId xmlns:a16="http://schemas.microsoft.com/office/drawing/2014/main" id="{C468B2B0-4A5A-41DF-ACB2-8043D9CC50AD}"/>
                </a:ext>
              </a:extLst>
            </p:cNvPr>
            <p:cNvSpPr>
              <a:spLocks noChangeAspect="1"/>
            </p:cNvSpPr>
            <p:nvPr/>
          </p:nvSpPr>
          <p:spPr>
            <a:xfrm>
              <a:off x="6419425" y="2877109"/>
              <a:ext cx="1224000" cy="1128107"/>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Picture 46" descr="A black background with a black square&#10;&#10;AI-generated content may be incorrect.">
              <a:extLst>
                <a:ext uri="{FF2B5EF4-FFF2-40B4-BE49-F238E27FC236}">
                  <a16:creationId xmlns:a16="http://schemas.microsoft.com/office/drawing/2014/main" id="{B1A02215-1CB2-FF8F-F1C4-B854C3454AAE}"/>
                </a:ext>
              </a:extLst>
            </p:cNvPr>
            <p:cNvPicPr>
              <a:picLocks noChangeAspect="1"/>
            </p:cNvPicPr>
            <p:nvPr/>
          </p:nvPicPr>
          <p:blipFill>
            <a:blip r:embed="rId3"/>
            <a:stretch>
              <a:fillRect/>
            </a:stretch>
          </p:blipFill>
          <p:spPr>
            <a:xfrm>
              <a:off x="6431982" y="2840151"/>
              <a:ext cx="1188000" cy="1188000"/>
            </a:xfrm>
            <a:prstGeom prst="rect">
              <a:avLst/>
            </a:prstGeom>
          </p:spPr>
        </p:pic>
      </p:grpSp>
      <p:grpSp>
        <p:nvGrpSpPr>
          <p:cNvPr id="55" name="Group 54">
            <a:extLst>
              <a:ext uri="{FF2B5EF4-FFF2-40B4-BE49-F238E27FC236}">
                <a16:creationId xmlns:a16="http://schemas.microsoft.com/office/drawing/2014/main" id="{DF256C1C-2545-1256-1D94-109BB0AB0ADA}"/>
              </a:ext>
            </a:extLst>
          </p:cNvPr>
          <p:cNvGrpSpPr/>
          <p:nvPr/>
        </p:nvGrpSpPr>
        <p:grpSpPr>
          <a:xfrm>
            <a:off x="10659867" y="2513114"/>
            <a:ext cx="1226109" cy="1224000"/>
            <a:chOff x="7835988" y="2700152"/>
            <a:chExt cx="1226109" cy="1224000"/>
          </a:xfrm>
        </p:grpSpPr>
        <p:sp>
          <p:nvSpPr>
            <p:cNvPr id="12" name="Rectangle 11">
              <a:extLst>
                <a:ext uri="{FF2B5EF4-FFF2-40B4-BE49-F238E27FC236}">
                  <a16:creationId xmlns:a16="http://schemas.microsoft.com/office/drawing/2014/main" id="{22F8FA66-6F81-BA1E-8496-80056F18562B}"/>
                </a:ext>
              </a:extLst>
            </p:cNvPr>
            <p:cNvSpPr>
              <a:spLocks noChangeAspect="1"/>
            </p:cNvSpPr>
            <p:nvPr/>
          </p:nvSpPr>
          <p:spPr>
            <a:xfrm>
              <a:off x="7835988" y="2744111"/>
              <a:ext cx="1224000" cy="1128107"/>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Picture 48" descr="A black background with a black square&#10;&#10;AI-generated content may be incorrect.">
              <a:extLst>
                <a:ext uri="{FF2B5EF4-FFF2-40B4-BE49-F238E27FC236}">
                  <a16:creationId xmlns:a16="http://schemas.microsoft.com/office/drawing/2014/main" id="{AD9C6A55-D1C2-6222-1C4E-7044AD98741F}"/>
                </a:ext>
              </a:extLst>
            </p:cNvPr>
            <p:cNvPicPr>
              <a:picLocks noChangeAspect="1"/>
            </p:cNvPicPr>
            <p:nvPr/>
          </p:nvPicPr>
          <p:blipFill>
            <a:blip r:embed="rId4"/>
            <a:stretch>
              <a:fillRect/>
            </a:stretch>
          </p:blipFill>
          <p:spPr>
            <a:xfrm>
              <a:off x="7838097" y="2700152"/>
              <a:ext cx="1224000" cy="1224000"/>
            </a:xfrm>
            <a:prstGeom prst="rect">
              <a:avLst/>
            </a:prstGeom>
          </p:spPr>
        </p:pic>
      </p:grpSp>
      <p:grpSp>
        <p:nvGrpSpPr>
          <p:cNvPr id="54" name="Group 53">
            <a:extLst>
              <a:ext uri="{FF2B5EF4-FFF2-40B4-BE49-F238E27FC236}">
                <a16:creationId xmlns:a16="http://schemas.microsoft.com/office/drawing/2014/main" id="{66467088-F975-4E02-A4A3-22DFE536B140}"/>
              </a:ext>
            </a:extLst>
          </p:cNvPr>
          <p:cNvGrpSpPr/>
          <p:nvPr/>
        </p:nvGrpSpPr>
        <p:grpSpPr>
          <a:xfrm>
            <a:off x="4932470" y="7361385"/>
            <a:ext cx="1224000" cy="1152000"/>
            <a:chOff x="4932470" y="2872511"/>
            <a:chExt cx="1224000" cy="1152000"/>
          </a:xfrm>
        </p:grpSpPr>
        <p:sp>
          <p:nvSpPr>
            <p:cNvPr id="24" name="Rectangle 23">
              <a:extLst>
                <a:ext uri="{FF2B5EF4-FFF2-40B4-BE49-F238E27FC236}">
                  <a16:creationId xmlns:a16="http://schemas.microsoft.com/office/drawing/2014/main" id="{B2EAAF28-5D15-15E8-6C05-58177CF3E1BC}"/>
                </a:ext>
              </a:extLst>
            </p:cNvPr>
            <p:cNvSpPr>
              <a:spLocks noChangeAspect="1"/>
            </p:cNvSpPr>
            <p:nvPr/>
          </p:nvSpPr>
          <p:spPr>
            <a:xfrm>
              <a:off x="4932470" y="2880930"/>
              <a:ext cx="1224000" cy="1128107"/>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50" descr="A black background with a black square&#10;&#10;AI-generated content may be incorrect.">
              <a:extLst>
                <a:ext uri="{FF2B5EF4-FFF2-40B4-BE49-F238E27FC236}">
                  <a16:creationId xmlns:a16="http://schemas.microsoft.com/office/drawing/2014/main" id="{EB69CFBE-2DB4-0FFE-AB11-8C697E3F0F6B}"/>
                </a:ext>
              </a:extLst>
            </p:cNvPr>
            <p:cNvPicPr>
              <a:picLocks noChangeAspect="1"/>
            </p:cNvPicPr>
            <p:nvPr/>
          </p:nvPicPr>
          <p:blipFill>
            <a:blip r:embed="rId5"/>
            <a:stretch>
              <a:fillRect/>
            </a:stretch>
          </p:blipFill>
          <p:spPr>
            <a:xfrm>
              <a:off x="4969339" y="2872511"/>
              <a:ext cx="1152000" cy="1152000"/>
            </a:xfrm>
            <a:prstGeom prst="rect">
              <a:avLst/>
            </a:prstGeom>
          </p:spPr>
        </p:pic>
      </p:grpSp>
      <p:grpSp>
        <p:nvGrpSpPr>
          <p:cNvPr id="57" name="Group 56">
            <a:extLst>
              <a:ext uri="{FF2B5EF4-FFF2-40B4-BE49-F238E27FC236}">
                <a16:creationId xmlns:a16="http://schemas.microsoft.com/office/drawing/2014/main" id="{0C58D28F-AB09-5454-33F1-0F90371EFEE6}"/>
              </a:ext>
            </a:extLst>
          </p:cNvPr>
          <p:cNvGrpSpPr/>
          <p:nvPr/>
        </p:nvGrpSpPr>
        <p:grpSpPr>
          <a:xfrm>
            <a:off x="3120056" y="7358599"/>
            <a:ext cx="1224000" cy="1152000"/>
            <a:chOff x="3120056" y="2869725"/>
            <a:chExt cx="1224000" cy="1152000"/>
          </a:xfrm>
        </p:grpSpPr>
        <p:sp>
          <p:nvSpPr>
            <p:cNvPr id="23" name="Rectangle 22">
              <a:extLst>
                <a:ext uri="{FF2B5EF4-FFF2-40B4-BE49-F238E27FC236}">
                  <a16:creationId xmlns:a16="http://schemas.microsoft.com/office/drawing/2014/main" id="{E7718D06-AAC1-71A1-26B3-13DADB65707D}"/>
                </a:ext>
              </a:extLst>
            </p:cNvPr>
            <p:cNvSpPr>
              <a:spLocks noChangeAspect="1"/>
            </p:cNvSpPr>
            <p:nvPr/>
          </p:nvSpPr>
          <p:spPr>
            <a:xfrm>
              <a:off x="3120056" y="2869725"/>
              <a:ext cx="1224000" cy="1151971"/>
            </a:xfrm>
            <a:prstGeom prst="rect">
              <a:avLst/>
            </a:prstGeom>
            <a:blipFill dpi="0" rotWithShape="1">
              <a:blip r:embed="rId6">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pic>
          <p:nvPicPr>
            <p:cNvPr id="53" name="Picture 52" descr="A black background with a black square&#10;&#10;AI-generated content may be incorrect.">
              <a:hlinkClick r:id="rId7" action="ppaction://hlinksldjump"/>
              <a:extLst>
                <a:ext uri="{FF2B5EF4-FFF2-40B4-BE49-F238E27FC236}">
                  <a16:creationId xmlns:a16="http://schemas.microsoft.com/office/drawing/2014/main" id="{5A8826CD-EA26-66CA-A683-CDB62A6896C8}"/>
                </a:ext>
              </a:extLst>
            </p:cNvPr>
            <p:cNvPicPr>
              <a:picLocks noChangeAspect="1"/>
            </p:cNvPicPr>
            <p:nvPr/>
          </p:nvPicPr>
          <p:blipFill>
            <a:blip r:embed="rId6"/>
            <a:stretch>
              <a:fillRect/>
            </a:stretch>
          </p:blipFill>
          <p:spPr>
            <a:xfrm>
              <a:off x="3148786" y="2869725"/>
              <a:ext cx="1152000" cy="1152000"/>
            </a:xfrm>
            <a:prstGeom prst="rect">
              <a:avLst/>
            </a:prstGeom>
          </p:spPr>
        </p:pic>
      </p:grpSp>
      <p:sp>
        <p:nvSpPr>
          <p:cNvPr id="2" name="TextBox 1">
            <a:extLst>
              <a:ext uri="{FF2B5EF4-FFF2-40B4-BE49-F238E27FC236}">
                <a16:creationId xmlns:a16="http://schemas.microsoft.com/office/drawing/2014/main" id="{83A0E607-B154-E734-4B97-330A8D2518DC}"/>
              </a:ext>
            </a:extLst>
          </p:cNvPr>
          <p:cNvSpPr txBox="1"/>
          <p:nvPr/>
        </p:nvSpPr>
        <p:spPr>
          <a:xfrm>
            <a:off x="9843602" y="570275"/>
            <a:ext cx="2536272" cy="5386090"/>
          </a:xfrm>
          <a:prstGeom prst="rect">
            <a:avLst/>
          </a:prstGeom>
          <a:noFill/>
        </p:spPr>
        <p:txBody>
          <a:bodyPr wrap="none" rtlCol="0">
            <a:spAutoFit/>
          </a:bodyPr>
          <a:lstStyle/>
          <a:p>
            <a:r>
              <a:rPr lang="en-US" sz="34400" dirty="0">
                <a:latin typeface="IrisUPC" panose="020B0604020202020204" pitchFamily="34" charset="-34"/>
                <a:cs typeface="IrisUPC" panose="020B0604020202020204" pitchFamily="34" charset="-34"/>
              </a:rPr>
              <a:t>O</a:t>
            </a:r>
          </a:p>
        </p:txBody>
      </p:sp>
      <p:sp>
        <p:nvSpPr>
          <p:cNvPr id="3" name="TextBox 2">
            <a:extLst>
              <a:ext uri="{FF2B5EF4-FFF2-40B4-BE49-F238E27FC236}">
                <a16:creationId xmlns:a16="http://schemas.microsoft.com/office/drawing/2014/main" id="{042BFD98-4AA9-7A88-D45B-C76566F28284}"/>
              </a:ext>
            </a:extLst>
          </p:cNvPr>
          <p:cNvSpPr txBox="1"/>
          <p:nvPr/>
        </p:nvSpPr>
        <p:spPr>
          <a:xfrm rot="7509875">
            <a:off x="10501810" y="1751698"/>
            <a:ext cx="316112" cy="461665"/>
          </a:xfrm>
          <a:prstGeom prst="rect">
            <a:avLst/>
          </a:prstGeom>
          <a:noFill/>
        </p:spPr>
        <p:txBody>
          <a:bodyPr wrap="none" rtlCol="0">
            <a:spAutoFit/>
          </a:bodyPr>
          <a:lstStyle/>
          <a:p>
            <a:r>
              <a:rPr lang="en-US" sz="2400" dirty="0">
                <a:latin typeface="IrisUPC" panose="020B0604020202020204" pitchFamily="34" charset="-34"/>
                <a:cs typeface="IrisUPC" panose="020B0604020202020204" pitchFamily="34" charset="-34"/>
              </a:rPr>
              <a:t>V</a:t>
            </a:r>
          </a:p>
        </p:txBody>
      </p:sp>
      <p:sp>
        <p:nvSpPr>
          <p:cNvPr id="4" name="TextBox 3">
            <a:extLst>
              <a:ext uri="{FF2B5EF4-FFF2-40B4-BE49-F238E27FC236}">
                <a16:creationId xmlns:a16="http://schemas.microsoft.com/office/drawing/2014/main" id="{00D74D7E-CCF8-E90F-80AA-2C9DBE158709}"/>
              </a:ext>
            </a:extLst>
          </p:cNvPr>
          <p:cNvSpPr txBox="1"/>
          <p:nvPr/>
        </p:nvSpPr>
        <p:spPr>
          <a:xfrm rot="6619994">
            <a:off x="10052657" y="1942537"/>
            <a:ext cx="282450" cy="461665"/>
          </a:xfrm>
          <a:prstGeom prst="rect">
            <a:avLst/>
          </a:prstGeom>
          <a:noFill/>
        </p:spPr>
        <p:txBody>
          <a:bodyPr wrap="none" rtlCol="0">
            <a:spAutoFit/>
          </a:bodyPr>
          <a:lstStyle/>
          <a:p>
            <a:r>
              <a:rPr lang="en-US" sz="2400" dirty="0">
                <a:latin typeface="IrisUPC" panose="020B0604020202020204" pitchFamily="34" charset="-34"/>
                <a:cs typeface="IrisUPC" panose="020B0604020202020204" pitchFamily="34" charset="-34"/>
              </a:rPr>
              <a:t>E</a:t>
            </a:r>
          </a:p>
        </p:txBody>
      </p:sp>
      <p:sp>
        <p:nvSpPr>
          <p:cNvPr id="6" name="TextBox 5">
            <a:extLst>
              <a:ext uri="{FF2B5EF4-FFF2-40B4-BE49-F238E27FC236}">
                <a16:creationId xmlns:a16="http://schemas.microsoft.com/office/drawing/2014/main" id="{FD988D25-F747-4C6C-0E94-E2008EB02DED}"/>
              </a:ext>
            </a:extLst>
          </p:cNvPr>
          <p:cNvSpPr txBox="1"/>
          <p:nvPr/>
        </p:nvSpPr>
        <p:spPr>
          <a:xfrm rot="6439778">
            <a:off x="9775674" y="2369456"/>
            <a:ext cx="304892" cy="461665"/>
          </a:xfrm>
          <a:prstGeom prst="rect">
            <a:avLst/>
          </a:prstGeom>
          <a:noFill/>
        </p:spPr>
        <p:txBody>
          <a:bodyPr wrap="none" rtlCol="0">
            <a:spAutoFit/>
          </a:bodyPr>
          <a:lstStyle/>
          <a:p>
            <a:r>
              <a:rPr lang="en-US" sz="2400" dirty="0">
                <a:latin typeface="IrisUPC" panose="020B0604020202020204" pitchFamily="34" charset="-34"/>
                <a:cs typeface="IrisUPC" panose="020B0604020202020204" pitchFamily="34" charset="-34"/>
              </a:rPr>
              <a:t>R</a:t>
            </a:r>
          </a:p>
        </p:txBody>
      </p:sp>
      <p:sp>
        <p:nvSpPr>
          <p:cNvPr id="7" name="TextBox 6">
            <a:extLst>
              <a:ext uri="{FF2B5EF4-FFF2-40B4-BE49-F238E27FC236}">
                <a16:creationId xmlns:a16="http://schemas.microsoft.com/office/drawing/2014/main" id="{9804FDA9-7BB3-973B-91C5-D6C90082BB27}"/>
              </a:ext>
            </a:extLst>
          </p:cNvPr>
          <p:cNvSpPr txBox="1"/>
          <p:nvPr/>
        </p:nvSpPr>
        <p:spPr>
          <a:xfrm rot="5400000">
            <a:off x="9685545" y="2890294"/>
            <a:ext cx="316112" cy="461665"/>
          </a:xfrm>
          <a:prstGeom prst="rect">
            <a:avLst/>
          </a:prstGeom>
          <a:noFill/>
        </p:spPr>
        <p:txBody>
          <a:bodyPr wrap="none" rtlCol="0">
            <a:spAutoFit/>
          </a:bodyPr>
          <a:lstStyle/>
          <a:p>
            <a:r>
              <a:rPr lang="en-US" sz="2400" dirty="0">
                <a:latin typeface="IrisUPC" panose="020B0604020202020204" pitchFamily="34" charset="-34"/>
                <a:cs typeface="IrisUPC" panose="020B0604020202020204" pitchFamily="34" charset="-34"/>
              </a:rPr>
              <a:t>A</a:t>
            </a:r>
          </a:p>
        </p:txBody>
      </p:sp>
      <p:sp>
        <p:nvSpPr>
          <p:cNvPr id="8" name="TextBox 7">
            <a:extLst>
              <a:ext uri="{FF2B5EF4-FFF2-40B4-BE49-F238E27FC236}">
                <a16:creationId xmlns:a16="http://schemas.microsoft.com/office/drawing/2014/main" id="{5D30CEA4-4FFF-6E36-F4F9-657C43764EB3}"/>
              </a:ext>
            </a:extLst>
          </p:cNvPr>
          <p:cNvSpPr txBox="1"/>
          <p:nvPr/>
        </p:nvSpPr>
        <p:spPr>
          <a:xfrm rot="4223297">
            <a:off x="10067714" y="3802620"/>
            <a:ext cx="260920" cy="461665"/>
          </a:xfrm>
          <a:prstGeom prst="rect">
            <a:avLst/>
          </a:prstGeom>
          <a:noFill/>
        </p:spPr>
        <p:txBody>
          <a:bodyPr wrap="square" rtlCol="0">
            <a:spAutoFit/>
          </a:bodyPr>
          <a:lstStyle/>
          <a:p>
            <a:r>
              <a:rPr lang="en-US" sz="2400" dirty="0">
                <a:latin typeface="IrisUPC" panose="020B0604020202020204" pitchFamily="34" charset="-34"/>
                <a:cs typeface="IrisUPC" panose="020B0604020202020204" pitchFamily="34" charset="-34"/>
              </a:rPr>
              <a:t>L</a:t>
            </a:r>
          </a:p>
        </p:txBody>
      </p:sp>
      <p:sp>
        <p:nvSpPr>
          <p:cNvPr id="9" name="TextBox 8">
            <a:extLst>
              <a:ext uri="{FF2B5EF4-FFF2-40B4-BE49-F238E27FC236}">
                <a16:creationId xmlns:a16="http://schemas.microsoft.com/office/drawing/2014/main" id="{2345F58F-C07F-6214-596D-49A4EC6C51B6}"/>
              </a:ext>
            </a:extLst>
          </p:cNvPr>
          <p:cNvSpPr txBox="1"/>
          <p:nvPr/>
        </p:nvSpPr>
        <p:spPr>
          <a:xfrm rot="4392793">
            <a:off x="9801973" y="3383185"/>
            <a:ext cx="282450" cy="461665"/>
          </a:xfrm>
          <a:prstGeom prst="rect">
            <a:avLst/>
          </a:prstGeom>
          <a:noFill/>
        </p:spPr>
        <p:txBody>
          <a:bodyPr wrap="none" rtlCol="0">
            <a:spAutoFit/>
          </a:bodyPr>
          <a:lstStyle/>
          <a:p>
            <a:r>
              <a:rPr lang="en-US" sz="2400" dirty="0">
                <a:latin typeface="IrisUPC" panose="020B0604020202020204" pitchFamily="34" charset="-34"/>
                <a:cs typeface="IrisUPC" panose="020B0604020202020204" pitchFamily="34" charset="-34"/>
              </a:rPr>
              <a:t>L</a:t>
            </a:r>
          </a:p>
        </p:txBody>
      </p:sp>
      <p:sp>
        <p:nvSpPr>
          <p:cNvPr id="10" name="TextBox 9">
            <a:extLst>
              <a:ext uri="{FF2B5EF4-FFF2-40B4-BE49-F238E27FC236}">
                <a16:creationId xmlns:a16="http://schemas.microsoft.com/office/drawing/2014/main" id="{AAF2B282-7FA8-C23D-7B31-D5CA4940364C}"/>
              </a:ext>
            </a:extLst>
          </p:cNvPr>
          <p:cNvSpPr txBox="1"/>
          <p:nvPr/>
        </p:nvSpPr>
        <p:spPr>
          <a:xfrm>
            <a:off x="9612897" y="-39887"/>
            <a:ext cx="325730" cy="523220"/>
          </a:xfrm>
          <a:prstGeom prst="rect">
            <a:avLst/>
          </a:prstGeom>
          <a:noFill/>
          <a:effectLst>
            <a:reflection blurRad="6350" stA="52790" endPos="82503" dir="5400000" sy="-100000" algn="bl" rotWithShape="0"/>
          </a:effectLst>
        </p:spPr>
        <p:txBody>
          <a:bodyPr wrap="none" rtlCol="0">
            <a:spAutoFit/>
          </a:bodyPr>
          <a:lstStyle/>
          <a:p>
            <a:r>
              <a:rPr lang="en-US" sz="2800" dirty="0">
                <a:latin typeface="IrisUPC" panose="020B0604020202020204" pitchFamily="34" charset="-34"/>
                <a:cs typeface="IrisUPC" panose="020B0604020202020204" pitchFamily="34" charset="-34"/>
              </a:rPr>
              <a:t>R</a:t>
            </a:r>
          </a:p>
        </p:txBody>
      </p:sp>
      <p:sp>
        <p:nvSpPr>
          <p:cNvPr id="11" name="TextBox 10">
            <a:extLst>
              <a:ext uri="{FF2B5EF4-FFF2-40B4-BE49-F238E27FC236}">
                <a16:creationId xmlns:a16="http://schemas.microsoft.com/office/drawing/2014/main" id="{599A4E75-C556-24ED-4064-564D0194A4B2}"/>
              </a:ext>
            </a:extLst>
          </p:cNvPr>
          <p:cNvSpPr txBox="1"/>
          <p:nvPr/>
        </p:nvSpPr>
        <p:spPr>
          <a:xfrm>
            <a:off x="10057961" y="-47584"/>
            <a:ext cx="300082" cy="523220"/>
          </a:xfrm>
          <a:prstGeom prst="rect">
            <a:avLst/>
          </a:prstGeom>
          <a:noFill/>
          <a:effectLst>
            <a:reflection blurRad="6350" stA="52790" endPos="82503" dir="5400000" sy="-100000" algn="bl" rotWithShape="0"/>
          </a:effectLst>
        </p:spPr>
        <p:txBody>
          <a:bodyPr wrap="none" rtlCol="0">
            <a:spAutoFit/>
          </a:bodyPr>
          <a:lstStyle/>
          <a:p>
            <a:r>
              <a:rPr lang="en-US" sz="2800" dirty="0">
                <a:latin typeface="IrisUPC" panose="020B0604020202020204" pitchFamily="34" charset="-34"/>
                <a:cs typeface="IrisUPC" panose="020B0604020202020204" pitchFamily="34" charset="-34"/>
              </a:rPr>
              <a:t>E</a:t>
            </a:r>
          </a:p>
        </p:txBody>
      </p:sp>
      <p:sp>
        <p:nvSpPr>
          <p:cNvPr id="13" name="TextBox 12">
            <a:extLst>
              <a:ext uri="{FF2B5EF4-FFF2-40B4-BE49-F238E27FC236}">
                <a16:creationId xmlns:a16="http://schemas.microsoft.com/office/drawing/2014/main" id="{7092C84B-EFA0-5C35-A8B1-DA856364B01D}"/>
              </a:ext>
            </a:extLst>
          </p:cNvPr>
          <p:cNvSpPr txBox="1"/>
          <p:nvPr/>
        </p:nvSpPr>
        <p:spPr>
          <a:xfrm>
            <a:off x="10534323" y="-47585"/>
            <a:ext cx="300082" cy="523220"/>
          </a:xfrm>
          <a:prstGeom prst="rect">
            <a:avLst/>
          </a:prstGeom>
          <a:noFill/>
          <a:effectLst>
            <a:reflection blurRad="6350" stA="52790" endPos="82503" dir="5400000" sy="-100000" algn="bl" rotWithShape="0"/>
          </a:effectLst>
        </p:spPr>
        <p:txBody>
          <a:bodyPr wrap="none" rtlCol="0">
            <a:spAutoFit/>
          </a:bodyPr>
          <a:lstStyle/>
          <a:p>
            <a:r>
              <a:rPr lang="en-US" sz="2800" dirty="0">
                <a:latin typeface="IrisUPC" panose="020B0604020202020204" pitchFamily="34" charset="-34"/>
                <a:cs typeface="IrisUPC" panose="020B0604020202020204" pitchFamily="34" charset="-34"/>
              </a:rPr>
              <a:t>F</a:t>
            </a:r>
          </a:p>
        </p:txBody>
      </p:sp>
      <p:sp>
        <p:nvSpPr>
          <p:cNvPr id="14" name="TextBox 13">
            <a:extLst>
              <a:ext uri="{FF2B5EF4-FFF2-40B4-BE49-F238E27FC236}">
                <a16:creationId xmlns:a16="http://schemas.microsoft.com/office/drawing/2014/main" id="{3E88F72D-38C5-C9F4-1327-EB2CB21DF175}"/>
              </a:ext>
            </a:extLst>
          </p:cNvPr>
          <p:cNvSpPr txBox="1"/>
          <p:nvPr/>
        </p:nvSpPr>
        <p:spPr>
          <a:xfrm>
            <a:off x="11020453" y="-47586"/>
            <a:ext cx="300082" cy="523220"/>
          </a:xfrm>
          <a:prstGeom prst="rect">
            <a:avLst/>
          </a:prstGeom>
          <a:noFill/>
          <a:effectLst>
            <a:reflection blurRad="6350" stA="52790" endPos="82503" dir="5400000" sy="-100000" algn="bl" rotWithShape="0"/>
          </a:effectLst>
        </p:spPr>
        <p:txBody>
          <a:bodyPr wrap="none" rtlCol="0">
            <a:spAutoFit/>
          </a:bodyPr>
          <a:lstStyle/>
          <a:p>
            <a:r>
              <a:rPr lang="en-US" sz="2800" dirty="0">
                <a:latin typeface="IrisUPC" panose="020B0604020202020204" pitchFamily="34" charset="-34"/>
                <a:cs typeface="IrisUPC" panose="020B0604020202020204" pitchFamily="34" charset="-34"/>
              </a:rPr>
              <a:t>L</a:t>
            </a:r>
          </a:p>
        </p:txBody>
      </p:sp>
      <p:sp>
        <p:nvSpPr>
          <p:cNvPr id="15" name="TextBox 14">
            <a:extLst>
              <a:ext uri="{FF2B5EF4-FFF2-40B4-BE49-F238E27FC236}">
                <a16:creationId xmlns:a16="http://schemas.microsoft.com/office/drawing/2014/main" id="{D6D341CC-790B-6B98-713B-313F3518BE36}"/>
              </a:ext>
            </a:extLst>
          </p:cNvPr>
          <p:cNvSpPr txBox="1"/>
          <p:nvPr/>
        </p:nvSpPr>
        <p:spPr>
          <a:xfrm>
            <a:off x="11435444" y="-47586"/>
            <a:ext cx="300082" cy="523220"/>
          </a:xfrm>
          <a:prstGeom prst="rect">
            <a:avLst/>
          </a:prstGeom>
          <a:noFill/>
          <a:effectLst>
            <a:reflection blurRad="6350" stA="52790" endPos="82503" dir="5400000" sy="-100000" algn="bl" rotWithShape="0"/>
          </a:effectLst>
        </p:spPr>
        <p:txBody>
          <a:bodyPr wrap="none" rtlCol="0">
            <a:spAutoFit/>
          </a:bodyPr>
          <a:lstStyle/>
          <a:p>
            <a:r>
              <a:rPr lang="en-US" sz="2800" dirty="0">
                <a:latin typeface="IrisUPC" panose="020B0604020202020204" pitchFamily="34" charset="-34"/>
                <a:cs typeface="IrisUPC" panose="020B0604020202020204" pitchFamily="34" charset="-34"/>
              </a:rPr>
              <a:t>E</a:t>
            </a:r>
          </a:p>
        </p:txBody>
      </p:sp>
      <p:sp>
        <p:nvSpPr>
          <p:cNvPr id="16" name="TextBox 15">
            <a:extLst>
              <a:ext uri="{FF2B5EF4-FFF2-40B4-BE49-F238E27FC236}">
                <a16:creationId xmlns:a16="http://schemas.microsoft.com/office/drawing/2014/main" id="{4D53A566-3232-6B97-7F86-135E9C748898}"/>
              </a:ext>
            </a:extLst>
          </p:cNvPr>
          <p:cNvSpPr txBox="1"/>
          <p:nvPr/>
        </p:nvSpPr>
        <p:spPr>
          <a:xfrm>
            <a:off x="11825966" y="-49908"/>
            <a:ext cx="338554" cy="523220"/>
          </a:xfrm>
          <a:prstGeom prst="rect">
            <a:avLst/>
          </a:prstGeom>
          <a:noFill/>
          <a:effectLst>
            <a:reflection blurRad="6350" stA="52790" endPos="82503" dir="5400000" sy="-100000" algn="bl" rotWithShape="0"/>
          </a:effectLst>
        </p:spPr>
        <p:txBody>
          <a:bodyPr wrap="none" rtlCol="0">
            <a:spAutoFit/>
          </a:bodyPr>
          <a:lstStyle/>
          <a:p>
            <a:r>
              <a:rPr lang="en-US" sz="2800" dirty="0">
                <a:latin typeface="IrisUPC" panose="020B0604020202020204" pitchFamily="34" charset="-34"/>
                <a:cs typeface="IrisUPC" panose="020B0604020202020204" pitchFamily="34" charset="-34"/>
              </a:rPr>
              <a:t>C</a:t>
            </a:r>
          </a:p>
        </p:txBody>
      </p:sp>
      <p:sp>
        <p:nvSpPr>
          <p:cNvPr id="17" name="TextBox 16">
            <a:extLst>
              <a:ext uri="{FF2B5EF4-FFF2-40B4-BE49-F238E27FC236}">
                <a16:creationId xmlns:a16="http://schemas.microsoft.com/office/drawing/2014/main" id="{5379E350-ECE4-71D8-8660-B5EB6987240A}"/>
              </a:ext>
            </a:extLst>
          </p:cNvPr>
          <p:cNvSpPr txBox="1"/>
          <p:nvPr/>
        </p:nvSpPr>
        <p:spPr>
          <a:xfrm>
            <a:off x="11836887" y="449353"/>
            <a:ext cx="312906" cy="523220"/>
          </a:xfrm>
          <a:prstGeom prst="rect">
            <a:avLst/>
          </a:prstGeom>
          <a:noFill/>
          <a:effectLst>
            <a:reflection blurRad="6350" stA="52790" endPos="82503" dir="5400000" sy="-100000" algn="bl" rotWithShape="0"/>
          </a:effectLst>
        </p:spPr>
        <p:txBody>
          <a:bodyPr wrap="none" rtlCol="0">
            <a:spAutoFit/>
          </a:bodyPr>
          <a:lstStyle/>
          <a:p>
            <a:r>
              <a:rPr lang="en-US" sz="2800" dirty="0">
                <a:latin typeface="IrisUPC" panose="020B0604020202020204" pitchFamily="34" charset="-34"/>
                <a:cs typeface="IrisUPC" panose="020B0604020202020204" pitchFamily="34" charset="-34"/>
              </a:rPr>
              <a:t>T</a:t>
            </a:r>
          </a:p>
        </p:txBody>
      </p:sp>
      <p:sp>
        <p:nvSpPr>
          <p:cNvPr id="18" name="TextBox 17">
            <a:extLst>
              <a:ext uri="{FF2B5EF4-FFF2-40B4-BE49-F238E27FC236}">
                <a16:creationId xmlns:a16="http://schemas.microsoft.com/office/drawing/2014/main" id="{5FBA7DA1-DE24-849C-153C-DBAF5EAE6FE3}"/>
              </a:ext>
            </a:extLst>
          </p:cNvPr>
          <p:cNvSpPr txBox="1"/>
          <p:nvPr/>
        </p:nvSpPr>
        <p:spPr>
          <a:xfrm>
            <a:off x="11858528" y="857979"/>
            <a:ext cx="248786" cy="523220"/>
          </a:xfrm>
          <a:prstGeom prst="rect">
            <a:avLst/>
          </a:prstGeom>
          <a:noFill/>
          <a:effectLst>
            <a:reflection blurRad="6350" stA="52790" endPos="82503" dir="5400000" sy="-100000" algn="bl" rotWithShape="0"/>
          </a:effectLst>
        </p:spPr>
        <p:txBody>
          <a:bodyPr wrap="none" rtlCol="0">
            <a:spAutoFit/>
          </a:bodyPr>
          <a:lstStyle/>
          <a:p>
            <a:r>
              <a:rPr lang="en-US" sz="2800" dirty="0">
                <a:latin typeface="IrisUPC" panose="020B0604020202020204" pitchFamily="34" charset="-34"/>
                <a:cs typeface="IrisUPC" panose="020B0604020202020204" pitchFamily="34" charset="-34"/>
              </a:rPr>
              <a:t>I</a:t>
            </a:r>
          </a:p>
        </p:txBody>
      </p:sp>
      <p:sp>
        <p:nvSpPr>
          <p:cNvPr id="19" name="TextBox 18">
            <a:extLst>
              <a:ext uri="{FF2B5EF4-FFF2-40B4-BE49-F238E27FC236}">
                <a16:creationId xmlns:a16="http://schemas.microsoft.com/office/drawing/2014/main" id="{40555B76-8CC3-E764-A641-52AB503EE451}"/>
              </a:ext>
            </a:extLst>
          </p:cNvPr>
          <p:cNvSpPr txBox="1"/>
          <p:nvPr/>
        </p:nvSpPr>
        <p:spPr>
          <a:xfrm>
            <a:off x="11825966" y="1284854"/>
            <a:ext cx="375424" cy="523220"/>
          </a:xfrm>
          <a:prstGeom prst="rect">
            <a:avLst/>
          </a:prstGeom>
          <a:noFill/>
          <a:effectLst>
            <a:reflection blurRad="6350" stA="52790" endPos="82503" dir="5400000" sy="-100000" algn="bl" rotWithShape="0"/>
          </a:effectLst>
        </p:spPr>
        <p:txBody>
          <a:bodyPr wrap="none" rtlCol="0">
            <a:spAutoFit/>
          </a:bodyPr>
          <a:lstStyle/>
          <a:p>
            <a:r>
              <a:rPr lang="en-US" sz="2800" dirty="0">
                <a:latin typeface="IrisUPC" panose="020B0604020202020204" pitchFamily="34" charset="-34"/>
                <a:cs typeface="IrisUPC" panose="020B0604020202020204" pitchFamily="34" charset="-34"/>
              </a:rPr>
              <a:t>O</a:t>
            </a:r>
          </a:p>
        </p:txBody>
      </p:sp>
      <p:sp>
        <p:nvSpPr>
          <p:cNvPr id="20" name="TextBox 19">
            <a:extLst>
              <a:ext uri="{FF2B5EF4-FFF2-40B4-BE49-F238E27FC236}">
                <a16:creationId xmlns:a16="http://schemas.microsoft.com/office/drawing/2014/main" id="{47260A35-328F-DFBE-159D-8BB056D95983}"/>
              </a:ext>
            </a:extLst>
          </p:cNvPr>
          <p:cNvSpPr txBox="1"/>
          <p:nvPr/>
        </p:nvSpPr>
        <p:spPr>
          <a:xfrm>
            <a:off x="11830775" y="1681538"/>
            <a:ext cx="364202" cy="523220"/>
          </a:xfrm>
          <a:prstGeom prst="rect">
            <a:avLst/>
          </a:prstGeom>
          <a:noFill/>
          <a:effectLst>
            <a:reflection blurRad="6350" stA="52790" endPos="82503" dir="5400000" sy="-100000" algn="bl" rotWithShape="0"/>
          </a:effectLst>
        </p:spPr>
        <p:txBody>
          <a:bodyPr wrap="none" rtlCol="0">
            <a:spAutoFit/>
          </a:bodyPr>
          <a:lstStyle/>
          <a:p>
            <a:r>
              <a:rPr lang="en-US" sz="2800" dirty="0">
                <a:latin typeface="IrisUPC" panose="020B0604020202020204" pitchFamily="34" charset="-34"/>
                <a:cs typeface="IrisUPC" panose="020B0604020202020204" pitchFamily="34" charset="-34"/>
              </a:rPr>
              <a:t>N</a:t>
            </a:r>
          </a:p>
        </p:txBody>
      </p:sp>
      <p:sp>
        <p:nvSpPr>
          <p:cNvPr id="21" name="TextBox 20">
            <a:extLst>
              <a:ext uri="{FF2B5EF4-FFF2-40B4-BE49-F238E27FC236}">
                <a16:creationId xmlns:a16="http://schemas.microsoft.com/office/drawing/2014/main" id="{36210022-9777-9F94-0554-35F97EC14939}"/>
              </a:ext>
            </a:extLst>
          </p:cNvPr>
          <p:cNvSpPr txBox="1"/>
          <p:nvPr/>
        </p:nvSpPr>
        <p:spPr>
          <a:xfrm>
            <a:off x="11332309" y="6437463"/>
            <a:ext cx="300082" cy="523220"/>
          </a:xfrm>
          <a:prstGeom prst="rect">
            <a:avLst/>
          </a:prstGeom>
          <a:noFill/>
        </p:spPr>
        <p:txBody>
          <a:bodyPr wrap="none" rtlCol="0">
            <a:spAutoFit/>
          </a:bodyPr>
          <a:lstStyle/>
          <a:p>
            <a:r>
              <a:rPr lang="en-US" sz="2800" dirty="0">
                <a:latin typeface="IrisUPC" panose="020B0604020202020204" pitchFamily="34" charset="-34"/>
                <a:cs typeface="IrisUPC" panose="020B0604020202020204" pitchFamily="34" charset="-34"/>
              </a:rPr>
              <a:t>E</a:t>
            </a:r>
          </a:p>
        </p:txBody>
      </p:sp>
      <p:sp>
        <p:nvSpPr>
          <p:cNvPr id="25" name="TextBox 24">
            <a:extLst>
              <a:ext uri="{FF2B5EF4-FFF2-40B4-BE49-F238E27FC236}">
                <a16:creationId xmlns:a16="http://schemas.microsoft.com/office/drawing/2014/main" id="{CD01D117-CBD1-1B87-4F5B-5E972455FFA5}"/>
              </a:ext>
            </a:extLst>
          </p:cNvPr>
          <p:cNvSpPr txBox="1"/>
          <p:nvPr/>
        </p:nvSpPr>
        <p:spPr>
          <a:xfrm>
            <a:off x="11808877" y="4428834"/>
            <a:ext cx="325730" cy="523220"/>
          </a:xfrm>
          <a:prstGeom prst="rect">
            <a:avLst/>
          </a:prstGeom>
          <a:noFill/>
        </p:spPr>
        <p:txBody>
          <a:bodyPr wrap="none" rtlCol="0">
            <a:spAutoFit/>
          </a:bodyPr>
          <a:lstStyle/>
          <a:p>
            <a:r>
              <a:rPr lang="en-US" sz="2800" dirty="0">
                <a:latin typeface="IrisUPC" panose="020B0604020202020204" pitchFamily="34" charset="-34"/>
                <a:cs typeface="IrisUPC" panose="020B0604020202020204" pitchFamily="34" charset="-34"/>
              </a:rPr>
              <a:t>X</a:t>
            </a:r>
          </a:p>
        </p:txBody>
      </p:sp>
      <p:sp>
        <p:nvSpPr>
          <p:cNvPr id="26" name="TextBox 25">
            <a:extLst>
              <a:ext uri="{FF2B5EF4-FFF2-40B4-BE49-F238E27FC236}">
                <a16:creationId xmlns:a16="http://schemas.microsoft.com/office/drawing/2014/main" id="{D186EF09-590F-3A21-0DB0-8129B5B82113}"/>
              </a:ext>
            </a:extLst>
          </p:cNvPr>
          <p:cNvSpPr txBox="1"/>
          <p:nvPr/>
        </p:nvSpPr>
        <p:spPr>
          <a:xfrm>
            <a:off x="11804026" y="4892279"/>
            <a:ext cx="312906" cy="523220"/>
          </a:xfrm>
          <a:prstGeom prst="rect">
            <a:avLst/>
          </a:prstGeom>
          <a:noFill/>
        </p:spPr>
        <p:txBody>
          <a:bodyPr wrap="none" rtlCol="0">
            <a:spAutoFit/>
          </a:bodyPr>
          <a:lstStyle/>
          <a:p>
            <a:r>
              <a:rPr lang="en-US" sz="2800" dirty="0">
                <a:latin typeface="IrisUPC" panose="020B0604020202020204" pitchFamily="34" charset="-34"/>
                <a:cs typeface="IrisUPC" panose="020B0604020202020204" pitchFamily="34" charset="-34"/>
              </a:rPr>
              <a:t>P</a:t>
            </a:r>
          </a:p>
        </p:txBody>
      </p:sp>
      <p:sp>
        <p:nvSpPr>
          <p:cNvPr id="27" name="TextBox 26">
            <a:extLst>
              <a:ext uri="{FF2B5EF4-FFF2-40B4-BE49-F238E27FC236}">
                <a16:creationId xmlns:a16="http://schemas.microsoft.com/office/drawing/2014/main" id="{F63EB6ED-AE13-555C-11FB-9B09FE48C919}"/>
              </a:ext>
            </a:extLst>
          </p:cNvPr>
          <p:cNvSpPr txBox="1"/>
          <p:nvPr/>
        </p:nvSpPr>
        <p:spPr>
          <a:xfrm>
            <a:off x="11836887" y="3978709"/>
            <a:ext cx="300082" cy="523220"/>
          </a:xfrm>
          <a:prstGeom prst="rect">
            <a:avLst/>
          </a:prstGeom>
          <a:noFill/>
        </p:spPr>
        <p:txBody>
          <a:bodyPr wrap="none" rtlCol="0">
            <a:spAutoFit/>
          </a:bodyPr>
          <a:lstStyle/>
          <a:p>
            <a:r>
              <a:rPr lang="en-US" sz="2800" dirty="0">
                <a:latin typeface="IrisUPC" panose="020B0604020202020204" pitchFamily="34" charset="-34"/>
                <a:cs typeface="IrisUPC" panose="020B0604020202020204" pitchFamily="34" charset="-34"/>
              </a:rPr>
              <a:t>E</a:t>
            </a:r>
          </a:p>
        </p:txBody>
      </p:sp>
      <p:sp>
        <p:nvSpPr>
          <p:cNvPr id="28" name="TextBox 27">
            <a:extLst>
              <a:ext uri="{FF2B5EF4-FFF2-40B4-BE49-F238E27FC236}">
                <a16:creationId xmlns:a16="http://schemas.microsoft.com/office/drawing/2014/main" id="{CE423037-F6A2-C540-2FF4-09F20E6596E9}"/>
              </a:ext>
            </a:extLst>
          </p:cNvPr>
          <p:cNvSpPr txBox="1"/>
          <p:nvPr/>
        </p:nvSpPr>
        <p:spPr>
          <a:xfrm>
            <a:off x="11785100" y="5793809"/>
            <a:ext cx="325730" cy="523220"/>
          </a:xfrm>
          <a:prstGeom prst="rect">
            <a:avLst/>
          </a:prstGeom>
          <a:noFill/>
        </p:spPr>
        <p:txBody>
          <a:bodyPr wrap="none" rtlCol="0">
            <a:spAutoFit/>
          </a:bodyPr>
          <a:lstStyle/>
          <a:p>
            <a:r>
              <a:rPr lang="en-US" sz="2800" dirty="0">
                <a:latin typeface="IrisUPC" panose="020B0604020202020204" pitchFamily="34" charset="-34"/>
                <a:cs typeface="IrisUPC" panose="020B0604020202020204" pitchFamily="34" charset="-34"/>
              </a:rPr>
              <a:t>R</a:t>
            </a:r>
          </a:p>
        </p:txBody>
      </p:sp>
      <p:sp>
        <p:nvSpPr>
          <p:cNvPr id="29" name="TextBox 28">
            <a:extLst>
              <a:ext uri="{FF2B5EF4-FFF2-40B4-BE49-F238E27FC236}">
                <a16:creationId xmlns:a16="http://schemas.microsoft.com/office/drawing/2014/main" id="{94AA2440-6C8D-A25B-73F5-8DD79B0EF6D8}"/>
              </a:ext>
            </a:extLst>
          </p:cNvPr>
          <p:cNvSpPr txBox="1"/>
          <p:nvPr/>
        </p:nvSpPr>
        <p:spPr>
          <a:xfrm>
            <a:off x="11817962" y="6231581"/>
            <a:ext cx="248786" cy="523220"/>
          </a:xfrm>
          <a:prstGeom prst="rect">
            <a:avLst/>
          </a:prstGeom>
          <a:noFill/>
        </p:spPr>
        <p:txBody>
          <a:bodyPr wrap="none" rtlCol="0">
            <a:spAutoFit/>
          </a:bodyPr>
          <a:lstStyle/>
          <a:p>
            <a:r>
              <a:rPr lang="en-US" sz="2800" dirty="0">
                <a:latin typeface="IrisUPC" panose="020B0604020202020204" pitchFamily="34" charset="-34"/>
                <a:cs typeface="IrisUPC" panose="020B0604020202020204" pitchFamily="34" charset="-34"/>
              </a:rPr>
              <a:t>I</a:t>
            </a:r>
          </a:p>
        </p:txBody>
      </p:sp>
      <p:sp>
        <p:nvSpPr>
          <p:cNvPr id="32" name="TextBox 31">
            <a:extLst>
              <a:ext uri="{FF2B5EF4-FFF2-40B4-BE49-F238E27FC236}">
                <a16:creationId xmlns:a16="http://schemas.microsoft.com/office/drawing/2014/main" id="{0AED381C-CFC6-C926-68B3-4DCA41F0642F}"/>
              </a:ext>
            </a:extLst>
          </p:cNvPr>
          <p:cNvSpPr txBox="1"/>
          <p:nvPr/>
        </p:nvSpPr>
        <p:spPr>
          <a:xfrm>
            <a:off x="11785100" y="5328910"/>
            <a:ext cx="300082" cy="523220"/>
          </a:xfrm>
          <a:prstGeom prst="rect">
            <a:avLst/>
          </a:prstGeom>
          <a:noFill/>
        </p:spPr>
        <p:txBody>
          <a:bodyPr wrap="none" rtlCol="0">
            <a:spAutoFit/>
          </a:bodyPr>
          <a:lstStyle/>
          <a:p>
            <a:r>
              <a:rPr lang="en-US" sz="2800" dirty="0">
                <a:latin typeface="IrisUPC" panose="020B0604020202020204" pitchFamily="34" charset="-34"/>
                <a:cs typeface="IrisUPC" panose="020B0604020202020204" pitchFamily="34" charset="-34"/>
              </a:rPr>
              <a:t>E</a:t>
            </a:r>
          </a:p>
        </p:txBody>
      </p:sp>
      <p:sp>
        <p:nvSpPr>
          <p:cNvPr id="33" name="TextBox 32">
            <a:extLst>
              <a:ext uri="{FF2B5EF4-FFF2-40B4-BE49-F238E27FC236}">
                <a16:creationId xmlns:a16="http://schemas.microsoft.com/office/drawing/2014/main" id="{8A03B8FE-7748-E0BE-9CA1-6BD6441E5DAE}"/>
              </a:ext>
            </a:extLst>
          </p:cNvPr>
          <p:cNvSpPr txBox="1"/>
          <p:nvPr/>
        </p:nvSpPr>
        <p:spPr>
          <a:xfrm>
            <a:off x="10892154" y="6437463"/>
            <a:ext cx="364202" cy="523220"/>
          </a:xfrm>
          <a:prstGeom prst="rect">
            <a:avLst/>
          </a:prstGeom>
          <a:noFill/>
        </p:spPr>
        <p:txBody>
          <a:bodyPr wrap="none" rtlCol="0">
            <a:spAutoFit/>
          </a:bodyPr>
          <a:lstStyle/>
          <a:p>
            <a:r>
              <a:rPr lang="en-US" sz="2800" dirty="0">
                <a:latin typeface="IrisUPC" panose="020B0604020202020204" pitchFamily="34" charset="-34"/>
                <a:cs typeface="IrisUPC" panose="020B0604020202020204" pitchFamily="34" charset="-34"/>
              </a:rPr>
              <a:t>N</a:t>
            </a:r>
          </a:p>
        </p:txBody>
      </p:sp>
      <p:sp>
        <p:nvSpPr>
          <p:cNvPr id="34" name="TextBox 33">
            <a:extLst>
              <a:ext uri="{FF2B5EF4-FFF2-40B4-BE49-F238E27FC236}">
                <a16:creationId xmlns:a16="http://schemas.microsoft.com/office/drawing/2014/main" id="{7C472335-9693-C63A-88CE-AAA83E6CF118}"/>
              </a:ext>
            </a:extLst>
          </p:cNvPr>
          <p:cNvSpPr txBox="1"/>
          <p:nvPr/>
        </p:nvSpPr>
        <p:spPr>
          <a:xfrm>
            <a:off x="10401555" y="6434940"/>
            <a:ext cx="338554" cy="523220"/>
          </a:xfrm>
          <a:prstGeom prst="rect">
            <a:avLst/>
          </a:prstGeom>
          <a:noFill/>
        </p:spPr>
        <p:txBody>
          <a:bodyPr wrap="none" rtlCol="0">
            <a:spAutoFit/>
          </a:bodyPr>
          <a:lstStyle/>
          <a:p>
            <a:r>
              <a:rPr lang="en-US" sz="2800" dirty="0">
                <a:latin typeface="IrisUPC" panose="020B0604020202020204" pitchFamily="34" charset="-34"/>
                <a:cs typeface="IrisUPC" panose="020B0604020202020204" pitchFamily="34" charset="-34"/>
              </a:rPr>
              <a:t>C</a:t>
            </a:r>
          </a:p>
        </p:txBody>
      </p:sp>
      <p:sp>
        <p:nvSpPr>
          <p:cNvPr id="35" name="TextBox 34">
            <a:extLst>
              <a:ext uri="{FF2B5EF4-FFF2-40B4-BE49-F238E27FC236}">
                <a16:creationId xmlns:a16="http://schemas.microsoft.com/office/drawing/2014/main" id="{2B1A097C-5070-352B-8AF7-DF95E00828EC}"/>
              </a:ext>
            </a:extLst>
          </p:cNvPr>
          <p:cNvSpPr txBox="1"/>
          <p:nvPr/>
        </p:nvSpPr>
        <p:spPr>
          <a:xfrm>
            <a:off x="9876279" y="6426311"/>
            <a:ext cx="300082" cy="523220"/>
          </a:xfrm>
          <a:prstGeom prst="rect">
            <a:avLst/>
          </a:prstGeom>
          <a:noFill/>
        </p:spPr>
        <p:txBody>
          <a:bodyPr wrap="none" rtlCol="0">
            <a:spAutoFit/>
          </a:bodyPr>
          <a:lstStyle/>
          <a:p>
            <a:r>
              <a:rPr lang="en-US" sz="2800" dirty="0">
                <a:latin typeface="IrisUPC" panose="020B0604020202020204" pitchFamily="34" charset="-34"/>
                <a:cs typeface="IrisUPC" panose="020B0604020202020204" pitchFamily="34" charset="-34"/>
              </a:rPr>
              <a:t>E</a:t>
            </a:r>
          </a:p>
        </p:txBody>
      </p:sp>
      <p:sp>
        <p:nvSpPr>
          <p:cNvPr id="36" name="TextBox 35">
            <a:extLst>
              <a:ext uri="{FF2B5EF4-FFF2-40B4-BE49-F238E27FC236}">
                <a16:creationId xmlns:a16="http://schemas.microsoft.com/office/drawing/2014/main" id="{6189AE78-4DBE-A576-F3C3-8DB91EB058A5}"/>
              </a:ext>
            </a:extLst>
          </p:cNvPr>
          <p:cNvSpPr txBox="1"/>
          <p:nvPr/>
        </p:nvSpPr>
        <p:spPr>
          <a:xfrm>
            <a:off x="499508" y="798141"/>
            <a:ext cx="9435958" cy="5509200"/>
          </a:xfrm>
          <a:prstGeom prst="rect">
            <a:avLst/>
          </a:prstGeom>
          <a:noFill/>
        </p:spPr>
        <p:txBody>
          <a:bodyPr wrap="square" rtlCol="0">
            <a:spAutoFit/>
          </a:bodyPr>
          <a:lstStyle/>
          <a:p>
            <a:r>
              <a:rPr lang="en-IN" sz="3200" dirty="0">
                <a:solidFill>
                  <a:srgbClr val="FFFF00"/>
                </a:solidFill>
                <a:latin typeface="IrisUPC" panose="020B0604020202020204" pitchFamily="34" charset="-34"/>
                <a:cs typeface="IrisUPC" panose="020B0604020202020204" pitchFamily="34" charset="-34"/>
              </a:rPr>
              <a:t>The internship provided a highly enriching and positive experience, significantly enhancing my understanding of finance and international treasury operations.</a:t>
            </a:r>
          </a:p>
          <a:p>
            <a:r>
              <a:rPr lang="en-IN" sz="3200" dirty="0">
                <a:solidFill>
                  <a:srgbClr val="FFFF00"/>
                </a:solidFill>
                <a:latin typeface="IrisUPC" panose="020B0604020202020204" pitchFamily="34" charset="-34"/>
                <a:cs typeface="IrisUPC" panose="020B0604020202020204" pitchFamily="34" charset="-34"/>
              </a:rPr>
              <a:t>It helped me gain clarity on my long-term career goals and motivated me to pursue a stronger path in corporate finance and global capital management.</a:t>
            </a:r>
          </a:p>
          <a:p>
            <a:r>
              <a:rPr lang="en-IN" sz="3200" dirty="0">
                <a:solidFill>
                  <a:srgbClr val="FFFF00"/>
                </a:solidFill>
                <a:latin typeface="IrisUPC" panose="020B0604020202020204" pitchFamily="34" charset="-34"/>
                <a:cs typeface="IrisUPC" panose="020B0604020202020204" pitchFamily="34" charset="-34"/>
              </a:rPr>
              <a:t>The project allowed me to grow professionally, improving both technical skills and decision-making abilities in a real-world corporate environment.</a:t>
            </a:r>
          </a:p>
          <a:p>
            <a:r>
              <a:rPr lang="en-IN" sz="3200" dirty="0">
                <a:solidFill>
                  <a:srgbClr val="FFFF00"/>
                </a:solidFill>
                <a:latin typeface="IrisUPC" panose="020B0604020202020204" pitchFamily="34" charset="-34"/>
                <a:cs typeface="IrisUPC" panose="020B0604020202020204" pitchFamily="34" charset="-34"/>
              </a:rPr>
              <a:t>The work culture at InterGlobe Enterprises offered an ideal balance of professionalism and friendliness.</a:t>
            </a:r>
          </a:p>
          <a:p>
            <a:r>
              <a:rPr lang="en-IN" sz="3200" dirty="0">
                <a:latin typeface="IrisUPC" panose="020B0604020202020204" pitchFamily="34" charset="-34"/>
                <a:cs typeface="IrisUPC" panose="020B0604020202020204" pitchFamily="34" charset="-34"/>
              </a:rPr>
              <a:t>I am grateful for the guidance and mentorship provided, which has been invaluable in shaping my overall professional development.</a:t>
            </a:r>
          </a:p>
          <a:p>
            <a:endParaRPr lang="en-US" sz="3200" dirty="0">
              <a:solidFill>
                <a:srgbClr val="FFFF00"/>
              </a:solidFill>
              <a:latin typeface="IrisUPC" panose="020B0604020202020204" pitchFamily="34" charset="-34"/>
              <a:cs typeface="IrisUPC" panose="020B0604020202020204" pitchFamily="34" charset="-34"/>
            </a:endParaRPr>
          </a:p>
        </p:txBody>
      </p:sp>
      <p:grpSp>
        <p:nvGrpSpPr>
          <p:cNvPr id="48" name="Group 47">
            <a:extLst>
              <a:ext uri="{FF2B5EF4-FFF2-40B4-BE49-F238E27FC236}">
                <a16:creationId xmlns:a16="http://schemas.microsoft.com/office/drawing/2014/main" id="{75EE3B3C-EBA6-2098-EAD1-DF29922811A3}"/>
              </a:ext>
            </a:extLst>
          </p:cNvPr>
          <p:cNvGrpSpPr/>
          <p:nvPr/>
        </p:nvGrpSpPr>
        <p:grpSpPr>
          <a:xfrm>
            <a:off x="2858039" y="7065135"/>
            <a:ext cx="6865662" cy="2235200"/>
            <a:chOff x="2988851" y="1584036"/>
            <a:chExt cx="6865662" cy="2235200"/>
          </a:xfrm>
        </p:grpSpPr>
        <p:sp>
          <p:nvSpPr>
            <p:cNvPr id="50" name="TextBox 49">
              <a:extLst>
                <a:ext uri="{FF2B5EF4-FFF2-40B4-BE49-F238E27FC236}">
                  <a16:creationId xmlns:a16="http://schemas.microsoft.com/office/drawing/2014/main" id="{407A76F7-1997-7B7F-B855-3B21D7D25AB6}"/>
                </a:ext>
              </a:extLst>
            </p:cNvPr>
            <p:cNvSpPr txBox="1"/>
            <p:nvPr/>
          </p:nvSpPr>
          <p:spPr>
            <a:xfrm>
              <a:off x="2988851" y="2311400"/>
              <a:ext cx="6865662" cy="1323439"/>
            </a:xfrm>
            <a:prstGeom prst="rect">
              <a:avLst/>
            </a:prstGeom>
            <a:noFill/>
          </p:spPr>
          <p:txBody>
            <a:bodyPr wrap="none" rtlCol="0">
              <a:spAutoFit/>
            </a:bodyPr>
            <a:lstStyle/>
            <a:p>
              <a:r>
                <a:rPr lang="en-US" sz="8000" b="1" dirty="0">
                  <a:solidFill>
                    <a:schemeClr val="bg1"/>
                  </a:solidFill>
                  <a:latin typeface="Avenir Next Heavy" panose="020B0503020202020204" pitchFamily="34" charset="0"/>
                </a:rPr>
                <a:t>INTERGLOBE</a:t>
              </a:r>
            </a:p>
          </p:txBody>
        </p:sp>
        <p:sp>
          <p:nvSpPr>
            <p:cNvPr id="52" name="TextBox 51">
              <a:extLst>
                <a:ext uri="{FF2B5EF4-FFF2-40B4-BE49-F238E27FC236}">
                  <a16:creationId xmlns:a16="http://schemas.microsoft.com/office/drawing/2014/main" id="{620E68A0-9FED-D821-F1FB-91B17D1C39E2}"/>
                </a:ext>
              </a:extLst>
            </p:cNvPr>
            <p:cNvSpPr txBox="1"/>
            <p:nvPr/>
          </p:nvSpPr>
          <p:spPr>
            <a:xfrm>
              <a:off x="8013945" y="3357706"/>
              <a:ext cx="1840568" cy="369332"/>
            </a:xfrm>
            <a:prstGeom prst="rect">
              <a:avLst/>
            </a:prstGeom>
            <a:noFill/>
          </p:spPr>
          <p:txBody>
            <a:bodyPr wrap="none" rtlCol="0">
              <a:spAutoFit/>
            </a:bodyPr>
            <a:lstStyle/>
            <a:p>
              <a:r>
                <a:rPr lang="en-US" b="1" dirty="0">
                  <a:solidFill>
                    <a:schemeClr val="bg1"/>
                  </a:solidFill>
                  <a:latin typeface="Avenir Next Heavy" panose="020B0503020202020204" pitchFamily="34" charset="0"/>
                </a:rPr>
                <a:t>ENTERPRISES </a:t>
              </a:r>
            </a:p>
          </p:txBody>
        </p:sp>
        <p:pic>
          <p:nvPicPr>
            <p:cNvPr id="58" name="Picture 57" descr="A group of colored pencils&#10;&#10;AI-generated content may be incorrect.">
              <a:extLst>
                <a:ext uri="{FF2B5EF4-FFF2-40B4-BE49-F238E27FC236}">
                  <a16:creationId xmlns:a16="http://schemas.microsoft.com/office/drawing/2014/main" id="{80F37FB6-5394-CA2D-E32A-D94230C82168}"/>
                </a:ext>
              </a:extLst>
            </p:cNvPr>
            <p:cNvPicPr>
              <a:picLocks noChangeAspect="1"/>
            </p:cNvPicPr>
            <p:nvPr/>
          </p:nvPicPr>
          <p:blipFill>
            <a:blip r:embed="rId8"/>
            <a:stretch>
              <a:fillRect/>
            </a:stretch>
          </p:blipFill>
          <p:spPr>
            <a:xfrm>
              <a:off x="5608882" y="1584036"/>
              <a:ext cx="1625600" cy="2235200"/>
            </a:xfrm>
            <a:prstGeom prst="rect">
              <a:avLst/>
            </a:prstGeom>
          </p:spPr>
        </p:pic>
      </p:grpSp>
      <p:sp>
        <p:nvSpPr>
          <p:cNvPr id="59" name="TextBox 58">
            <a:extLst>
              <a:ext uri="{FF2B5EF4-FFF2-40B4-BE49-F238E27FC236}">
                <a16:creationId xmlns:a16="http://schemas.microsoft.com/office/drawing/2014/main" id="{F9764B8D-2A11-5AB2-4446-47BF93D2EAA3}"/>
              </a:ext>
            </a:extLst>
          </p:cNvPr>
          <p:cNvSpPr txBox="1"/>
          <p:nvPr/>
        </p:nvSpPr>
        <p:spPr>
          <a:xfrm>
            <a:off x="1923732" y="-7302740"/>
            <a:ext cx="7970452" cy="5386090"/>
          </a:xfrm>
          <a:prstGeom prst="rect">
            <a:avLst/>
          </a:prstGeom>
          <a:noFill/>
        </p:spPr>
        <p:txBody>
          <a:bodyPr wrap="none" rtlCol="0">
            <a:spAutoFit/>
          </a:bodyPr>
          <a:lstStyle/>
          <a:p>
            <a:r>
              <a:rPr lang="en-US" sz="34400" dirty="0">
                <a:latin typeface="Britannic Bold" panose="020B0903060703020204" pitchFamily="34" charset="77"/>
              </a:rPr>
              <a:t>YOU</a:t>
            </a:r>
          </a:p>
        </p:txBody>
      </p:sp>
      <p:sp>
        <p:nvSpPr>
          <p:cNvPr id="60" name="TextBox 59">
            <a:extLst>
              <a:ext uri="{FF2B5EF4-FFF2-40B4-BE49-F238E27FC236}">
                <a16:creationId xmlns:a16="http://schemas.microsoft.com/office/drawing/2014/main" id="{9D5FD85A-46E8-2387-C71D-638262BCB2B5}"/>
              </a:ext>
            </a:extLst>
          </p:cNvPr>
          <p:cNvSpPr txBox="1"/>
          <p:nvPr/>
        </p:nvSpPr>
        <p:spPr>
          <a:xfrm>
            <a:off x="3207013" y="-2080597"/>
            <a:ext cx="5596404" cy="2215991"/>
          </a:xfrm>
          <a:prstGeom prst="rect">
            <a:avLst/>
          </a:prstGeom>
          <a:noFill/>
        </p:spPr>
        <p:txBody>
          <a:bodyPr wrap="none" rtlCol="0">
            <a:spAutoFit/>
          </a:bodyPr>
          <a:lstStyle/>
          <a:p>
            <a:r>
              <a:rPr lang="en-US" sz="13800" b="1" dirty="0">
                <a:solidFill>
                  <a:schemeClr val="bg1"/>
                </a:solidFill>
                <a:latin typeface="Britannic Bold" panose="020B0903060703020204" pitchFamily="34" charset="77"/>
                <a:cs typeface="IrisUPC" panose="020B0604020202020204" pitchFamily="34" charset="-34"/>
              </a:rPr>
              <a:t>THANK</a:t>
            </a:r>
          </a:p>
        </p:txBody>
      </p:sp>
      <p:pic>
        <p:nvPicPr>
          <p:cNvPr id="61" name="Picture 60" descr="A black background with a black square&#10;&#10;AI-generated content may be incorrect.">
            <a:hlinkClick r:id="rId9" action="ppaction://hlinksldjump"/>
            <a:extLst>
              <a:ext uri="{FF2B5EF4-FFF2-40B4-BE49-F238E27FC236}">
                <a16:creationId xmlns:a16="http://schemas.microsoft.com/office/drawing/2014/main" id="{E0F95117-2347-6DB3-AA3C-5E398B4EB0DF}"/>
              </a:ext>
            </a:extLst>
          </p:cNvPr>
          <p:cNvPicPr>
            <a:picLocks noChangeAspect="1"/>
          </p:cNvPicPr>
          <p:nvPr/>
        </p:nvPicPr>
        <p:blipFill>
          <a:blip r:embed="rId10"/>
          <a:stretch>
            <a:fillRect/>
          </a:stretch>
        </p:blipFill>
        <p:spPr>
          <a:xfrm>
            <a:off x="46536" y="68927"/>
            <a:ext cx="288000" cy="288000"/>
          </a:xfrm>
          <a:prstGeom prst="rect">
            <a:avLst/>
          </a:prstGeom>
        </p:spPr>
      </p:pic>
    </p:spTree>
    <p:extLst>
      <p:ext uri="{BB962C8B-B14F-4D97-AF65-F5344CB8AC3E}">
        <p14:creationId xmlns:p14="http://schemas.microsoft.com/office/powerpoint/2010/main" val="6586015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C9AC5B-B7C2-EB7B-C7B7-4382E6389CA5}"/>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00A8F813-CE13-E3DC-5DB4-A188A21A52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blue sky with clouds&#10;&#10;AI-generated content may be incorrect.">
            <a:extLst>
              <a:ext uri="{FF2B5EF4-FFF2-40B4-BE49-F238E27FC236}">
                <a16:creationId xmlns:a16="http://schemas.microsoft.com/office/drawing/2014/main" id="{F008560C-C8F0-3A7D-8125-B6D3F6D3959F}"/>
              </a:ext>
            </a:extLst>
          </p:cNvPr>
          <p:cNvPicPr>
            <a:picLocks noChangeAspect="1"/>
          </p:cNvPicPr>
          <p:nvPr/>
        </p:nvPicPr>
        <p:blipFill>
          <a:blip r:embed="rId2"/>
          <a:srcRect b="15747"/>
          <a:stretch>
            <a:fillRect/>
          </a:stretch>
        </p:blipFill>
        <p:spPr>
          <a:xfrm>
            <a:off x="-1504" y="0"/>
            <a:ext cx="12191980" cy="6856718"/>
          </a:xfrm>
          <a:prstGeom prst="rect">
            <a:avLst/>
          </a:prstGeom>
        </p:spPr>
      </p:pic>
      <p:grpSp>
        <p:nvGrpSpPr>
          <p:cNvPr id="17" name="Group 16">
            <a:extLst>
              <a:ext uri="{FF2B5EF4-FFF2-40B4-BE49-F238E27FC236}">
                <a16:creationId xmlns:a16="http://schemas.microsoft.com/office/drawing/2014/main" id="{9998C1FD-AC9B-3ABF-D5E1-98F50B035DC8}"/>
              </a:ext>
            </a:extLst>
          </p:cNvPr>
          <p:cNvGrpSpPr/>
          <p:nvPr/>
        </p:nvGrpSpPr>
        <p:grpSpPr>
          <a:xfrm>
            <a:off x="2858039" y="3560872"/>
            <a:ext cx="6865662" cy="2235200"/>
            <a:chOff x="2988851" y="1584036"/>
            <a:chExt cx="6865662" cy="2235200"/>
          </a:xfrm>
        </p:grpSpPr>
        <p:sp>
          <p:nvSpPr>
            <p:cNvPr id="11" name="TextBox 10">
              <a:extLst>
                <a:ext uri="{FF2B5EF4-FFF2-40B4-BE49-F238E27FC236}">
                  <a16:creationId xmlns:a16="http://schemas.microsoft.com/office/drawing/2014/main" id="{0641594D-6BCD-BA1D-BD7C-12CE5DFF429E}"/>
                </a:ext>
              </a:extLst>
            </p:cNvPr>
            <p:cNvSpPr txBox="1"/>
            <p:nvPr/>
          </p:nvSpPr>
          <p:spPr>
            <a:xfrm>
              <a:off x="2988851" y="2311400"/>
              <a:ext cx="6865662" cy="1323439"/>
            </a:xfrm>
            <a:prstGeom prst="rect">
              <a:avLst/>
            </a:prstGeom>
            <a:noFill/>
          </p:spPr>
          <p:txBody>
            <a:bodyPr wrap="none" rtlCol="0">
              <a:spAutoFit/>
            </a:bodyPr>
            <a:lstStyle/>
            <a:p>
              <a:r>
                <a:rPr lang="en-US" sz="8000" b="1" dirty="0">
                  <a:solidFill>
                    <a:schemeClr val="bg1"/>
                  </a:solidFill>
                  <a:latin typeface="Avenir Next Heavy" panose="020B0503020202020204" pitchFamily="34" charset="0"/>
                </a:rPr>
                <a:t>INTERGLOBE</a:t>
              </a:r>
            </a:p>
          </p:txBody>
        </p:sp>
        <p:sp>
          <p:nvSpPr>
            <p:cNvPr id="13" name="TextBox 12">
              <a:extLst>
                <a:ext uri="{FF2B5EF4-FFF2-40B4-BE49-F238E27FC236}">
                  <a16:creationId xmlns:a16="http://schemas.microsoft.com/office/drawing/2014/main" id="{F08D1674-5DAB-CD3C-0274-D8A5406E73F9}"/>
                </a:ext>
              </a:extLst>
            </p:cNvPr>
            <p:cNvSpPr txBox="1"/>
            <p:nvPr/>
          </p:nvSpPr>
          <p:spPr>
            <a:xfrm>
              <a:off x="8013945" y="3357706"/>
              <a:ext cx="1840568" cy="369332"/>
            </a:xfrm>
            <a:prstGeom prst="rect">
              <a:avLst/>
            </a:prstGeom>
            <a:noFill/>
          </p:spPr>
          <p:txBody>
            <a:bodyPr wrap="none" rtlCol="0">
              <a:spAutoFit/>
            </a:bodyPr>
            <a:lstStyle/>
            <a:p>
              <a:r>
                <a:rPr lang="en-US" b="1" dirty="0">
                  <a:solidFill>
                    <a:schemeClr val="bg1"/>
                  </a:solidFill>
                  <a:latin typeface="Avenir Next Heavy" panose="020B0503020202020204" pitchFamily="34" charset="0"/>
                </a:rPr>
                <a:t>ENTERPRISES </a:t>
              </a:r>
            </a:p>
          </p:txBody>
        </p:sp>
        <p:pic>
          <p:nvPicPr>
            <p:cNvPr id="7" name="Picture 6" descr="A group of colored pencils&#10;&#10;AI-generated content may be incorrect.">
              <a:extLst>
                <a:ext uri="{FF2B5EF4-FFF2-40B4-BE49-F238E27FC236}">
                  <a16:creationId xmlns:a16="http://schemas.microsoft.com/office/drawing/2014/main" id="{82946838-A8CF-7429-9D3A-8EE24570812F}"/>
                </a:ext>
              </a:extLst>
            </p:cNvPr>
            <p:cNvPicPr>
              <a:picLocks noChangeAspect="1"/>
            </p:cNvPicPr>
            <p:nvPr/>
          </p:nvPicPr>
          <p:blipFill>
            <a:blip r:embed="rId3"/>
            <a:stretch>
              <a:fillRect/>
            </a:stretch>
          </p:blipFill>
          <p:spPr>
            <a:xfrm>
              <a:off x="5608882" y="1584036"/>
              <a:ext cx="1625600" cy="2235200"/>
            </a:xfrm>
            <a:prstGeom prst="rect">
              <a:avLst/>
            </a:prstGeom>
          </p:spPr>
        </p:pic>
      </p:grpSp>
      <p:grpSp>
        <p:nvGrpSpPr>
          <p:cNvPr id="19" name="Group 18">
            <a:extLst>
              <a:ext uri="{FF2B5EF4-FFF2-40B4-BE49-F238E27FC236}">
                <a16:creationId xmlns:a16="http://schemas.microsoft.com/office/drawing/2014/main" id="{93FB11E3-9AAA-E85D-777F-73B53E6B26B8}"/>
              </a:ext>
            </a:extLst>
          </p:cNvPr>
          <p:cNvGrpSpPr/>
          <p:nvPr/>
        </p:nvGrpSpPr>
        <p:grpSpPr>
          <a:xfrm>
            <a:off x="9621982" y="7100715"/>
            <a:ext cx="1220302" cy="665742"/>
            <a:chOff x="9621982" y="4404012"/>
            <a:chExt cx="1220302" cy="665742"/>
          </a:xfrm>
        </p:grpSpPr>
        <p:sp>
          <p:nvSpPr>
            <p:cNvPr id="15" name="TextBox 14">
              <a:extLst>
                <a:ext uri="{FF2B5EF4-FFF2-40B4-BE49-F238E27FC236}">
                  <a16:creationId xmlns:a16="http://schemas.microsoft.com/office/drawing/2014/main" id="{0B39E51F-4B85-D389-13F5-17BC5F45840F}"/>
                </a:ext>
              </a:extLst>
            </p:cNvPr>
            <p:cNvSpPr txBox="1"/>
            <p:nvPr/>
          </p:nvSpPr>
          <p:spPr>
            <a:xfrm>
              <a:off x="9854513" y="4546534"/>
              <a:ext cx="987771" cy="523220"/>
            </a:xfrm>
            <a:prstGeom prst="rect">
              <a:avLst/>
            </a:prstGeom>
            <a:noFill/>
          </p:spPr>
          <p:txBody>
            <a:bodyPr wrap="none" rtlCol="0">
              <a:spAutoFit/>
            </a:bodyPr>
            <a:lstStyle/>
            <a:p>
              <a:r>
                <a:rPr lang="en-US" sz="2800" b="1" dirty="0">
                  <a:solidFill>
                    <a:schemeClr val="bg1"/>
                  </a:solidFill>
                  <a:latin typeface="IrisUPC" panose="020B0604020202020204" pitchFamily="34" charset="-34"/>
                  <a:cs typeface="IrisUPC" panose="020B0604020202020204" pitchFamily="34" charset="-34"/>
                </a:rPr>
                <a:t> Raman</a:t>
              </a:r>
            </a:p>
          </p:txBody>
        </p:sp>
        <p:sp>
          <p:nvSpPr>
            <p:cNvPr id="16" name="TextBox 15">
              <a:extLst>
                <a:ext uri="{FF2B5EF4-FFF2-40B4-BE49-F238E27FC236}">
                  <a16:creationId xmlns:a16="http://schemas.microsoft.com/office/drawing/2014/main" id="{8867F519-D25E-3539-BCE4-602AD9DE4C3E}"/>
                </a:ext>
              </a:extLst>
            </p:cNvPr>
            <p:cNvSpPr txBox="1"/>
            <p:nvPr/>
          </p:nvSpPr>
          <p:spPr>
            <a:xfrm>
              <a:off x="9621982" y="4404012"/>
              <a:ext cx="1035861" cy="369332"/>
            </a:xfrm>
            <a:prstGeom prst="rect">
              <a:avLst/>
            </a:prstGeom>
            <a:noFill/>
          </p:spPr>
          <p:txBody>
            <a:bodyPr wrap="none" rtlCol="0">
              <a:spAutoFit/>
            </a:bodyPr>
            <a:lstStyle/>
            <a:p>
              <a:r>
                <a:rPr lang="en-US" b="1" dirty="0">
                  <a:latin typeface="IrisUPC" panose="020B0604020202020204" pitchFamily="34" charset="-34"/>
                  <a:cs typeface="IrisUPC" panose="020B0604020202020204" pitchFamily="34" charset="-34"/>
                </a:rPr>
                <a:t>Presented by</a:t>
              </a:r>
            </a:p>
          </p:txBody>
        </p:sp>
      </p:grpSp>
      <p:sp>
        <p:nvSpPr>
          <p:cNvPr id="3" name="TextBox 2">
            <a:extLst>
              <a:ext uri="{FF2B5EF4-FFF2-40B4-BE49-F238E27FC236}">
                <a16:creationId xmlns:a16="http://schemas.microsoft.com/office/drawing/2014/main" id="{63D73319-6C08-B612-9BE3-25B4E993176C}"/>
              </a:ext>
            </a:extLst>
          </p:cNvPr>
          <p:cNvSpPr txBox="1"/>
          <p:nvPr/>
        </p:nvSpPr>
        <p:spPr>
          <a:xfrm>
            <a:off x="1923732" y="-1259740"/>
            <a:ext cx="7970452" cy="5386090"/>
          </a:xfrm>
          <a:prstGeom prst="rect">
            <a:avLst/>
          </a:prstGeom>
          <a:noFill/>
        </p:spPr>
        <p:txBody>
          <a:bodyPr wrap="none" rtlCol="0">
            <a:spAutoFit/>
          </a:bodyPr>
          <a:lstStyle/>
          <a:p>
            <a:r>
              <a:rPr lang="en-US" sz="34400" dirty="0">
                <a:latin typeface="Britannic Bold" panose="020B0903060703020204" pitchFamily="34" charset="77"/>
              </a:rPr>
              <a:t>YOU</a:t>
            </a:r>
          </a:p>
        </p:txBody>
      </p:sp>
      <p:sp>
        <p:nvSpPr>
          <p:cNvPr id="2" name="TextBox 1">
            <a:extLst>
              <a:ext uri="{FF2B5EF4-FFF2-40B4-BE49-F238E27FC236}">
                <a16:creationId xmlns:a16="http://schemas.microsoft.com/office/drawing/2014/main" id="{2E3BDAA3-EAA9-1C0F-5DF7-06ECEA04F336}"/>
              </a:ext>
            </a:extLst>
          </p:cNvPr>
          <p:cNvSpPr txBox="1"/>
          <p:nvPr/>
        </p:nvSpPr>
        <p:spPr>
          <a:xfrm>
            <a:off x="3207013" y="424067"/>
            <a:ext cx="5596404" cy="2215991"/>
          </a:xfrm>
          <a:prstGeom prst="rect">
            <a:avLst/>
          </a:prstGeom>
          <a:noFill/>
        </p:spPr>
        <p:txBody>
          <a:bodyPr wrap="none" rtlCol="0">
            <a:spAutoFit/>
          </a:bodyPr>
          <a:lstStyle/>
          <a:p>
            <a:r>
              <a:rPr lang="en-US" sz="13800" b="1" dirty="0">
                <a:solidFill>
                  <a:schemeClr val="bg1"/>
                </a:solidFill>
                <a:latin typeface="Britannic Bold" panose="020B0903060703020204" pitchFamily="34" charset="77"/>
                <a:cs typeface="IrisUPC" panose="020B0604020202020204" pitchFamily="34" charset="-34"/>
              </a:rPr>
              <a:t>THANK</a:t>
            </a:r>
          </a:p>
        </p:txBody>
      </p:sp>
      <p:pic>
        <p:nvPicPr>
          <p:cNvPr id="4" name="Picture 3" descr="A black background with a black square&#10;&#10;AI-generated content may be incorrect.">
            <a:hlinkClick r:id="rId4" action="ppaction://hlinksldjump"/>
            <a:extLst>
              <a:ext uri="{FF2B5EF4-FFF2-40B4-BE49-F238E27FC236}">
                <a16:creationId xmlns:a16="http://schemas.microsoft.com/office/drawing/2014/main" id="{6037DC8C-2D83-A5D8-D015-43CB80899918}"/>
              </a:ext>
            </a:extLst>
          </p:cNvPr>
          <p:cNvPicPr>
            <a:picLocks noChangeAspect="1"/>
          </p:cNvPicPr>
          <p:nvPr/>
        </p:nvPicPr>
        <p:blipFill>
          <a:blip r:embed="rId5"/>
          <a:stretch>
            <a:fillRect/>
          </a:stretch>
        </p:blipFill>
        <p:spPr>
          <a:xfrm>
            <a:off x="46536" y="68927"/>
            <a:ext cx="288000" cy="288000"/>
          </a:xfrm>
          <a:prstGeom prst="rect">
            <a:avLst/>
          </a:prstGeom>
        </p:spPr>
      </p:pic>
    </p:spTree>
    <p:extLst>
      <p:ext uri="{BB962C8B-B14F-4D97-AF65-F5344CB8AC3E}">
        <p14:creationId xmlns:p14="http://schemas.microsoft.com/office/powerpoint/2010/main" val="14686592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41E82FD-D566-C142-827F-B173A475F440}">
  <we:reference id="wa104381411" version="2.4.5.0" store="en-GB" storeType="OMEX"/>
  <we:alternateReferences>
    <we:reference id="wa104381411" version="2.4.5.0" store="WA104381411"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7EC056FB-43AB-D242-9262-5311E84D2F8D}">
  <we:reference id="wa104380907" version="3.1.0.0" store="en-GB" storeType="OMEX"/>
  <we:alternateReferences>
    <we:reference id="wa104380907" version="3.1.0.0" store="WA104380907"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1118</TotalTime>
  <Words>1121</Words>
  <Application>Microsoft Macintosh PowerPoint</Application>
  <PresentationFormat>Widescreen</PresentationFormat>
  <Paragraphs>211</Paragraphs>
  <Slides>11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11</vt:i4>
      </vt:variant>
    </vt:vector>
  </HeadingPairs>
  <TitlesOfParts>
    <vt:vector size="22" baseType="lpstr">
      <vt:lpstr>American Typewriter Light</vt:lpstr>
      <vt:lpstr>Arial</vt:lpstr>
      <vt:lpstr>Avenir Next Heavy</vt:lpstr>
      <vt:lpstr>Bernard MT Condensed</vt:lpstr>
      <vt:lpstr>Britannic Bold</vt:lpstr>
      <vt:lpstr>Calibri</vt:lpstr>
      <vt:lpstr>Calibri Light</vt:lpstr>
      <vt:lpstr>Cochin</vt:lpstr>
      <vt:lpstr>Felix Titling</vt:lpstr>
      <vt:lpstr>IrisUPC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Suryansh Raj</dc:creator>
  <cp:lastModifiedBy>Suryansh Raj Patel</cp:lastModifiedBy>
  <cp:revision>13</cp:revision>
  <dcterms:created xsi:type="dcterms:W3CDTF">2023-11-29T07:28:13Z</dcterms:created>
  <dcterms:modified xsi:type="dcterms:W3CDTF">2026-10-13T12:22:58Z</dcterms:modified>
</cp:coreProperties>
</file>